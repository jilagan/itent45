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 client to server. Teal = server to client. That colour grammar is used on every slide and in the browser tool. Point it out once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because they are already using agents and may wonder why we are not just teaching better prompting. Generation got cheap; judgement did not. Every idea today is one they will have to defend in the capstone oral, and none of it is something an agent hands you unasked.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Come back to them at the close and ask the room to self-assess against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Breakouts are highlighted. Tell them now that both breakout formats are the same formats used in the summative oral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tool, panel 01, after this slide. Run the 12-step trace. Come back for the reference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Whiteboard the three boxes yourself while this is up. The question that sells it: why not let the browser talk to the database directly? Because the password would be in code on the user's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Dwell on the ORM row. Model.objects.filter() is not magic — Django builds a SQL string and hands it over. Many of them have used it for a year without knowing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panels 02, 03, 04. Keep panel 02 brisk — they do not need to memorise layer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it live on tool panel 03 — drag the distance slider from 5 ms to 90 ms and replay. Ask: why is Berlin four times slower when your code takes the same 40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run teaching_server.py live and curl -v it, so the slide and the terminal visibly agree. That transition sets up the breakout.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question is the payoff: Host cannot be omitted, User-Agent can be anything. Use the timer on tool panel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you submit a form, the page hangs, you hit refresh — have you now enrolled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unique constraint, or an idempotency key the client sends. This is why the browser warns before resubmitting a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confusions worth naming out loud: 401 vs 403 (do not know you / know you and no), and 404 vs 500 (check your request / go read the traceback). 409 is the enlistment seat race and 504 is what students actually see on enlistment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last point forward — self-contained requests is the same statelessness that Part 4 shows you cannot scale without.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tool panel 06 and click between the three clients — the response box never changes. Then the counterexample further down that panel: It has no API layer. It is servlet-based and returns finished HTML, so the business logic sits inside the page generation. A mobile app would have nothing to call. That was a reasonable choice for one client and browsers only; the bill arrives years later when a second kind of client turns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tool panel 06, drag days to 180 — mobile never reaches zero, it flattens around 10%. That permanent tail is the argument for versioning the endpoint or keeping the old field alongside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the card skips your server: the moment card numbers touch a machine you own, it falls inside PCI DSS scope, and so does everything it talks to. Run tool panel 07 and step the nine-stage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on tool panel 07 — let a student mash the Pay button. Then flip the toggle and let them mash it again. The number changing from ₱3,897 to ₱1,299 lands harder than any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nouns only in URLs, and state safe/idempotent for each. Listen for PATCH over PUT on task 4, and for a unique constraint or idempotency key on the trap question. Watch for /getCourses naming and state changes behind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panels 06 and 07. If time is short, demo panel 06 and go straight to the N+1 slide — that is the one that pays off for a Django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compute one before you reveal it: 4 workers, 200 ms handler — what is the maximum? (20 rps.) Then demo it on tool panel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on tool panel 07 rather than reading the table. Then flip 'sessions in instance memory' with several instances — it returns 'Broken, not just slow', which ties back to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'how would you notice': Django Debug Toolbar, query logging, or the habit from Part 2 of actually looking at what goes over the wire. This is the strongest argument in the session that understanding the layer below your code is worth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servers and the single architecture is typical of the era. The rps figures are a teaching model, not measurements of the live system — say so. Then run tool panel 08 and toggle between 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move worth dwelling on is staggering — it is a scheduling decision, not an engineering one, and it beats every hardware fix on this slide. Ask the room which of the three they have actually experienced as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computational thinking slide, and it comes last on purpose. They have already done abstraction all afternoon; naming it now lets them transfer it. Naming it at the start would have been vocabulary before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or three answers out loud, no more — five minutes. The registrar queue usually gets the best response because they have all stood in it. Then go to the close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outcomes slide and ask the room to self-assess against each of the four. Then point them at the tool — it is theirs to keep and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1874520"/>
            <a:ext cx="7315200" cy="274320"/>
          </a:xfrm>
          <a:prstGeom prst="rect">
            <a:avLst/>
          </a:prstGeom>
          <a:noFill/>
          <a:ln/>
        </p:spPr>
        <p:txBody>
          <a:bodyPr wrap="square" lIns="0" tIns="0" rIns="0" bIns="0" rtlCol="0" anchor="ctr"/>
          <a:lstStyle/>
          <a:p>
            <a:pPr indent="0" marL="0">
              <a:buNone/>
            </a:pPr>
            <a:r>
              <a:rPr lang="en-US" sz="1200" b="1" spc="240" kern="0" dirty="0">
                <a:solidFill>
                  <a:srgbClr val="C2410C"/>
                </a:solidFill>
                <a:latin typeface="Courier New" pitchFamily="34" charset="0"/>
                <a:ea typeface="Courier New" pitchFamily="34" charset="-122"/>
                <a:cs typeface="Courier New" pitchFamily="34" charset="-120"/>
              </a:rPr>
              <a:t>ITENT 45  ·  MODULE 1</a:t>
            </a:r>
            <a:endParaRPr lang="en-US" sz="1200" dirty="0"/>
          </a:p>
        </p:txBody>
      </p:sp>
      <p:sp>
        <p:nvSpPr>
          <p:cNvPr id="3" name="Text 1"/>
          <p:cNvSpPr/>
          <p:nvPr/>
        </p:nvSpPr>
        <p:spPr>
          <a:xfrm>
            <a:off x="594360" y="2286000"/>
            <a:ext cx="8686800" cy="1005840"/>
          </a:xfrm>
          <a:prstGeom prst="rect">
            <a:avLst/>
          </a:prstGeom>
          <a:noFill/>
          <a:ln/>
        </p:spPr>
        <p:txBody>
          <a:bodyPr wrap="square" lIns="0" tIns="0" rIns="0" bIns="0" rtlCol="0" anchor="ctr"/>
          <a:lstStyle/>
          <a:p>
            <a:pPr indent="0" marL="0">
              <a:buNone/>
            </a:pPr>
            <a:r>
              <a:rPr lang="en-US" sz="5400" b="1" dirty="0">
                <a:solidFill>
                  <a:srgbClr val="0A0A14"/>
                </a:solidFill>
                <a:latin typeface="Arial" pitchFamily="34" charset="0"/>
                <a:ea typeface="Arial" pitchFamily="34" charset="-122"/>
                <a:cs typeface="Arial" pitchFamily="34" charset="-120"/>
              </a:rPr>
              <a:t>Under the Hood</a:t>
            </a:r>
            <a:endParaRPr lang="en-US" sz="5400" dirty="0"/>
          </a:p>
        </p:txBody>
      </p:sp>
      <p:sp>
        <p:nvSpPr>
          <p:cNvPr id="4" name="Text 2"/>
          <p:cNvSpPr/>
          <p:nvPr/>
        </p:nvSpPr>
        <p:spPr>
          <a:xfrm>
            <a:off x="594360" y="3310128"/>
            <a:ext cx="8686800" cy="457200"/>
          </a:xfrm>
          <a:prstGeom prst="rect">
            <a:avLst/>
          </a:prstGeom>
          <a:noFill/>
          <a:ln/>
        </p:spPr>
        <p:txBody>
          <a:bodyPr wrap="square" lIns="0" tIns="0" rIns="0" bIns="0" rtlCol="0" anchor="ctr"/>
          <a:lstStyle/>
          <a:p>
            <a:pPr indent="0" marL="0">
              <a:buNone/>
            </a:pPr>
            <a:r>
              <a:rPr lang="en-US" sz="2000" dirty="0">
                <a:solidFill>
                  <a:srgbClr val="3F3F4D"/>
                </a:solidFill>
                <a:latin typeface="Arial" pitchFamily="34" charset="0"/>
                <a:ea typeface="Arial" pitchFamily="34" charset="-122"/>
                <a:cs typeface="Arial" pitchFamily="34" charset="-120"/>
              </a:rPr>
              <a:t>What actually happens when you load a page</a:t>
            </a:r>
            <a:endParaRPr lang="en-US" sz="2000" dirty="0"/>
          </a:p>
        </p:txBody>
      </p:sp>
      <p:sp>
        <p:nvSpPr>
          <p:cNvPr id="5" name="Text 3"/>
          <p:cNvSpPr/>
          <p:nvPr/>
        </p:nvSpPr>
        <p:spPr>
          <a:xfrm>
            <a:off x="594360" y="3977640"/>
            <a:ext cx="8686800" cy="365760"/>
          </a:xfrm>
          <a:prstGeom prst="rect">
            <a:avLst/>
          </a:prstGeom>
          <a:noFill/>
          <a:ln/>
        </p:spPr>
        <p:txBody>
          <a:bodyPr wrap="square" lIns="0" tIns="0" rIns="0" bIns="0" rtlCol="0" anchor="ctr"/>
          <a:lstStyle/>
          <a:p>
            <a:pPr indent="0" marL="0">
              <a:buNone/>
            </a:pPr>
            <a:r>
              <a:rPr lang="en-US" sz="1300" i="1" dirty="0">
                <a:solidFill>
                  <a:srgbClr val="63616F"/>
                </a:solidFill>
                <a:latin typeface="Arial" pitchFamily="34" charset="0"/>
                <a:ea typeface="Arial" pitchFamily="34" charset="-122"/>
                <a:cs typeface="Arial" pitchFamily="34" charset="-120"/>
              </a:rPr>
              <a:t>A 3-hour working session. Bring a laptop.</a:t>
            </a:r>
            <a:endParaRPr lang="en-US" sz="1300" dirty="0"/>
          </a:p>
        </p:txBody>
      </p:sp>
      <p:sp>
        <p:nvSpPr>
          <p:cNvPr id="6" name="Shape 4"/>
          <p:cNvSpPr/>
          <p:nvPr/>
        </p:nvSpPr>
        <p:spPr>
          <a:xfrm>
            <a:off x="594360" y="4983480"/>
            <a:ext cx="4754880" cy="0"/>
          </a:xfrm>
          <a:prstGeom prst="line">
            <a:avLst/>
          </a:prstGeom>
          <a:noFill/>
          <a:ln w="31750">
            <a:solidFill>
              <a:srgbClr val="C2410C"/>
            </a:solidFill>
            <a:prstDash val="solid"/>
          </a:ln>
        </p:spPr>
      </p:sp>
      <p:sp>
        <p:nvSpPr>
          <p:cNvPr id="7" name="Shape 5"/>
          <p:cNvSpPr/>
          <p:nvPr/>
        </p:nvSpPr>
        <p:spPr>
          <a:xfrm>
            <a:off x="5230368" y="4901184"/>
            <a:ext cx="164592" cy="164592"/>
          </a:xfrm>
          <a:prstGeom prst="ellipse">
            <a:avLst/>
          </a:prstGeom>
          <a:solidFill>
            <a:srgbClr val="C2410C"/>
          </a:solidFill>
          <a:ln w="12700">
            <a:solidFill>
              <a:srgbClr val="C2410C"/>
            </a:solidFill>
            <a:prstDash val="solid"/>
          </a:ln>
        </p:spPr>
      </p:sp>
      <p:sp>
        <p:nvSpPr>
          <p:cNvPr id="8" name="Text 6"/>
          <p:cNvSpPr/>
          <p:nvPr/>
        </p:nvSpPr>
        <p:spPr>
          <a:xfrm>
            <a:off x="594360" y="5074920"/>
            <a:ext cx="2743200" cy="274320"/>
          </a:xfrm>
          <a:prstGeom prst="rect">
            <a:avLst/>
          </a:prstGeom>
          <a:noFill/>
          <a:ln/>
        </p:spPr>
        <p:txBody>
          <a:bodyPr wrap="square" lIns="0" tIns="0" rIns="0" bIns="0" rtlCol="0" anchor="ctr"/>
          <a:lstStyle/>
          <a:p>
            <a:pPr indent="0" marL="0">
              <a:buNone/>
            </a:pPr>
            <a:r>
              <a:rPr lang="en-US" sz="1000" dirty="0">
                <a:solidFill>
                  <a:srgbClr val="C2410C"/>
                </a:solidFill>
                <a:latin typeface="Courier New" pitchFamily="34" charset="0"/>
                <a:ea typeface="Courier New" pitchFamily="34" charset="-122"/>
                <a:cs typeface="Courier New" pitchFamily="34" charset="-120"/>
              </a:rPr>
              <a:t>request</a:t>
            </a:r>
            <a:endParaRPr lang="en-US" sz="1000" dirty="0"/>
          </a:p>
        </p:txBody>
      </p:sp>
      <p:sp>
        <p:nvSpPr>
          <p:cNvPr id="9" name="Shape 7"/>
          <p:cNvSpPr/>
          <p:nvPr/>
        </p:nvSpPr>
        <p:spPr>
          <a:xfrm>
            <a:off x="594360" y="5486400"/>
            <a:ext cx="4754880" cy="0"/>
          </a:xfrm>
          <a:prstGeom prst="line">
            <a:avLst/>
          </a:prstGeom>
          <a:noFill/>
          <a:ln w="31750">
            <a:solidFill>
              <a:srgbClr val="10069F"/>
            </a:solidFill>
            <a:prstDash val="solid"/>
          </a:ln>
        </p:spPr>
      </p:sp>
      <p:sp>
        <p:nvSpPr>
          <p:cNvPr id="10" name="Shape 8"/>
          <p:cNvSpPr/>
          <p:nvPr/>
        </p:nvSpPr>
        <p:spPr>
          <a:xfrm>
            <a:off x="512064" y="5404104"/>
            <a:ext cx="164592" cy="164592"/>
          </a:xfrm>
          <a:prstGeom prst="ellipse">
            <a:avLst/>
          </a:prstGeom>
          <a:solidFill>
            <a:srgbClr val="10069F"/>
          </a:solidFill>
          <a:ln w="12700">
            <a:solidFill>
              <a:srgbClr val="10069F"/>
            </a:solidFill>
            <a:prstDash val="solid"/>
          </a:ln>
        </p:spPr>
      </p:sp>
      <p:sp>
        <p:nvSpPr>
          <p:cNvPr id="11" name="Text 9"/>
          <p:cNvSpPr/>
          <p:nvPr/>
        </p:nvSpPr>
        <p:spPr>
          <a:xfrm>
            <a:off x="594360" y="5577840"/>
            <a:ext cx="2743200" cy="274320"/>
          </a:xfrm>
          <a:prstGeom prst="rect">
            <a:avLst/>
          </a:prstGeom>
          <a:noFill/>
          <a:ln/>
        </p:spPr>
        <p:txBody>
          <a:bodyPr wrap="square" lIns="0" tIns="0" rIns="0" bIns="0" rtlCol="0" anchor="ctr"/>
          <a:lstStyle/>
          <a:p>
            <a:pPr indent="0" marL="0">
              <a:buNone/>
            </a:pPr>
            <a:r>
              <a:rPr lang="en-US" sz="1000" dirty="0">
                <a:solidFill>
                  <a:srgbClr val="10069F"/>
                </a:solidFill>
                <a:latin typeface="Courier New" pitchFamily="34" charset="0"/>
                <a:ea typeface="Courier New" pitchFamily="34" charset="-122"/>
                <a:cs typeface="Courier New" pitchFamily="34" charset="-120"/>
              </a:rPr>
              <a:t>response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WHY WE ARE SPENDING A WHOLE SESSION ON THIS</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The code is the part that got cheap</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You will not write much of this by hand again, and that is exactly why the fundamentals matter now. An agent produces working code in seconds. It produces confidently wrong code just as fast, and at the same speed.</a:t>
            </a:r>
            <a:endParaRPr lang="en-US" sz="1400" dirty="0"/>
          </a:p>
        </p:txBody>
      </p:sp>
      <p:sp>
        <p:nvSpPr>
          <p:cNvPr id="5" name="Shape 3"/>
          <p:cNvSpPr/>
          <p:nvPr/>
        </p:nvSpPr>
        <p:spPr>
          <a:xfrm>
            <a:off x="594360" y="2788920"/>
            <a:ext cx="10972800" cy="896112"/>
          </a:xfrm>
          <a:prstGeom prst="roundRect">
            <a:avLst>
              <a:gd name="adj" fmla="val 6122"/>
            </a:avLst>
          </a:prstGeom>
          <a:solidFill>
            <a:srgbClr val="F6F6FA"/>
          </a:solidFill>
          <a:ln w="9525">
            <a:solidFill>
              <a:srgbClr val="C9C7C2"/>
            </a:solidFill>
            <a:prstDash val="solid"/>
          </a:ln>
        </p:spPr>
      </p:sp>
      <p:sp>
        <p:nvSpPr>
          <p:cNvPr id="6" name="Shape 4"/>
          <p:cNvSpPr/>
          <p:nvPr/>
        </p:nvSpPr>
        <p:spPr>
          <a:xfrm>
            <a:off x="886968" y="3136392"/>
            <a:ext cx="201168" cy="201168"/>
          </a:xfrm>
          <a:prstGeom prst="ellipse">
            <a:avLst/>
          </a:prstGeom>
          <a:solidFill>
            <a:srgbClr val="10069F"/>
          </a:solidFill>
          <a:ln w="12700">
            <a:solidFill>
              <a:srgbClr val="10069F"/>
            </a:solidFill>
            <a:prstDash val="solid"/>
          </a:ln>
        </p:spPr>
      </p:sp>
      <p:sp>
        <p:nvSpPr>
          <p:cNvPr id="7" name="Text 5"/>
          <p:cNvSpPr/>
          <p:nvPr/>
        </p:nvSpPr>
        <p:spPr>
          <a:xfrm>
            <a:off x="1307592" y="2907792"/>
            <a:ext cx="3291840" cy="292608"/>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What the agent does well</a:t>
            </a:r>
            <a:endParaRPr lang="en-US" sz="1400" dirty="0"/>
          </a:p>
        </p:txBody>
      </p:sp>
      <p:sp>
        <p:nvSpPr>
          <p:cNvPr id="8" name="Text 6"/>
          <p:cNvSpPr/>
          <p:nvPr/>
        </p:nvSpPr>
        <p:spPr>
          <a:xfrm>
            <a:off x="1307592" y="3218688"/>
            <a:ext cx="9738360" cy="384048"/>
          </a:xfrm>
          <a:prstGeom prst="rect">
            <a:avLst/>
          </a:prstGeom>
          <a:noFill/>
          <a:ln/>
        </p:spPr>
        <p:txBody>
          <a:bodyPr wrap="square" lIns="0" tIns="0" rIns="0" bIns="0" rtlCol="0" anchor="ctr"/>
          <a:lstStyle/>
          <a:p>
            <a:pPr indent="0" marL="0">
              <a:lnSpc>
                <a:spcPts val="1500"/>
              </a:lnSpc>
              <a:buNone/>
            </a:pPr>
            <a:r>
              <a:rPr lang="en-US" sz="1200" dirty="0">
                <a:solidFill>
                  <a:srgbClr val="3F3F4D"/>
                </a:solidFill>
                <a:latin typeface="Arial" pitchFamily="34" charset="0"/>
                <a:ea typeface="Arial" pitchFamily="34" charset="-122"/>
                <a:cs typeface="Arial" pitchFamily="34" charset="-120"/>
              </a:rPr>
              <a:t>Writes the view, the model, the migration, the tests. Faster and more consistently than any of us.</a:t>
            </a:r>
            <a:endParaRPr lang="en-US" sz="1200" dirty="0"/>
          </a:p>
        </p:txBody>
      </p:sp>
      <p:sp>
        <p:nvSpPr>
          <p:cNvPr id="9" name="Shape 7"/>
          <p:cNvSpPr/>
          <p:nvPr/>
        </p:nvSpPr>
        <p:spPr>
          <a:xfrm>
            <a:off x="594360" y="3840480"/>
            <a:ext cx="10972800" cy="896112"/>
          </a:xfrm>
          <a:prstGeom prst="roundRect">
            <a:avLst>
              <a:gd name="adj" fmla="val 6122"/>
            </a:avLst>
          </a:prstGeom>
          <a:solidFill>
            <a:srgbClr val="F6F6FA"/>
          </a:solidFill>
          <a:ln w="9525">
            <a:solidFill>
              <a:srgbClr val="C9C7C2"/>
            </a:solidFill>
            <a:prstDash val="solid"/>
          </a:ln>
        </p:spPr>
      </p:sp>
      <p:sp>
        <p:nvSpPr>
          <p:cNvPr id="10" name="Shape 8"/>
          <p:cNvSpPr/>
          <p:nvPr/>
        </p:nvSpPr>
        <p:spPr>
          <a:xfrm>
            <a:off x="886968" y="4187952"/>
            <a:ext cx="201168" cy="201168"/>
          </a:xfrm>
          <a:prstGeom prst="ellipse">
            <a:avLst/>
          </a:prstGeom>
          <a:solidFill>
            <a:srgbClr val="C2410C"/>
          </a:solidFill>
          <a:ln w="12700">
            <a:solidFill>
              <a:srgbClr val="C2410C"/>
            </a:solidFill>
            <a:prstDash val="solid"/>
          </a:ln>
        </p:spPr>
      </p:sp>
      <p:sp>
        <p:nvSpPr>
          <p:cNvPr id="11" name="Text 9"/>
          <p:cNvSpPr/>
          <p:nvPr/>
        </p:nvSpPr>
        <p:spPr>
          <a:xfrm>
            <a:off x="1307592" y="3959352"/>
            <a:ext cx="3291840" cy="292608"/>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What it will not tell you</a:t>
            </a:r>
            <a:endParaRPr lang="en-US" sz="1400" dirty="0"/>
          </a:p>
        </p:txBody>
      </p:sp>
      <p:sp>
        <p:nvSpPr>
          <p:cNvPr id="12" name="Text 10"/>
          <p:cNvSpPr/>
          <p:nvPr/>
        </p:nvSpPr>
        <p:spPr>
          <a:xfrm>
            <a:off x="1307592" y="4270248"/>
            <a:ext cx="9738360" cy="384048"/>
          </a:xfrm>
          <a:prstGeom prst="rect">
            <a:avLst/>
          </a:prstGeom>
          <a:noFill/>
          <a:ln/>
        </p:spPr>
        <p:txBody>
          <a:bodyPr wrap="square" lIns="0" tIns="0" rIns="0" bIns="0" rtlCol="0" anchor="ctr"/>
          <a:lstStyle/>
          <a:p>
            <a:pPr indent="0" marL="0">
              <a:lnSpc>
                <a:spcPts val="1500"/>
              </a:lnSpc>
              <a:buNone/>
            </a:pPr>
            <a:r>
              <a:rPr lang="en-US" sz="1200" dirty="0">
                <a:solidFill>
                  <a:srgbClr val="3F3F4D"/>
                </a:solidFill>
                <a:latin typeface="Arial" pitchFamily="34" charset="0"/>
                <a:ea typeface="Arial" pitchFamily="34" charset="-122"/>
                <a:cs typeface="Arial" pitchFamily="34" charset="-120"/>
              </a:rPr>
              <a:t>That your page makes 51 queries. That it is slow in Berlin for reasons no code change fixes. That your enrolment ran twice.</a:t>
            </a:r>
            <a:endParaRPr lang="en-US" sz="1200" dirty="0"/>
          </a:p>
        </p:txBody>
      </p:sp>
      <p:sp>
        <p:nvSpPr>
          <p:cNvPr id="13" name="Shape 11"/>
          <p:cNvSpPr/>
          <p:nvPr/>
        </p:nvSpPr>
        <p:spPr>
          <a:xfrm>
            <a:off x="594360" y="4892040"/>
            <a:ext cx="10972800" cy="896112"/>
          </a:xfrm>
          <a:prstGeom prst="roundRect">
            <a:avLst>
              <a:gd name="adj" fmla="val 6122"/>
            </a:avLst>
          </a:prstGeom>
          <a:solidFill>
            <a:srgbClr val="F6F6FA"/>
          </a:solidFill>
          <a:ln w="9525">
            <a:solidFill>
              <a:srgbClr val="C9C7C2"/>
            </a:solidFill>
            <a:prstDash val="solid"/>
          </a:ln>
        </p:spPr>
      </p:sp>
      <p:sp>
        <p:nvSpPr>
          <p:cNvPr id="14" name="Shape 12"/>
          <p:cNvSpPr/>
          <p:nvPr/>
        </p:nvSpPr>
        <p:spPr>
          <a:xfrm>
            <a:off x="886968" y="5239512"/>
            <a:ext cx="201168" cy="201168"/>
          </a:xfrm>
          <a:prstGeom prst="ellipse">
            <a:avLst/>
          </a:prstGeom>
          <a:solidFill>
            <a:srgbClr val="10069F"/>
          </a:solidFill>
          <a:ln w="12700">
            <a:solidFill>
              <a:srgbClr val="10069F"/>
            </a:solidFill>
            <a:prstDash val="solid"/>
          </a:ln>
        </p:spPr>
      </p:sp>
      <p:sp>
        <p:nvSpPr>
          <p:cNvPr id="15" name="Text 13"/>
          <p:cNvSpPr/>
          <p:nvPr/>
        </p:nvSpPr>
        <p:spPr>
          <a:xfrm>
            <a:off x="1307592" y="5010912"/>
            <a:ext cx="3291840" cy="292608"/>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What is left, and is yours</a:t>
            </a:r>
            <a:endParaRPr lang="en-US" sz="1400" dirty="0"/>
          </a:p>
        </p:txBody>
      </p:sp>
      <p:sp>
        <p:nvSpPr>
          <p:cNvPr id="16" name="Text 14"/>
          <p:cNvSpPr/>
          <p:nvPr/>
        </p:nvSpPr>
        <p:spPr>
          <a:xfrm>
            <a:off x="1307592" y="5321808"/>
            <a:ext cx="9738360" cy="384048"/>
          </a:xfrm>
          <a:prstGeom prst="rect">
            <a:avLst/>
          </a:prstGeom>
          <a:noFill/>
          <a:ln/>
        </p:spPr>
        <p:txBody>
          <a:bodyPr wrap="square" lIns="0" tIns="0" rIns="0" bIns="0" rtlCol="0" anchor="ctr"/>
          <a:lstStyle/>
          <a:p>
            <a:pPr indent="0" marL="0">
              <a:lnSpc>
                <a:spcPts val="1500"/>
              </a:lnSpc>
              <a:buNone/>
            </a:pPr>
            <a:r>
              <a:rPr lang="en-US" sz="1200" dirty="0">
                <a:solidFill>
                  <a:srgbClr val="3F3F4D"/>
                </a:solidFill>
                <a:latin typeface="Arial" pitchFamily="34" charset="0"/>
                <a:ea typeface="Arial" pitchFamily="34" charset="-122"/>
                <a:cs typeface="Arial" pitchFamily="34" charset="-120"/>
              </a:rPr>
              <a:t>Reading what it produced, sizing it, and defending it to someone who asks how many users it holds.</a:t>
            </a:r>
            <a:endParaRPr lang="en-US" sz="1200" dirty="0"/>
          </a:p>
        </p:txBody>
      </p:sp>
      <p:sp>
        <p:nvSpPr>
          <p:cNvPr id="17" name="Text 15"/>
          <p:cNvSpPr/>
          <p:nvPr/>
        </p:nvSpPr>
        <p:spPr>
          <a:xfrm>
            <a:off x="594360" y="6080760"/>
            <a:ext cx="10972800" cy="365760"/>
          </a:xfrm>
          <a:prstGeom prst="rect">
            <a:avLst/>
          </a:prstGeom>
          <a:noFill/>
          <a:ln/>
        </p:spPr>
        <p:txBody>
          <a:bodyPr wrap="square" lIns="0" tIns="0" rIns="0" bIns="0" rtlCol="0" anchor="ctr"/>
          <a:lstStyle/>
          <a:p>
            <a:pPr indent="0" marL="0">
              <a:buNone/>
            </a:pPr>
            <a:r>
              <a:rPr lang="en-US" sz="1350" i="1" dirty="0">
                <a:solidFill>
                  <a:srgbClr val="C2410C"/>
                </a:solidFill>
                <a:latin typeface="Arial" pitchFamily="34" charset="0"/>
                <a:ea typeface="Arial" pitchFamily="34" charset="-122"/>
                <a:cs typeface="Arial" pitchFamily="34" charset="-120"/>
              </a:rPr>
              <a:t>So today is deliberately not about syntax. Nothing you learn here is anything you would have asked an agent to write for you.</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BY THE END OF TODAY</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Four things you will be able to do</a:t>
            </a:r>
            <a:endParaRPr lang="en-US" sz="3200" dirty="0"/>
          </a:p>
        </p:txBody>
      </p:sp>
      <p:sp>
        <p:nvSpPr>
          <p:cNvPr id="4" name="Shape 2"/>
          <p:cNvSpPr/>
          <p:nvPr/>
        </p:nvSpPr>
        <p:spPr>
          <a:xfrm>
            <a:off x="594360" y="1965960"/>
            <a:ext cx="5280660" cy="1572768"/>
          </a:xfrm>
          <a:prstGeom prst="roundRect">
            <a:avLst>
              <a:gd name="adj" fmla="val 3488"/>
            </a:avLst>
          </a:prstGeom>
          <a:solidFill>
            <a:srgbClr val="F6F6FA"/>
          </a:solidFill>
          <a:ln w="9525">
            <a:solidFill>
              <a:srgbClr val="C9C7C2"/>
            </a:solidFill>
            <a:prstDash val="solid"/>
          </a:ln>
        </p:spPr>
      </p:sp>
      <p:sp>
        <p:nvSpPr>
          <p:cNvPr id="5" name="Text 3"/>
          <p:cNvSpPr/>
          <p:nvPr/>
        </p:nvSpPr>
        <p:spPr>
          <a:xfrm>
            <a:off x="868680" y="2185416"/>
            <a:ext cx="640080" cy="292608"/>
          </a:xfrm>
          <a:prstGeom prst="rect">
            <a:avLst/>
          </a:prstGeom>
          <a:noFill/>
          <a:ln/>
        </p:spPr>
        <p:txBody>
          <a:bodyPr wrap="square" lIns="0" tIns="0" rIns="0" bIns="0" rtlCol="0" anchor="ctr"/>
          <a:lstStyle/>
          <a:p>
            <a:pPr indent="0" marL="0">
              <a:buNone/>
            </a:pPr>
            <a:r>
              <a:rPr lang="en-US" sz="1200" b="1" spc="140" kern="0" dirty="0">
                <a:solidFill>
                  <a:srgbClr val="C2410C"/>
                </a:solidFill>
                <a:latin typeface="Courier New" pitchFamily="34" charset="0"/>
                <a:ea typeface="Courier New" pitchFamily="34" charset="-122"/>
                <a:cs typeface="Courier New" pitchFamily="34" charset="-120"/>
              </a:rPr>
              <a:t>01</a:t>
            </a:r>
            <a:endParaRPr lang="en-US" sz="1200" dirty="0"/>
          </a:p>
        </p:txBody>
      </p:sp>
      <p:sp>
        <p:nvSpPr>
          <p:cNvPr id="6" name="Text 4"/>
          <p:cNvSpPr/>
          <p:nvPr/>
        </p:nvSpPr>
        <p:spPr>
          <a:xfrm>
            <a:off x="868680" y="2514600"/>
            <a:ext cx="4732020" cy="329184"/>
          </a:xfrm>
          <a:prstGeom prst="rect">
            <a:avLst/>
          </a:prstGeom>
          <a:noFill/>
          <a:ln/>
        </p:spPr>
        <p:txBody>
          <a:bodyPr wrap="square" lIns="0" tIns="0" rIns="0" bIns="0" rtlCol="0" anchor="ctr"/>
          <a:lstStyle/>
          <a:p>
            <a:pPr indent="0" marL="0">
              <a:buNone/>
            </a:pPr>
            <a:r>
              <a:rPr lang="en-US" sz="1600" b="1" dirty="0">
                <a:solidFill>
                  <a:srgbClr val="0A0A14"/>
                </a:solidFill>
                <a:latin typeface="Arial" pitchFamily="34" charset="0"/>
                <a:ea typeface="Arial" pitchFamily="34" charset="-122"/>
                <a:cs typeface="Arial" pitchFamily="34" charset="-120"/>
              </a:rPr>
              <a:t>Explain a web app</a:t>
            </a:r>
            <a:endParaRPr lang="en-US" sz="1600" dirty="0"/>
          </a:p>
        </p:txBody>
      </p:sp>
      <p:sp>
        <p:nvSpPr>
          <p:cNvPr id="7" name="Text 5"/>
          <p:cNvSpPr/>
          <p:nvPr/>
        </p:nvSpPr>
        <p:spPr>
          <a:xfrm>
            <a:off x="868680" y="2880360"/>
            <a:ext cx="4732020" cy="54864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Name the three tiers, say where each runs, and trace one click from browser to SQL and back.</a:t>
            </a:r>
            <a:endParaRPr lang="en-US" sz="1150" dirty="0"/>
          </a:p>
        </p:txBody>
      </p:sp>
      <p:sp>
        <p:nvSpPr>
          <p:cNvPr id="8" name="Shape 6"/>
          <p:cNvSpPr/>
          <p:nvPr/>
        </p:nvSpPr>
        <p:spPr>
          <a:xfrm>
            <a:off x="6286500" y="1965960"/>
            <a:ext cx="5280660" cy="1572768"/>
          </a:xfrm>
          <a:prstGeom prst="roundRect">
            <a:avLst>
              <a:gd name="adj" fmla="val 3488"/>
            </a:avLst>
          </a:prstGeom>
          <a:solidFill>
            <a:srgbClr val="F6F6FA"/>
          </a:solidFill>
          <a:ln w="9525">
            <a:solidFill>
              <a:srgbClr val="C9C7C2"/>
            </a:solidFill>
            <a:prstDash val="solid"/>
          </a:ln>
        </p:spPr>
      </p:sp>
      <p:sp>
        <p:nvSpPr>
          <p:cNvPr id="9" name="Text 7"/>
          <p:cNvSpPr/>
          <p:nvPr/>
        </p:nvSpPr>
        <p:spPr>
          <a:xfrm>
            <a:off x="6560820" y="2185416"/>
            <a:ext cx="640080" cy="292608"/>
          </a:xfrm>
          <a:prstGeom prst="rect">
            <a:avLst/>
          </a:prstGeom>
          <a:noFill/>
          <a:ln/>
        </p:spPr>
        <p:txBody>
          <a:bodyPr wrap="square" lIns="0" tIns="0" rIns="0" bIns="0" rtlCol="0" anchor="ctr"/>
          <a:lstStyle/>
          <a:p>
            <a:pPr indent="0" marL="0">
              <a:buNone/>
            </a:pPr>
            <a:r>
              <a:rPr lang="en-US" sz="1200" b="1" spc="140" kern="0" dirty="0">
                <a:solidFill>
                  <a:srgbClr val="C2410C"/>
                </a:solidFill>
                <a:latin typeface="Courier New" pitchFamily="34" charset="0"/>
                <a:ea typeface="Courier New" pitchFamily="34" charset="-122"/>
                <a:cs typeface="Courier New" pitchFamily="34" charset="-120"/>
              </a:rPr>
              <a:t>02</a:t>
            </a:r>
            <a:endParaRPr lang="en-US" sz="1200" dirty="0"/>
          </a:p>
        </p:txBody>
      </p:sp>
      <p:sp>
        <p:nvSpPr>
          <p:cNvPr id="10" name="Text 8"/>
          <p:cNvSpPr/>
          <p:nvPr/>
        </p:nvSpPr>
        <p:spPr>
          <a:xfrm>
            <a:off x="6560820" y="2514600"/>
            <a:ext cx="4732020" cy="329184"/>
          </a:xfrm>
          <a:prstGeom prst="rect">
            <a:avLst/>
          </a:prstGeom>
          <a:noFill/>
          <a:ln/>
        </p:spPr>
        <p:txBody>
          <a:bodyPr wrap="square" lIns="0" tIns="0" rIns="0" bIns="0" rtlCol="0" anchor="ctr"/>
          <a:lstStyle/>
          <a:p>
            <a:pPr indent="0" marL="0">
              <a:buNone/>
            </a:pPr>
            <a:r>
              <a:rPr lang="en-US" sz="1600" b="1" dirty="0">
                <a:solidFill>
                  <a:srgbClr val="0A0A14"/>
                </a:solidFill>
                <a:latin typeface="Arial" pitchFamily="34" charset="0"/>
                <a:ea typeface="Arial" pitchFamily="34" charset="-122"/>
                <a:cs typeface="Arial" pitchFamily="34" charset="-120"/>
              </a:rPr>
              <a:t>Read a request</a:t>
            </a:r>
            <a:endParaRPr lang="en-US" sz="1600" dirty="0"/>
          </a:p>
        </p:txBody>
      </p:sp>
      <p:sp>
        <p:nvSpPr>
          <p:cNvPr id="11" name="Text 9"/>
          <p:cNvSpPr/>
          <p:nvPr/>
        </p:nvSpPr>
        <p:spPr>
          <a:xfrm>
            <a:off x="6560820" y="2880360"/>
            <a:ext cx="4732020" cy="54864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Look at raw HTTP and say what each line does. Recognise it as text you could type by hand.</a:t>
            </a:r>
            <a:endParaRPr lang="en-US" sz="1150" dirty="0"/>
          </a:p>
        </p:txBody>
      </p:sp>
      <p:sp>
        <p:nvSpPr>
          <p:cNvPr id="12" name="Shape 10"/>
          <p:cNvSpPr/>
          <p:nvPr/>
        </p:nvSpPr>
        <p:spPr>
          <a:xfrm>
            <a:off x="594360" y="3904488"/>
            <a:ext cx="5280660" cy="1572768"/>
          </a:xfrm>
          <a:prstGeom prst="roundRect">
            <a:avLst>
              <a:gd name="adj" fmla="val 3488"/>
            </a:avLst>
          </a:prstGeom>
          <a:solidFill>
            <a:srgbClr val="F6F6FA"/>
          </a:solidFill>
          <a:ln w="9525">
            <a:solidFill>
              <a:srgbClr val="C9C7C2"/>
            </a:solidFill>
            <a:prstDash val="solid"/>
          </a:ln>
        </p:spPr>
      </p:sp>
      <p:sp>
        <p:nvSpPr>
          <p:cNvPr id="13" name="Text 11"/>
          <p:cNvSpPr/>
          <p:nvPr/>
        </p:nvSpPr>
        <p:spPr>
          <a:xfrm>
            <a:off x="868680" y="4123944"/>
            <a:ext cx="640080" cy="292608"/>
          </a:xfrm>
          <a:prstGeom prst="rect">
            <a:avLst/>
          </a:prstGeom>
          <a:noFill/>
          <a:ln/>
        </p:spPr>
        <p:txBody>
          <a:bodyPr wrap="square" lIns="0" tIns="0" rIns="0" bIns="0" rtlCol="0" anchor="ctr"/>
          <a:lstStyle/>
          <a:p>
            <a:pPr indent="0" marL="0">
              <a:buNone/>
            </a:pPr>
            <a:r>
              <a:rPr lang="en-US" sz="1200" b="1" spc="140" kern="0" dirty="0">
                <a:solidFill>
                  <a:srgbClr val="C2410C"/>
                </a:solidFill>
                <a:latin typeface="Courier New" pitchFamily="34" charset="0"/>
                <a:ea typeface="Courier New" pitchFamily="34" charset="-122"/>
                <a:cs typeface="Courier New" pitchFamily="34" charset="-120"/>
              </a:rPr>
              <a:t>03</a:t>
            </a:r>
            <a:endParaRPr lang="en-US" sz="1200" dirty="0"/>
          </a:p>
        </p:txBody>
      </p:sp>
      <p:sp>
        <p:nvSpPr>
          <p:cNvPr id="14" name="Text 12"/>
          <p:cNvSpPr/>
          <p:nvPr/>
        </p:nvSpPr>
        <p:spPr>
          <a:xfrm>
            <a:off x="868680" y="4453128"/>
            <a:ext cx="4732020" cy="329184"/>
          </a:xfrm>
          <a:prstGeom prst="rect">
            <a:avLst/>
          </a:prstGeom>
          <a:noFill/>
          <a:ln/>
        </p:spPr>
        <p:txBody>
          <a:bodyPr wrap="square" lIns="0" tIns="0" rIns="0" bIns="0" rtlCol="0" anchor="ctr"/>
          <a:lstStyle/>
          <a:p>
            <a:pPr indent="0" marL="0">
              <a:buNone/>
            </a:pPr>
            <a:r>
              <a:rPr lang="en-US" sz="1600" b="1" dirty="0">
                <a:solidFill>
                  <a:srgbClr val="0A0A14"/>
                </a:solidFill>
                <a:latin typeface="Arial" pitchFamily="34" charset="0"/>
                <a:ea typeface="Arial" pitchFamily="34" charset="-122"/>
                <a:cs typeface="Arial" pitchFamily="34" charset="-120"/>
              </a:rPr>
              <a:t>Choose a verb</a:t>
            </a:r>
            <a:endParaRPr lang="en-US" sz="1600" dirty="0"/>
          </a:p>
        </p:txBody>
      </p:sp>
      <p:sp>
        <p:nvSpPr>
          <p:cNvPr id="15" name="Text 13"/>
          <p:cNvSpPr/>
          <p:nvPr/>
        </p:nvSpPr>
        <p:spPr>
          <a:xfrm>
            <a:off x="868680" y="4818888"/>
            <a:ext cx="4732020" cy="54864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Pick GET, POST, PUT, PATCH or DELETE correctly, and say what happens if it is sent twice.</a:t>
            </a:r>
            <a:endParaRPr lang="en-US" sz="1150" dirty="0"/>
          </a:p>
        </p:txBody>
      </p:sp>
      <p:sp>
        <p:nvSpPr>
          <p:cNvPr id="16" name="Shape 14"/>
          <p:cNvSpPr/>
          <p:nvPr/>
        </p:nvSpPr>
        <p:spPr>
          <a:xfrm>
            <a:off x="6286500" y="3904488"/>
            <a:ext cx="5280660" cy="1572768"/>
          </a:xfrm>
          <a:prstGeom prst="roundRect">
            <a:avLst>
              <a:gd name="adj" fmla="val 3488"/>
            </a:avLst>
          </a:prstGeom>
          <a:solidFill>
            <a:srgbClr val="F6F6FA"/>
          </a:solidFill>
          <a:ln w="9525">
            <a:solidFill>
              <a:srgbClr val="C9C7C2"/>
            </a:solidFill>
            <a:prstDash val="solid"/>
          </a:ln>
        </p:spPr>
      </p:sp>
      <p:sp>
        <p:nvSpPr>
          <p:cNvPr id="17" name="Text 15"/>
          <p:cNvSpPr/>
          <p:nvPr/>
        </p:nvSpPr>
        <p:spPr>
          <a:xfrm>
            <a:off x="6560820" y="4123944"/>
            <a:ext cx="640080" cy="292608"/>
          </a:xfrm>
          <a:prstGeom prst="rect">
            <a:avLst/>
          </a:prstGeom>
          <a:noFill/>
          <a:ln/>
        </p:spPr>
        <p:txBody>
          <a:bodyPr wrap="square" lIns="0" tIns="0" rIns="0" bIns="0" rtlCol="0" anchor="ctr"/>
          <a:lstStyle/>
          <a:p>
            <a:pPr indent="0" marL="0">
              <a:buNone/>
            </a:pPr>
            <a:r>
              <a:rPr lang="en-US" sz="1200" b="1" spc="140" kern="0" dirty="0">
                <a:solidFill>
                  <a:srgbClr val="C2410C"/>
                </a:solidFill>
                <a:latin typeface="Courier New" pitchFamily="34" charset="0"/>
                <a:ea typeface="Courier New" pitchFamily="34" charset="-122"/>
                <a:cs typeface="Courier New" pitchFamily="34" charset="-120"/>
              </a:rPr>
              <a:t>04</a:t>
            </a:r>
            <a:endParaRPr lang="en-US" sz="1200" dirty="0"/>
          </a:p>
        </p:txBody>
      </p:sp>
      <p:sp>
        <p:nvSpPr>
          <p:cNvPr id="18" name="Text 16"/>
          <p:cNvSpPr/>
          <p:nvPr/>
        </p:nvSpPr>
        <p:spPr>
          <a:xfrm>
            <a:off x="6560820" y="4453128"/>
            <a:ext cx="4732020" cy="329184"/>
          </a:xfrm>
          <a:prstGeom prst="rect">
            <a:avLst/>
          </a:prstGeom>
          <a:noFill/>
          <a:ln/>
        </p:spPr>
        <p:txBody>
          <a:bodyPr wrap="square" lIns="0" tIns="0" rIns="0" bIns="0" rtlCol="0" anchor="ctr"/>
          <a:lstStyle/>
          <a:p>
            <a:pPr indent="0" marL="0">
              <a:buNone/>
            </a:pPr>
            <a:r>
              <a:rPr lang="en-US" sz="1600" b="1" dirty="0">
                <a:solidFill>
                  <a:srgbClr val="0A0A14"/>
                </a:solidFill>
                <a:latin typeface="Arial" pitchFamily="34" charset="0"/>
                <a:ea typeface="Arial" pitchFamily="34" charset="-122"/>
                <a:cs typeface="Arial" pitchFamily="34" charset="-120"/>
              </a:rPr>
              <a:t>Size a system</a:t>
            </a:r>
            <a:endParaRPr lang="en-US" sz="1600" dirty="0"/>
          </a:p>
        </p:txBody>
      </p:sp>
      <p:sp>
        <p:nvSpPr>
          <p:cNvPr id="19" name="Text 17"/>
          <p:cNvSpPr/>
          <p:nvPr/>
        </p:nvSpPr>
        <p:spPr>
          <a:xfrm>
            <a:off x="6560820" y="4818888"/>
            <a:ext cx="4732020" cy="54864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Answer “how many users can this hold” with a number, and name what breaks next.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RUN OF SHOW</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Three hours, four parts, two breakouts</a:t>
            </a:r>
            <a:endParaRPr lang="en-US" sz="3200" dirty="0"/>
          </a:p>
        </p:txBody>
      </p:sp>
      <p:sp>
        <p:nvSpPr>
          <p:cNvPr id="4" name="Shape 2"/>
          <p:cNvSpPr/>
          <p:nvPr/>
        </p:nvSpPr>
        <p:spPr>
          <a:xfrm>
            <a:off x="594360" y="1828800"/>
            <a:ext cx="10972800" cy="475488"/>
          </a:xfrm>
          <a:prstGeom prst="roundRect">
            <a:avLst>
              <a:gd name="adj" fmla="val 11538"/>
            </a:avLst>
          </a:prstGeom>
          <a:solidFill>
            <a:srgbClr val="F6F6FA"/>
          </a:solidFill>
          <a:ln w="9525">
            <a:solidFill>
              <a:srgbClr val="C9C7C2"/>
            </a:solidFill>
            <a:prstDash val="solid"/>
          </a:ln>
        </p:spPr>
      </p:sp>
      <p:sp>
        <p:nvSpPr>
          <p:cNvPr id="5" name="Text 3"/>
          <p:cNvSpPr/>
          <p:nvPr/>
        </p:nvSpPr>
        <p:spPr>
          <a:xfrm>
            <a:off x="850392" y="1929384"/>
            <a:ext cx="822960" cy="274320"/>
          </a:xfrm>
          <a:prstGeom prst="rect">
            <a:avLst/>
          </a:prstGeom>
          <a:noFill/>
          <a:ln/>
        </p:spPr>
        <p:txBody>
          <a:bodyPr wrap="square" lIns="0" tIns="0" rIns="0" bIns="0" rtlCol="0" anchor="ctr"/>
          <a:lstStyle/>
          <a:p>
            <a:pPr indent="0" marL="0">
              <a:buNone/>
            </a:pPr>
            <a:r>
              <a:rPr lang="en-US" sz="1150" b="1" dirty="0">
                <a:solidFill>
                  <a:srgbClr val="10069F"/>
                </a:solidFill>
                <a:latin typeface="Courier New" pitchFamily="34" charset="0"/>
                <a:ea typeface="Courier New" pitchFamily="34" charset="-122"/>
                <a:cs typeface="Courier New" pitchFamily="34" charset="-120"/>
              </a:rPr>
              <a:t>12:30</a:t>
            </a:r>
            <a:endParaRPr lang="en-US" sz="1150" dirty="0"/>
          </a:p>
        </p:txBody>
      </p:sp>
      <p:sp>
        <p:nvSpPr>
          <p:cNvPr id="6" name="Text 4"/>
          <p:cNvSpPr/>
          <p:nvPr/>
        </p:nvSpPr>
        <p:spPr>
          <a:xfrm>
            <a:off x="1828800" y="1929384"/>
            <a:ext cx="822960" cy="274320"/>
          </a:xfrm>
          <a:prstGeom prst="rect">
            <a:avLst/>
          </a:prstGeom>
          <a:noFill/>
          <a:ln/>
        </p:spPr>
        <p:txBody>
          <a:bodyPr wrap="square" lIns="0" tIns="0" rIns="0" bIns="0" rtlCol="0" anchor="ctr"/>
          <a:lstStyle/>
          <a:p>
            <a:pPr indent="0" marL="0">
              <a:buNone/>
            </a:pPr>
            <a:r>
              <a:rPr lang="en-US" sz="1000" spc="120" kern="0" dirty="0">
                <a:solidFill>
                  <a:srgbClr val="63616F"/>
                </a:solidFill>
                <a:latin typeface="Courier New" pitchFamily="34" charset="0"/>
                <a:ea typeface="Courier New" pitchFamily="34" charset="-122"/>
                <a:cs typeface="Courier New" pitchFamily="34" charset="-120"/>
              </a:rPr>
              <a:t>Part 1</a:t>
            </a:r>
            <a:endParaRPr lang="en-US" sz="1000" dirty="0"/>
          </a:p>
        </p:txBody>
      </p:sp>
      <p:sp>
        <p:nvSpPr>
          <p:cNvPr id="7" name="Text 5"/>
          <p:cNvSpPr/>
          <p:nvPr/>
        </p:nvSpPr>
        <p:spPr>
          <a:xfrm>
            <a:off x="2788920" y="1920240"/>
            <a:ext cx="6949440" cy="292608"/>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What a web app actually is</a:t>
            </a:r>
            <a:endParaRPr lang="en-US" sz="1350" dirty="0"/>
          </a:p>
        </p:txBody>
      </p:sp>
      <p:sp>
        <p:nvSpPr>
          <p:cNvPr id="8" name="Text 6"/>
          <p:cNvSpPr/>
          <p:nvPr/>
        </p:nvSpPr>
        <p:spPr>
          <a:xfrm>
            <a:off x="10195560" y="1938528"/>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30 min</a:t>
            </a:r>
            <a:endParaRPr lang="en-US" sz="1050" dirty="0"/>
          </a:p>
        </p:txBody>
      </p:sp>
      <p:sp>
        <p:nvSpPr>
          <p:cNvPr id="9" name="Shape 7"/>
          <p:cNvSpPr/>
          <p:nvPr/>
        </p:nvSpPr>
        <p:spPr>
          <a:xfrm>
            <a:off x="594360" y="2395728"/>
            <a:ext cx="10972800" cy="475488"/>
          </a:xfrm>
          <a:prstGeom prst="roundRect">
            <a:avLst>
              <a:gd name="adj" fmla="val 11538"/>
            </a:avLst>
          </a:prstGeom>
          <a:solidFill>
            <a:srgbClr val="F6F6FA"/>
          </a:solidFill>
          <a:ln w="9525">
            <a:solidFill>
              <a:srgbClr val="C9C7C2"/>
            </a:solidFill>
            <a:prstDash val="solid"/>
          </a:ln>
        </p:spPr>
      </p:sp>
      <p:sp>
        <p:nvSpPr>
          <p:cNvPr id="10" name="Text 8"/>
          <p:cNvSpPr/>
          <p:nvPr/>
        </p:nvSpPr>
        <p:spPr>
          <a:xfrm>
            <a:off x="850392" y="2496312"/>
            <a:ext cx="822960" cy="274320"/>
          </a:xfrm>
          <a:prstGeom prst="rect">
            <a:avLst/>
          </a:prstGeom>
          <a:noFill/>
          <a:ln/>
        </p:spPr>
        <p:txBody>
          <a:bodyPr wrap="square" lIns="0" tIns="0" rIns="0" bIns="0" rtlCol="0" anchor="ctr"/>
          <a:lstStyle/>
          <a:p>
            <a:pPr indent="0" marL="0">
              <a:buNone/>
            </a:pPr>
            <a:r>
              <a:rPr lang="en-US" sz="1150" b="1" dirty="0">
                <a:solidFill>
                  <a:srgbClr val="10069F"/>
                </a:solidFill>
                <a:latin typeface="Courier New" pitchFamily="34" charset="0"/>
                <a:ea typeface="Courier New" pitchFamily="34" charset="-122"/>
                <a:cs typeface="Courier New" pitchFamily="34" charset="-120"/>
              </a:rPr>
              <a:t>13:00</a:t>
            </a:r>
            <a:endParaRPr lang="en-US" sz="1150" dirty="0"/>
          </a:p>
        </p:txBody>
      </p:sp>
      <p:sp>
        <p:nvSpPr>
          <p:cNvPr id="11" name="Text 9"/>
          <p:cNvSpPr/>
          <p:nvPr/>
        </p:nvSpPr>
        <p:spPr>
          <a:xfrm>
            <a:off x="1828800" y="2496312"/>
            <a:ext cx="822960" cy="274320"/>
          </a:xfrm>
          <a:prstGeom prst="rect">
            <a:avLst/>
          </a:prstGeom>
          <a:noFill/>
          <a:ln/>
        </p:spPr>
        <p:txBody>
          <a:bodyPr wrap="square" lIns="0" tIns="0" rIns="0" bIns="0" rtlCol="0" anchor="ctr"/>
          <a:lstStyle/>
          <a:p>
            <a:pPr indent="0" marL="0">
              <a:buNone/>
            </a:pPr>
            <a:r>
              <a:rPr lang="en-US" sz="1000" spc="120" kern="0" dirty="0">
                <a:solidFill>
                  <a:srgbClr val="63616F"/>
                </a:solidFill>
                <a:latin typeface="Courier New" pitchFamily="34" charset="0"/>
                <a:ea typeface="Courier New" pitchFamily="34" charset="-122"/>
                <a:cs typeface="Courier New" pitchFamily="34" charset="-120"/>
              </a:rPr>
              <a:t>Part 2</a:t>
            </a:r>
            <a:endParaRPr lang="en-US" sz="1000" dirty="0"/>
          </a:p>
        </p:txBody>
      </p:sp>
      <p:sp>
        <p:nvSpPr>
          <p:cNvPr id="12" name="Text 10"/>
          <p:cNvSpPr/>
          <p:nvPr/>
        </p:nvSpPr>
        <p:spPr>
          <a:xfrm>
            <a:off x="2788920" y="2487168"/>
            <a:ext cx="6949440" cy="292608"/>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How it talks — the wire, the round trip, the bytes</a:t>
            </a:r>
            <a:endParaRPr lang="en-US" sz="1350" dirty="0"/>
          </a:p>
        </p:txBody>
      </p:sp>
      <p:sp>
        <p:nvSpPr>
          <p:cNvPr id="13" name="Text 11"/>
          <p:cNvSpPr/>
          <p:nvPr/>
        </p:nvSpPr>
        <p:spPr>
          <a:xfrm>
            <a:off x="10195560" y="2505456"/>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40 min</a:t>
            </a:r>
            <a:endParaRPr lang="en-US" sz="1050" dirty="0"/>
          </a:p>
        </p:txBody>
      </p:sp>
      <p:sp>
        <p:nvSpPr>
          <p:cNvPr id="14" name="Shape 12"/>
          <p:cNvSpPr/>
          <p:nvPr/>
        </p:nvSpPr>
        <p:spPr>
          <a:xfrm>
            <a:off x="594360" y="2962656"/>
            <a:ext cx="10972800" cy="475488"/>
          </a:xfrm>
          <a:prstGeom prst="roundRect">
            <a:avLst>
              <a:gd name="adj" fmla="val 11538"/>
            </a:avLst>
          </a:prstGeom>
          <a:solidFill>
            <a:srgbClr val="EFEFF5"/>
          </a:solidFill>
          <a:ln w="9525">
            <a:solidFill>
              <a:srgbClr val="C9C7C2"/>
            </a:solidFill>
            <a:prstDash val="solid"/>
          </a:ln>
        </p:spPr>
      </p:sp>
      <p:sp>
        <p:nvSpPr>
          <p:cNvPr id="15" name="Text 13"/>
          <p:cNvSpPr/>
          <p:nvPr/>
        </p:nvSpPr>
        <p:spPr>
          <a:xfrm>
            <a:off x="850392" y="3063240"/>
            <a:ext cx="82296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13:40</a:t>
            </a:r>
            <a:endParaRPr lang="en-US" sz="1150" dirty="0"/>
          </a:p>
        </p:txBody>
      </p:sp>
      <p:sp>
        <p:nvSpPr>
          <p:cNvPr id="16" name="Text 14"/>
          <p:cNvSpPr/>
          <p:nvPr/>
        </p:nvSpPr>
        <p:spPr>
          <a:xfrm>
            <a:off x="1828800" y="3063240"/>
            <a:ext cx="822960" cy="274320"/>
          </a:xfrm>
          <a:prstGeom prst="rect">
            <a:avLst/>
          </a:prstGeom>
          <a:noFill/>
          <a:ln/>
        </p:spPr>
        <p:txBody>
          <a:bodyPr wrap="square" lIns="0" tIns="0" rIns="0" bIns="0" rtlCol="0" anchor="ctr"/>
          <a:lstStyle/>
          <a:p>
            <a:pPr indent="0" marL="0">
              <a:buNone/>
            </a:pPr>
            <a:endParaRPr lang="en-US" sz="1000" dirty="0"/>
          </a:p>
        </p:txBody>
      </p:sp>
      <p:sp>
        <p:nvSpPr>
          <p:cNvPr id="17" name="Text 15"/>
          <p:cNvSpPr/>
          <p:nvPr/>
        </p:nvSpPr>
        <p:spPr>
          <a:xfrm>
            <a:off x="2788920" y="3054096"/>
            <a:ext cx="6949440" cy="292608"/>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Breakout 1 — Read the wire</a:t>
            </a:r>
            <a:endParaRPr lang="en-US" sz="1350" dirty="0"/>
          </a:p>
        </p:txBody>
      </p:sp>
      <p:sp>
        <p:nvSpPr>
          <p:cNvPr id="18" name="Text 16"/>
          <p:cNvSpPr/>
          <p:nvPr/>
        </p:nvSpPr>
        <p:spPr>
          <a:xfrm>
            <a:off x="10195560" y="3072384"/>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30 min</a:t>
            </a:r>
            <a:endParaRPr lang="en-US" sz="1050" dirty="0"/>
          </a:p>
        </p:txBody>
      </p:sp>
      <p:sp>
        <p:nvSpPr>
          <p:cNvPr id="19" name="Text 17"/>
          <p:cNvSpPr/>
          <p:nvPr/>
        </p:nvSpPr>
        <p:spPr>
          <a:xfrm>
            <a:off x="850392" y="3630168"/>
            <a:ext cx="822960" cy="274320"/>
          </a:xfrm>
          <a:prstGeom prst="rect">
            <a:avLst/>
          </a:prstGeom>
          <a:noFill/>
          <a:ln/>
        </p:spPr>
        <p:txBody>
          <a:bodyPr wrap="square" lIns="0" tIns="0" rIns="0" bIns="0" rtlCol="0" anchor="ctr"/>
          <a:lstStyle/>
          <a:p>
            <a:pPr indent="0" marL="0">
              <a:buNone/>
            </a:pPr>
            <a:r>
              <a:rPr lang="en-US" sz="1150" b="1" dirty="0">
                <a:solidFill>
                  <a:srgbClr val="63616F"/>
                </a:solidFill>
                <a:latin typeface="Courier New" pitchFamily="34" charset="0"/>
                <a:ea typeface="Courier New" pitchFamily="34" charset="-122"/>
                <a:cs typeface="Courier New" pitchFamily="34" charset="-120"/>
              </a:rPr>
              <a:t>14:10</a:t>
            </a:r>
            <a:endParaRPr lang="en-US" sz="1150" dirty="0"/>
          </a:p>
        </p:txBody>
      </p:sp>
      <p:sp>
        <p:nvSpPr>
          <p:cNvPr id="20" name="Text 18"/>
          <p:cNvSpPr/>
          <p:nvPr/>
        </p:nvSpPr>
        <p:spPr>
          <a:xfrm>
            <a:off x="1828800" y="3630168"/>
            <a:ext cx="822960" cy="274320"/>
          </a:xfrm>
          <a:prstGeom prst="rect">
            <a:avLst/>
          </a:prstGeom>
          <a:noFill/>
          <a:ln/>
        </p:spPr>
        <p:txBody>
          <a:bodyPr wrap="square" lIns="0" tIns="0" rIns="0" bIns="0" rtlCol="0" anchor="ctr"/>
          <a:lstStyle/>
          <a:p>
            <a:pPr indent="0" marL="0">
              <a:buNone/>
            </a:pPr>
            <a:endParaRPr lang="en-US" sz="1000" dirty="0"/>
          </a:p>
        </p:txBody>
      </p:sp>
      <p:sp>
        <p:nvSpPr>
          <p:cNvPr id="21" name="Text 19"/>
          <p:cNvSpPr/>
          <p:nvPr/>
        </p:nvSpPr>
        <p:spPr>
          <a:xfrm>
            <a:off x="2788920" y="3621024"/>
            <a:ext cx="6949440" cy="292608"/>
          </a:xfrm>
          <a:prstGeom prst="rect">
            <a:avLst/>
          </a:prstGeom>
          <a:noFill/>
          <a:ln/>
        </p:spPr>
        <p:txBody>
          <a:bodyPr wrap="square" lIns="0" tIns="0" rIns="0" bIns="0" rtlCol="0" anchor="ctr"/>
          <a:lstStyle/>
          <a:p>
            <a:pPr indent="0" marL="0">
              <a:buNone/>
            </a:pPr>
            <a:r>
              <a:rPr lang="en-US" sz="1350" dirty="0">
                <a:solidFill>
                  <a:srgbClr val="63616F"/>
                </a:solidFill>
                <a:latin typeface="Arial" pitchFamily="34" charset="0"/>
                <a:ea typeface="Arial" pitchFamily="34" charset="-122"/>
                <a:cs typeface="Arial" pitchFamily="34" charset="-120"/>
              </a:rPr>
              <a:t>Break</a:t>
            </a:r>
            <a:endParaRPr lang="en-US" sz="1350" dirty="0"/>
          </a:p>
        </p:txBody>
      </p:sp>
      <p:sp>
        <p:nvSpPr>
          <p:cNvPr id="22" name="Text 20"/>
          <p:cNvSpPr/>
          <p:nvPr/>
        </p:nvSpPr>
        <p:spPr>
          <a:xfrm>
            <a:off x="10195560" y="3639312"/>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10 min</a:t>
            </a:r>
            <a:endParaRPr lang="en-US" sz="1050" dirty="0"/>
          </a:p>
        </p:txBody>
      </p:sp>
      <p:sp>
        <p:nvSpPr>
          <p:cNvPr id="23" name="Shape 21"/>
          <p:cNvSpPr/>
          <p:nvPr/>
        </p:nvSpPr>
        <p:spPr>
          <a:xfrm>
            <a:off x="594360" y="4096512"/>
            <a:ext cx="10972800" cy="475488"/>
          </a:xfrm>
          <a:prstGeom prst="roundRect">
            <a:avLst>
              <a:gd name="adj" fmla="val 11538"/>
            </a:avLst>
          </a:prstGeom>
          <a:solidFill>
            <a:srgbClr val="F6F6FA"/>
          </a:solidFill>
          <a:ln w="9525">
            <a:solidFill>
              <a:srgbClr val="C9C7C2"/>
            </a:solidFill>
            <a:prstDash val="solid"/>
          </a:ln>
        </p:spPr>
      </p:sp>
      <p:sp>
        <p:nvSpPr>
          <p:cNvPr id="24" name="Text 22"/>
          <p:cNvSpPr/>
          <p:nvPr/>
        </p:nvSpPr>
        <p:spPr>
          <a:xfrm>
            <a:off x="850392" y="4197096"/>
            <a:ext cx="822960" cy="274320"/>
          </a:xfrm>
          <a:prstGeom prst="rect">
            <a:avLst/>
          </a:prstGeom>
          <a:noFill/>
          <a:ln/>
        </p:spPr>
        <p:txBody>
          <a:bodyPr wrap="square" lIns="0" tIns="0" rIns="0" bIns="0" rtlCol="0" anchor="ctr"/>
          <a:lstStyle/>
          <a:p>
            <a:pPr indent="0" marL="0">
              <a:buNone/>
            </a:pPr>
            <a:r>
              <a:rPr lang="en-US" sz="1150" b="1" dirty="0">
                <a:solidFill>
                  <a:srgbClr val="10069F"/>
                </a:solidFill>
                <a:latin typeface="Courier New" pitchFamily="34" charset="0"/>
                <a:ea typeface="Courier New" pitchFamily="34" charset="-122"/>
                <a:cs typeface="Courier New" pitchFamily="34" charset="-120"/>
              </a:rPr>
              <a:t>14:20</a:t>
            </a:r>
            <a:endParaRPr lang="en-US" sz="1150" dirty="0"/>
          </a:p>
        </p:txBody>
      </p:sp>
      <p:sp>
        <p:nvSpPr>
          <p:cNvPr id="25" name="Text 23"/>
          <p:cNvSpPr/>
          <p:nvPr/>
        </p:nvSpPr>
        <p:spPr>
          <a:xfrm>
            <a:off x="1828800" y="4197096"/>
            <a:ext cx="822960" cy="274320"/>
          </a:xfrm>
          <a:prstGeom prst="rect">
            <a:avLst/>
          </a:prstGeom>
          <a:noFill/>
          <a:ln/>
        </p:spPr>
        <p:txBody>
          <a:bodyPr wrap="square" lIns="0" tIns="0" rIns="0" bIns="0" rtlCol="0" anchor="ctr"/>
          <a:lstStyle/>
          <a:p>
            <a:pPr indent="0" marL="0">
              <a:buNone/>
            </a:pPr>
            <a:r>
              <a:rPr lang="en-US" sz="1000" spc="120" kern="0" dirty="0">
                <a:solidFill>
                  <a:srgbClr val="63616F"/>
                </a:solidFill>
                <a:latin typeface="Courier New" pitchFamily="34" charset="0"/>
                <a:ea typeface="Courier New" pitchFamily="34" charset="-122"/>
                <a:cs typeface="Courier New" pitchFamily="34" charset="-120"/>
              </a:rPr>
              <a:t>Part 3</a:t>
            </a:r>
            <a:endParaRPr lang="en-US" sz="1000" dirty="0"/>
          </a:p>
        </p:txBody>
      </p:sp>
      <p:sp>
        <p:nvSpPr>
          <p:cNvPr id="26" name="Text 24"/>
          <p:cNvSpPr/>
          <p:nvPr/>
        </p:nvSpPr>
        <p:spPr>
          <a:xfrm>
            <a:off x="2788920" y="4187952"/>
            <a:ext cx="6949440" cy="292608"/>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Verbs and REST</a:t>
            </a:r>
            <a:endParaRPr lang="en-US" sz="1350" dirty="0"/>
          </a:p>
        </p:txBody>
      </p:sp>
      <p:sp>
        <p:nvSpPr>
          <p:cNvPr id="27" name="Text 25"/>
          <p:cNvSpPr/>
          <p:nvPr/>
        </p:nvSpPr>
        <p:spPr>
          <a:xfrm>
            <a:off x="10195560" y="4206240"/>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30 min</a:t>
            </a:r>
            <a:endParaRPr lang="en-US" sz="1050" dirty="0"/>
          </a:p>
        </p:txBody>
      </p:sp>
      <p:sp>
        <p:nvSpPr>
          <p:cNvPr id="28" name="Shape 26"/>
          <p:cNvSpPr/>
          <p:nvPr/>
        </p:nvSpPr>
        <p:spPr>
          <a:xfrm>
            <a:off x="594360" y="4663440"/>
            <a:ext cx="10972800" cy="475488"/>
          </a:xfrm>
          <a:prstGeom prst="roundRect">
            <a:avLst>
              <a:gd name="adj" fmla="val 11538"/>
            </a:avLst>
          </a:prstGeom>
          <a:solidFill>
            <a:srgbClr val="EFEFF5"/>
          </a:solidFill>
          <a:ln w="9525">
            <a:solidFill>
              <a:srgbClr val="C9C7C2"/>
            </a:solidFill>
            <a:prstDash val="solid"/>
          </a:ln>
        </p:spPr>
      </p:sp>
      <p:sp>
        <p:nvSpPr>
          <p:cNvPr id="29" name="Text 27"/>
          <p:cNvSpPr/>
          <p:nvPr/>
        </p:nvSpPr>
        <p:spPr>
          <a:xfrm>
            <a:off x="850392" y="4764024"/>
            <a:ext cx="822960" cy="274320"/>
          </a:xfrm>
          <a:prstGeom prst="rect">
            <a:avLst/>
          </a:prstGeom>
          <a:noFill/>
          <a:ln/>
        </p:spPr>
        <p:txBody>
          <a:bodyPr wrap="square" lIns="0" tIns="0" rIns="0" bIns="0" rtlCol="0" anchor="ctr"/>
          <a:lstStyle/>
          <a:p>
            <a:pPr indent="0" marL="0">
              <a:buNone/>
            </a:pPr>
            <a:r>
              <a:rPr lang="en-US" sz="1150" b="1" dirty="0">
                <a:solidFill>
                  <a:srgbClr val="C2410C"/>
                </a:solidFill>
                <a:latin typeface="Courier New" pitchFamily="34" charset="0"/>
                <a:ea typeface="Courier New" pitchFamily="34" charset="-122"/>
                <a:cs typeface="Courier New" pitchFamily="34" charset="-120"/>
              </a:rPr>
              <a:t>14:50</a:t>
            </a:r>
            <a:endParaRPr lang="en-US" sz="1150" dirty="0"/>
          </a:p>
        </p:txBody>
      </p:sp>
      <p:sp>
        <p:nvSpPr>
          <p:cNvPr id="30" name="Text 28"/>
          <p:cNvSpPr/>
          <p:nvPr/>
        </p:nvSpPr>
        <p:spPr>
          <a:xfrm>
            <a:off x="1828800" y="4764024"/>
            <a:ext cx="822960" cy="274320"/>
          </a:xfrm>
          <a:prstGeom prst="rect">
            <a:avLst/>
          </a:prstGeom>
          <a:noFill/>
          <a:ln/>
        </p:spPr>
        <p:txBody>
          <a:bodyPr wrap="square" lIns="0" tIns="0" rIns="0" bIns="0" rtlCol="0" anchor="ctr"/>
          <a:lstStyle/>
          <a:p>
            <a:pPr indent="0" marL="0">
              <a:buNone/>
            </a:pPr>
            <a:endParaRPr lang="en-US" sz="1000" dirty="0"/>
          </a:p>
        </p:txBody>
      </p:sp>
      <p:sp>
        <p:nvSpPr>
          <p:cNvPr id="31" name="Text 29"/>
          <p:cNvSpPr/>
          <p:nvPr/>
        </p:nvSpPr>
        <p:spPr>
          <a:xfrm>
            <a:off x="2788920" y="4754880"/>
            <a:ext cx="6949440" cy="292608"/>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Breakout 2 — Design the API</a:t>
            </a:r>
            <a:endParaRPr lang="en-US" sz="1350" dirty="0"/>
          </a:p>
        </p:txBody>
      </p:sp>
      <p:sp>
        <p:nvSpPr>
          <p:cNvPr id="32" name="Text 30"/>
          <p:cNvSpPr/>
          <p:nvPr/>
        </p:nvSpPr>
        <p:spPr>
          <a:xfrm>
            <a:off x="10195560" y="4773168"/>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20 min</a:t>
            </a:r>
            <a:endParaRPr lang="en-US" sz="1050" dirty="0"/>
          </a:p>
        </p:txBody>
      </p:sp>
      <p:sp>
        <p:nvSpPr>
          <p:cNvPr id="33" name="Shape 31"/>
          <p:cNvSpPr/>
          <p:nvPr/>
        </p:nvSpPr>
        <p:spPr>
          <a:xfrm>
            <a:off x="594360" y="5230368"/>
            <a:ext cx="10972800" cy="475488"/>
          </a:xfrm>
          <a:prstGeom prst="roundRect">
            <a:avLst>
              <a:gd name="adj" fmla="val 11538"/>
            </a:avLst>
          </a:prstGeom>
          <a:solidFill>
            <a:srgbClr val="F6F6FA"/>
          </a:solidFill>
          <a:ln w="9525">
            <a:solidFill>
              <a:srgbClr val="C9C7C2"/>
            </a:solidFill>
            <a:prstDash val="solid"/>
          </a:ln>
        </p:spPr>
      </p:sp>
      <p:sp>
        <p:nvSpPr>
          <p:cNvPr id="34" name="Text 32"/>
          <p:cNvSpPr/>
          <p:nvPr/>
        </p:nvSpPr>
        <p:spPr>
          <a:xfrm>
            <a:off x="850392" y="5330952"/>
            <a:ext cx="822960" cy="274320"/>
          </a:xfrm>
          <a:prstGeom prst="rect">
            <a:avLst/>
          </a:prstGeom>
          <a:noFill/>
          <a:ln/>
        </p:spPr>
        <p:txBody>
          <a:bodyPr wrap="square" lIns="0" tIns="0" rIns="0" bIns="0" rtlCol="0" anchor="ctr"/>
          <a:lstStyle/>
          <a:p>
            <a:pPr indent="0" marL="0">
              <a:buNone/>
            </a:pPr>
            <a:r>
              <a:rPr lang="en-US" sz="1150" b="1" dirty="0">
                <a:solidFill>
                  <a:srgbClr val="10069F"/>
                </a:solidFill>
                <a:latin typeface="Courier New" pitchFamily="34" charset="0"/>
                <a:ea typeface="Courier New" pitchFamily="34" charset="-122"/>
                <a:cs typeface="Courier New" pitchFamily="34" charset="-120"/>
              </a:rPr>
              <a:t>15:10</a:t>
            </a:r>
            <a:endParaRPr lang="en-US" sz="1150" dirty="0"/>
          </a:p>
        </p:txBody>
      </p:sp>
      <p:sp>
        <p:nvSpPr>
          <p:cNvPr id="35" name="Text 33"/>
          <p:cNvSpPr/>
          <p:nvPr/>
        </p:nvSpPr>
        <p:spPr>
          <a:xfrm>
            <a:off x="1828800" y="5330952"/>
            <a:ext cx="822960" cy="274320"/>
          </a:xfrm>
          <a:prstGeom prst="rect">
            <a:avLst/>
          </a:prstGeom>
          <a:noFill/>
          <a:ln/>
        </p:spPr>
        <p:txBody>
          <a:bodyPr wrap="square" lIns="0" tIns="0" rIns="0" bIns="0" rtlCol="0" anchor="ctr"/>
          <a:lstStyle/>
          <a:p>
            <a:pPr indent="0" marL="0">
              <a:buNone/>
            </a:pPr>
            <a:r>
              <a:rPr lang="en-US" sz="1000" spc="120" kern="0" dirty="0">
                <a:solidFill>
                  <a:srgbClr val="63616F"/>
                </a:solidFill>
                <a:latin typeface="Courier New" pitchFamily="34" charset="0"/>
                <a:ea typeface="Courier New" pitchFamily="34" charset="-122"/>
                <a:cs typeface="Courier New" pitchFamily="34" charset="-120"/>
              </a:rPr>
              <a:t>Part 4</a:t>
            </a:r>
            <a:endParaRPr lang="en-US" sz="1000" dirty="0"/>
          </a:p>
        </p:txBody>
      </p:sp>
      <p:sp>
        <p:nvSpPr>
          <p:cNvPr id="36" name="Text 34"/>
          <p:cNvSpPr/>
          <p:nvPr/>
        </p:nvSpPr>
        <p:spPr>
          <a:xfrm>
            <a:off x="2788920" y="5321808"/>
            <a:ext cx="6949440" cy="292608"/>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What it costs — capacity and bottlenecks</a:t>
            </a:r>
            <a:endParaRPr lang="en-US" sz="1350" dirty="0"/>
          </a:p>
        </p:txBody>
      </p:sp>
      <p:sp>
        <p:nvSpPr>
          <p:cNvPr id="37" name="Text 35"/>
          <p:cNvSpPr/>
          <p:nvPr/>
        </p:nvSpPr>
        <p:spPr>
          <a:xfrm>
            <a:off x="10195560" y="5340096"/>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15 min</a:t>
            </a:r>
            <a:endParaRPr lang="en-US" sz="1050" dirty="0"/>
          </a:p>
        </p:txBody>
      </p:sp>
      <p:sp>
        <p:nvSpPr>
          <p:cNvPr id="38" name="Text 36"/>
          <p:cNvSpPr/>
          <p:nvPr/>
        </p:nvSpPr>
        <p:spPr>
          <a:xfrm>
            <a:off x="850392" y="5897880"/>
            <a:ext cx="822960" cy="274320"/>
          </a:xfrm>
          <a:prstGeom prst="rect">
            <a:avLst/>
          </a:prstGeom>
          <a:noFill/>
          <a:ln/>
        </p:spPr>
        <p:txBody>
          <a:bodyPr wrap="square" lIns="0" tIns="0" rIns="0" bIns="0" rtlCol="0" anchor="ctr"/>
          <a:lstStyle/>
          <a:p>
            <a:pPr indent="0" marL="0">
              <a:buNone/>
            </a:pPr>
            <a:r>
              <a:rPr lang="en-US" sz="1150" b="1" dirty="0">
                <a:solidFill>
                  <a:srgbClr val="63616F"/>
                </a:solidFill>
                <a:latin typeface="Courier New" pitchFamily="34" charset="0"/>
                <a:ea typeface="Courier New" pitchFamily="34" charset="-122"/>
                <a:cs typeface="Courier New" pitchFamily="34" charset="-120"/>
              </a:rPr>
              <a:t>15:25</a:t>
            </a:r>
            <a:endParaRPr lang="en-US" sz="1150" dirty="0"/>
          </a:p>
        </p:txBody>
      </p:sp>
      <p:sp>
        <p:nvSpPr>
          <p:cNvPr id="39" name="Text 37"/>
          <p:cNvSpPr/>
          <p:nvPr/>
        </p:nvSpPr>
        <p:spPr>
          <a:xfrm>
            <a:off x="1828800" y="5897880"/>
            <a:ext cx="822960" cy="274320"/>
          </a:xfrm>
          <a:prstGeom prst="rect">
            <a:avLst/>
          </a:prstGeom>
          <a:noFill/>
          <a:ln/>
        </p:spPr>
        <p:txBody>
          <a:bodyPr wrap="square" lIns="0" tIns="0" rIns="0" bIns="0" rtlCol="0" anchor="ctr"/>
          <a:lstStyle/>
          <a:p>
            <a:pPr indent="0" marL="0">
              <a:buNone/>
            </a:pPr>
            <a:endParaRPr lang="en-US" sz="1000" dirty="0"/>
          </a:p>
        </p:txBody>
      </p:sp>
      <p:sp>
        <p:nvSpPr>
          <p:cNvPr id="40" name="Text 38"/>
          <p:cNvSpPr/>
          <p:nvPr/>
        </p:nvSpPr>
        <p:spPr>
          <a:xfrm>
            <a:off x="2788920" y="5888736"/>
            <a:ext cx="6949440" cy="292608"/>
          </a:xfrm>
          <a:prstGeom prst="rect">
            <a:avLst/>
          </a:prstGeom>
          <a:noFill/>
          <a:ln/>
        </p:spPr>
        <p:txBody>
          <a:bodyPr wrap="square" lIns="0" tIns="0" rIns="0" bIns="0" rtlCol="0" anchor="ctr"/>
          <a:lstStyle/>
          <a:p>
            <a:pPr indent="0" marL="0">
              <a:buNone/>
            </a:pPr>
            <a:r>
              <a:rPr lang="en-US" sz="1350" dirty="0">
                <a:solidFill>
                  <a:srgbClr val="63616F"/>
                </a:solidFill>
                <a:latin typeface="Arial" pitchFamily="34" charset="0"/>
                <a:ea typeface="Arial" pitchFamily="34" charset="-122"/>
                <a:cs typeface="Arial" pitchFamily="34" charset="-120"/>
              </a:rPr>
              <a:t>Close</a:t>
            </a:r>
            <a:endParaRPr lang="en-US" sz="1350" dirty="0"/>
          </a:p>
        </p:txBody>
      </p:sp>
      <p:sp>
        <p:nvSpPr>
          <p:cNvPr id="41" name="Text 39"/>
          <p:cNvSpPr/>
          <p:nvPr/>
        </p:nvSpPr>
        <p:spPr>
          <a:xfrm>
            <a:off x="10195560" y="5907024"/>
            <a:ext cx="1097280" cy="274320"/>
          </a:xfrm>
          <a:prstGeom prst="rect">
            <a:avLst/>
          </a:prstGeom>
          <a:noFill/>
          <a:ln/>
        </p:spPr>
        <p:txBody>
          <a:bodyPr wrap="square" lIns="0" tIns="0" rIns="0" bIns="0" rtlCol="0" anchor="ctr"/>
          <a:lstStyle/>
          <a:p>
            <a:pPr algn="r" indent="0" marL="0">
              <a:buNone/>
            </a:pPr>
            <a:r>
              <a:rPr lang="en-US" sz="1050" dirty="0">
                <a:solidFill>
                  <a:srgbClr val="63616F"/>
                </a:solidFill>
                <a:latin typeface="Courier New" pitchFamily="34" charset="0"/>
                <a:ea typeface="Courier New" pitchFamily="34" charset="-122"/>
                <a:cs typeface="Courier New" pitchFamily="34" charset="-120"/>
              </a:rPr>
              <a:t>5 min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377440"/>
            <a:ext cx="3657600" cy="365760"/>
          </a:xfrm>
          <a:prstGeom prst="rect">
            <a:avLst/>
          </a:prstGeom>
          <a:noFill/>
          <a:ln/>
        </p:spPr>
        <p:txBody>
          <a:bodyPr wrap="square" lIns="0" tIns="0" rIns="0" bIns="0" rtlCol="0" anchor="ctr"/>
          <a:lstStyle/>
          <a:p>
            <a:pPr indent="0" marL="0">
              <a:buNone/>
            </a:pPr>
            <a:r>
              <a:rPr lang="en-US" sz="1300" b="1" spc="260" kern="0" dirty="0">
                <a:solidFill>
                  <a:srgbClr val="C2410C"/>
                </a:solidFill>
                <a:latin typeface="Courier New" pitchFamily="34" charset="0"/>
                <a:ea typeface="Courier New" pitchFamily="34" charset="-122"/>
                <a:cs typeface="Courier New" pitchFamily="34" charset="-120"/>
              </a:rPr>
              <a:t>PART 1</a:t>
            </a:r>
            <a:endParaRPr lang="en-US" sz="1300" dirty="0"/>
          </a:p>
        </p:txBody>
      </p:sp>
      <p:sp>
        <p:nvSpPr>
          <p:cNvPr id="3" name="Text 1"/>
          <p:cNvSpPr/>
          <p:nvPr/>
        </p:nvSpPr>
        <p:spPr>
          <a:xfrm>
            <a:off x="594360" y="2788920"/>
            <a:ext cx="8229600" cy="1737360"/>
          </a:xfrm>
          <a:prstGeom prst="rect">
            <a:avLst/>
          </a:prstGeom>
          <a:noFill/>
          <a:ln/>
        </p:spPr>
        <p:txBody>
          <a:bodyPr wrap="square" lIns="0" tIns="0" rIns="0" bIns="0" rtlCol="0" anchor="ctr"/>
          <a:lstStyle/>
          <a:p>
            <a:pPr indent="0" marL="0">
              <a:lnSpc>
                <a:spcPts val="5000"/>
              </a:lnSpc>
              <a:buNone/>
            </a:pPr>
            <a:r>
              <a:rPr lang="en-US" sz="4400" b="1" dirty="0">
                <a:solidFill>
                  <a:srgbClr val="0A0A14"/>
                </a:solidFill>
                <a:latin typeface="Arial" pitchFamily="34" charset="0"/>
                <a:ea typeface="Arial" pitchFamily="34" charset="-122"/>
                <a:cs typeface="Arial" pitchFamily="34" charset="-120"/>
              </a:rPr>
              <a:t>What a web app</a:t>
            </a:r>
            <a:endParaRPr lang="en-US" sz="4400" dirty="0"/>
          </a:p>
          <a:p>
            <a:pPr indent="0" marL="0">
              <a:lnSpc>
                <a:spcPts val="5000"/>
              </a:lnSpc>
              <a:buNone/>
            </a:pPr>
            <a:r>
              <a:rPr lang="en-US" sz="4400" b="1" dirty="0">
                <a:solidFill>
                  <a:srgbClr val="0A0A14"/>
                </a:solidFill>
                <a:latin typeface="Arial" pitchFamily="34" charset="0"/>
                <a:ea typeface="Arial" pitchFamily="34" charset="-122"/>
                <a:cs typeface="Arial" pitchFamily="34" charset="-120"/>
              </a:rPr>
              <a:t>actually is</a:t>
            </a:r>
            <a:endParaRPr lang="en-US" sz="4400" dirty="0"/>
          </a:p>
        </p:txBody>
      </p:sp>
      <p:sp>
        <p:nvSpPr>
          <p:cNvPr id="4" name="Text 2"/>
          <p:cNvSpPr/>
          <p:nvPr/>
        </p:nvSpPr>
        <p:spPr>
          <a:xfrm>
            <a:off x="594360" y="4572000"/>
            <a:ext cx="8229600" cy="365760"/>
          </a:xfrm>
          <a:prstGeom prst="rect">
            <a:avLst/>
          </a:prstGeom>
          <a:noFill/>
          <a:ln/>
        </p:spPr>
        <p:txBody>
          <a:bodyPr wrap="square" lIns="0" tIns="0" rIns="0" bIns="0" rtlCol="0" anchor="ctr"/>
          <a:lstStyle/>
          <a:p>
            <a:pPr indent="0" marL="0">
              <a:buNone/>
            </a:pPr>
            <a:r>
              <a:rPr lang="en-US" sz="1600" dirty="0">
                <a:solidFill>
                  <a:srgbClr val="3F3F4D"/>
                </a:solidFill>
                <a:latin typeface="Arial" pitchFamily="34" charset="0"/>
                <a:ea typeface="Arial" pitchFamily="34" charset="-122"/>
                <a:cs typeface="Arial" pitchFamily="34" charset="-120"/>
              </a:rPr>
              <a:t>Three programs. Different machines. Passing messages.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REFERENCE — LEAVE THIS UP</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The three tiers</a:t>
            </a:r>
            <a:endParaRPr lang="en-US" sz="3200" dirty="0"/>
          </a:p>
        </p:txBody>
      </p:sp>
      <p:sp>
        <p:nvSpPr>
          <p:cNvPr id="4" name="Shape 2"/>
          <p:cNvSpPr/>
          <p:nvPr/>
        </p:nvSpPr>
        <p:spPr>
          <a:xfrm>
            <a:off x="594360" y="1828800"/>
            <a:ext cx="10972800" cy="1234440"/>
          </a:xfrm>
          <a:prstGeom prst="roundRect">
            <a:avLst>
              <a:gd name="adj" fmla="val 4444"/>
            </a:avLst>
          </a:prstGeom>
          <a:solidFill>
            <a:srgbClr val="F6F6FA"/>
          </a:solidFill>
          <a:ln w="9525">
            <a:solidFill>
              <a:srgbClr val="C9C7C2"/>
            </a:solidFill>
            <a:prstDash val="solid"/>
          </a:ln>
        </p:spPr>
      </p:sp>
      <p:sp>
        <p:nvSpPr>
          <p:cNvPr id="5" name="Text 3"/>
          <p:cNvSpPr/>
          <p:nvPr/>
        </p:nvSpPr>
        <p:spPr>
          <a:xfrm>
            <a:off x="868680" y="2029968"/>
            <a:ext cx="868680" cy="256032"/>
          </a:xfrm>
          <a:prstGeom prst="rect">
            <a:avLst/>
          </a:prstGeom>
          <a:noFill/>
          <a:ln/>
        </p:spPr>
        <p:txBody>
          <a:bodyPr wrap="square" lIns="0" tIns="0" rIns="0" bIns="0" rtlCol="0" anchor="ctr"/>
          <a:lstStyle/>
          <a:p>
            <a:pPr indent="0" marL="0">
              <a:buNone/>
            </a:pPr>
            <a:r>
              <a:rPr lang="en-US" sz="1050" b="1" spc="140" kern="0" dirty="0">
                <a:solidFill>
                  <a:srgbClr val="C2410C"/>
                </a:solidFill>
                <a:latin typeface="Courier New" pitchFamily="34" charset="0"/>
                <a:ea typeface="Courier New" pitchFamily="34" charset="-122"/>
                <a:cs typeface="Courier New" pitchFamily="34" charset="-120"/>
              </a:rPr>
              <a:t>TIER 1</a:t>
            </a:r>
            <a:endParaRPr lang="en-US" sz="1050" dirty="0"/>
          </a:p>
        </p:txBody>
      </p:sp>
      <p:sp>
        <p:nvSpPr>
          <p:cNvPr id="6" name="Text 4"/>
          <p:cNvSpPr/>
          <p:nvPr/>
        </p:nvSpPr>
        <p:spPr>
          <a:xfrm>
            <a:off x="868680" y="2359152"/>
            <a:ext cx="1463040" cy="310896"/>
          </a:xfrm>
          <a:prstGeom prst="rect">
            <a:avLst/>
          </a:prstGeom>
          <a:noFill/>
          <a:ln/>
        </p:spPr>
        <p:txBody>
          <a:bodyPr wrap="square" lIns="0" tIns="0" rIns="0" bIns="0" rtlCol="0" anchor="ctr"/>
          <a:lstStyle/>
          <a:p>
            <a:pPr indent="0" marL="0">
              <a:buNone/>
            </a:pPr>
            <a:r>
              <a:rPr lang="en-US" sz="1300" dirty="0">
                <a:solidFill>
                  <a:srgbClr val="63616F"/>
                </a:solidFill>
                <a:latin typeface="Arial" pitchFamily="34" charset="0"/>
                <a:ea typeface="Arial" pitchFamily="34" charset="-122"/>
                <a:cs typeface="Arial" pitchFamily="34" charset="-120"/>
              </a:rPr>
              <a:t>Presentation</a:t>
            </a:r>
            <a:endParaRPr lang="en-US" sz="1300" dirty="0"/>
          </a:p>
        </p:txBody>
      </p:sp>
      <p:sp>
        <p:nvSpPr>
          <p:cNvPr id="7" name="Text 5"/>
          <p:cNvSpPr/>
          <p:nvPr/>
        </p:nvSpPr>
        <p:spPr>
          <a:xfrm>
            <a:off x="2606040" y="2011680"/>
            <a:ext cx="3291840" cy="365760"/>
          </a:xfrm>
          <a:prstGeom prst="rect">
            <a:avLst/>
          </a:prstGeom>
          <a:noFill/>
          <a:ln/>
        </p:spPr>
        <p:txBody>
          <a:bodyPr wrap="square" lIns="0" tIns="0" rIns="0" bIns="0" rtlCol="0" anchor="ctr"/>
          <a:lstStyle/>
          <a:p>
            <a:pPr indent="0" marL="0">
              <a:buNone/>
            </a:pPr>
            <a:r>
              <a:rPr lang="en-US" sz="1800" b="1" dirty="0">
                <a:solidFill>
                  <a:srgbClr val="0A0A14"/>
                </a:solidFill>
                <a:latin typeface="Arial" pitchFamily="34" charset="0"/>
                <a:ea typeface="Arial" pitchFamily="34" charset="-122"/>
                <a:cs typeface="Arial" pitchFamily="34" charset="-120"/>
              </a:rPr>
              <a:t>The browser</a:t>
            </a:r>
            <a:endParaRPr lang="en-US" sz="1800" dirty="0"/>
          </a:p>
        </p:txBody>
      </p:sp>
      <p:sp>
        <p:nvSpPr>
          <p:cNvPr id="8" name="Text 6"/>
          <p:cNvSpPr/>
          <p:nvPr/>
        </p:nvSpPr>
        <p:spPr>
          <a:xfrm>
            <a:off x="2606040" y="2450592"/>
            <a:ext cx="3291840" cy="310896"/>
          </a:xfrm>
          <a:prstGeom prst="rect">
            <a:avLst/>
          </a:prstGeom>
          <a:noFill/>
          <a:ln/>
        </p:spPr>
        <p:txBody>
          <a:bodyPr wrap="square" lIns="0" tIns="0" rIns="0" bIns="0" rtlCol="0" anchor="ctr"/>
          <a:lstStyle/>
          <a:p>
            <a:pPr indent="0" marL="0">
              <a:buNone/>
            </a:pPr>
            <a:r>
              <a:rPr lang="en-US" sz="1050" dirty="0">
                <a:solidFill>
                  <a:srgbClr val="C2410C"/>
                </a:solidFill>
                <a:latin typeface="Courier New" pitchFamily="34" charset="0"/>
                <a:ea typeface="Courier New" pitchFamily="34" charset="-122"/>
                <a:cs typeface="Courier New" pitchFamily="34" charset="-120"/>
              </a:rPr>
              <a:t>HTML, CSS, JavaScript</a:t>
            </a:r>
            <a:endParaRPr lang="en-US" sz="1050" dirty="0"/>
          </a:p>
        </p:txBody>
      </p:sp>
      <p:sp>
        <p:nvSpPr>
          <p:cNvPr id="9" name="Text 7"/>
          <p:cNvSpPr/>
          <p:nvPr/>
        </p:nvSpPr>
        <p:spPr>
          <a:xfrm>
            <a:off x="6263640" y="2157984"/>
            <a:ext cx="4846320" cy="64008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Runs on the user's laptop — you do not control it, and cannot trust what it says</a:t>
            </a:r>
            <a:endParaRPr lang="en-US" sz="1200" dirty="0"/>
          </a:p>
        </p:txBody>
      </p:sp>
      <p:sp>
        <p:nvSpPr>
          <p:cNvPr id="10" name="Shape 8"/>
          <p:cNvSpPr/>
          <p:nvPr/>
        </p:nvSpPr>
        <p:spPr>
          <a:xfrm>
            <a:off x="594360" y="3246120"/>
            <a:ext cx="10972800" cy="1234440"/>
          </a:xfrm>
          <a:prstGeom prst="roundRect">
            <a:avLst>
              <a:gd name="adj" fmla="val 4444"/>
            </a:avLst>
          </a:prstGeom>
          <a:solidFill>
            <a:srgbClr val="F6F6FA"/>
          </a:solidFill>
          <a:ln w="9525">
            <a:solidFill>
              <a:srgbClr val="C9C7C2"/>
            </a:solidFill>
            <a:prstDash val="solid"/>
          </a:ln>
        </p:spPr>
      </p:sp>
      <p:sp>
        <p:nvSpPr>
          <p:cNvPr id="11" name="Text 9"/>
          <p:cNvSpPr/>
          <p:nvPr/>
        </p:nvSpPr>
        <p:spPr>
          <a:xfrm>
            <a:off x="868680" y="3447288"/>
            <a:ext cx="868680" cy="256032"/>
          </a:xfrm>
          <a:prstGeom prst="rect">
            <a:avLst/>
          </a:prstGeom>
          <a:noFill/>
          <a:ln/>
        </p:spPr>
        <p:txBody>
          <a:bodyPr wrap="square" lIns="0" tIns="0" rIns="0" bIns="0" rtlCol="0" anchor="ctr"/>
          <a:lstStyle/>
          <a:p>
            <a:pPr indent="0" marL="0">
              <a:buNone/>
            </a:pPr>
            <a:r>
              <a:rPr lang="en-US" sz="1050" b="1" spc="140" kern="0" dirty="0">
                <a:solidFill>
                  <a:srgbClr val="10069F"/>
                </a:solidFill>
                <a:latin typeface="Courier New" pitchFamily="34" charset="0"/>
                <a:ea typeface="Courier New" pitchFamily="34" charset="-122"/>
                <a:cs typeface="Courier New" pitchFamily="34" charset="-120"/>
              </a:rPr>
              <a:t>TIER 2</a:t>
            </a:r>
            <a:endParaRPr lang="en-US" sz="1050" dirty="0"/>
          </a:p>
        </p:txBody>
      </p:sp>
      <p:sp>
        <p:nvSpPr>
          <p:cNvPr id="12" name="Text 10"/>
          <p:cNvSpPr/>
          <p:nvPr/>
        </p:nvSpPr>
        <p:spPr>
          <a:xfrm>
            <a:off x="868680" y="3776472"/>
            <a:ext cx="1463040" cy="310896"/>
          </a:xfrm>
          <a:prstGeom prst="rect">
            <a:avLst/>
          </a:prstGeom>
          <a:noFill/>
          <a:ln/>
        </p:spPr>
        <p:txBody>
          <a:bodyPr wrap="square" lIns="0" tIns="0" rIns="0" bIns="0" rtlCol="0" anchor="ctr"/>
          <a:lstStyle/>
          <a:p>
            <a:pPr indent="0" marL="0">
              <a:buNone/>
            </a:pPr>
            <a:r>
              <a:rPr lang="en-US" sz="1300" dirty="0">
                <a:solidFill>
                  <a:srgbClr val="63616F"/>
                </a:solidFill>
                <a:latin typeface="Arial" pitchFamily="34" charset="0"/>
                <a:ea typeface="Arial" pitchFamily="34" charset="-122"/>
                <a:cs typeface="Arial" pitchFamily="34" charset="-120"/>
              </a:rPr>
              <a:t>Application</a:t>
            </a:r>
            <a:endParaRPr lang="en-US" sz="1300" dirty="0"/>
          </a:p>
        </p:txBody>
      </p:sp>
      <p:sp>
        <p:nvSpPr>
          <p:cNvPr id="13" name="Text 11"/>
          <p:cNvSpPr/>
          <p:nvPr/>
        </p:nvSpPr>
        <p:spPr>
          <a:xfrm>
            <a:off x="2606040" y="3429000"/>
            <a:ext cx="3291840" cy="365760"/>
          </a:xfrm>
          <a:prstGeom prst="rect">
            <a:avLst/>
          </a:prstGeom>
          <a:noFill/>
          <a:ln/>
        </p:spPr>
        <p:txBody>
          <a:bodyPr wrap="square" lIns="0" tIns="0" rIns="0" bIns="0" rtlCol="0" anchor="ctr"/>
          <a:lstStyle/>
          <a:p>
            <a:pPr indent="0" marL="0">
              <a:buNone/>
            </a:pPr>
            <a:r>
              <a:rPr lang="en-US" sz="1800" b="1" dirty="0">
                <a:solidFill>
                  <a:srgbClr val="0A0A14"/>
                </a:solidFill>
                <a:latin typeface="Arial" pitchFamily="34" charset="0"/>
                <a:ea typeface="Arial" pitchFamily="34" charset="-122"/>
                <a:cs typeface="Arial" pitchFamily="34" charset="-120"/>
              </a:rPr>
              <a:t>Your Django process</a:t>
            </a:r>
            <a:endParaRPr lang="en-US" sz="1800" dirty="0"/>
          </a:p>
        </p:txBody>
      </p:sp>
      <p:sp>
        <p:nvSpPr>
          <p:cNvPr id="14" name="Text 12"/>
          <p:cNvSpPr/>
          <p:nvPr/>
        </p:nvSpPr>
        <p:spPr>
          <a:xfrm>
            <a:off x="2606040" y="3867912"/>
            <a:ext cx="3291840" cy="310896"/>
          </a:xfrm>
          <a:prstGeom prst="rect">
            <a:avLst/>
          </a:prstGeom>
          <a:noFill/>
          <a:ln/>
        </p:spPr>
        <p:txBody>
          <a:bodyPr wrap="square" lIns="0" tIns="0" rIns="0" bIns="0" rtlCol="0" anchor="ctr"/>
          <a:lstStyle/>
          <a:p>
            <a:pPr indent="0" marL="0">
              <a:buNone/>
            </a:pPr>
            <a:r>
              <a:rPr lang="en-US" sz="1050" dirty="0">
                <a:solidFill>
                  <a:srgbClr val="10069F"/>
                </a:solidFill>
                <a:latin typeface="Courier New" pitchFamily="34" charset="0"/>
                <a:ea typeface="Courier New" pitchFamily="34" charset="-122"/>
                <a:cs typeface="Courier New" pitchFamily="34" charset="-120"/>
              </a:rPr>
              <a:t>urls.py, views, models</a:t>
            </a:r>
            <a:endParaRPr lang="en-US" sz="1050" dirty="0"/>
          </a:p>
        </p:txBody>
      </p:sp>
      <p:sp>
        <p:nvSpPr>
          <p:cNvPr id="15" name="Text 13"/>
          <p:cNvSpPr/>
          <p:nvPr/>
        </p:nvSpPr>
        <p:spPr>
          <a:xfrm>
            <a:off x="6263640" y="3575304"/>
            <a:ext cx="4846320" cy="64008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Runs on your server. The only tier holding credentials</a:t>
            </a:r>
            <a:endParaRPr lang="en-US" sz="1200" dirty="0"/>
          </a:p>
        </p:txBody>
      </p:sp>
      <p:sp>
        <p:nvSpPr>
          <p:cNvPr id="16" name="Shape 14"/>
          <p:cNvSpPr/>
          <p:nvPr/>
        </p:nvSpPr>
        <p:spPr>
          <a:xfrm>
            <a:off x="594360" y="4663440"/>
            <a:ext cx="10972800" cy="1234440"/>
          </a:xfrm>
          <a:prstGeom prst="roundRect">
            <a:avLst>
              <a:gd name="adj" fmla="val 4444"/>
            </a:avLst>
          </a:prstGeom>
          <a:solidFill>
            <a:srgbClr val="F6F6FA"/>
          </a:solidFill>
          <a:ln w="9525">
            <a:solidFill>
              <a:srgbClr val="C9C7C2"/>
            </a:solidFill>
            <a:prstDash val="solid"/>
          </a:ln>
        </p:spPr>
      </p:sp>
      <p:sp>
        <p:nvSpPr>
          <p:cNvPr id="17" name="Text 15"/>
          <p:cNvSpPr/>
          <p:nvPr/>
        </p:nvSpPr>
        <p:spPr>
          <a:xfrm>
            <a:off x="868680" y="4864608"/>
            <a:ext cx="868680" cy="256032"/>
          </a:xfrm>
          <a:prstGeom prst="rect">
            <a:avLst/>
          </a:prstGeom>
          <a:noFill/>
          <a:ln/>
        </p:spPr>
        <p:txBody>
          <a:bodyPr wrap="square" lIns="0" tIns="0" rIns="0" bIns="0" rtlCol="0" anchor="ctr"/>
          <a:lstStyle/>
          <a:p>
            <a:pPr indent="0" marL="0">
              <a:buNone/>
            </a:pPr>
            <a:r>
              <a:rPr lang="en-US" sz="1050" b="1" spc="140" kern="0" dirty="0">
                <a:solidFill>
                  <a:srgbClr val="10069F"/>
                </a:solidFill>
                <a:latin typeface="Courier New" pitchFamily="34" charset="0"/>
                <a:ea typeface="Courier New" pitchFamily="34" charset="-122"/>
                <a:cs typeface="Courier New" pitchFamily="34" charset="-120"/>
              </a:rPr>
              <a:t>TIER 3</a:t>
            </a:r>
            <a:endParaRPr lang="en-US" sz="1050" dirty="0"/>
          </a:p>
        </p:txBody>
      </p:sp>
      <p:sp>
        <p:nvSpPr>
          <p:cNvPr id="18" name="Text 16"/>
          <p:cNvSpPr/>
          <p:nvPr/>
        </p:nvSpPr>
        <p:spPr>
          <a:xfrm>
            <a:off x="868680" y="5193792"/>
            <a:ext cx="1463040" cy="310896"/>
          </a:xfrm>
          <a:prstGeom prst="rect">
            <a:avLst/>
          </a:prstGeom>
          <a:noFill/>
          <a:ln/>
        </p:spPr>
        <p:txBody>
          <a:bodyPr wrap="square" lIns="0" tIns="0" rIns="0" bIns="0" rtlCol="0" anchor="ctr"/>
          <a:lstStyle/>
          <a:p>
            <a:pPr indent="0" marL="0">
              <a:buNone/>
            </a:pPr>
            <a:r>
              <a:rPr lang="en-US" sz="1300" dirty="0">
                <a:solidFill>
                  <a:srgbClr val="63616F"/>
                </a:solidFill>
                <a:latin typeface="Arial" pitchFamily="34" charset="0"/>
                <a:ea typeface="Arial" pitchFamily="34" charset="-122"/>
                <a:cs typeface="Arial" pitchFamily="34" charset="-120"/>
              </a:rPr>
              <a:t>Data</a:t>
            </a:r>
            <a:endParaRPr lang="en-US" sz="1300" dirty="0"/>
          </a:p>
        </p:txBody>
      </p:sp>
      <p:sp>
        <p:nvSpPr>
          <p:cNvPr id="19" name="Text 17"/>
          <p:cNvSpPr/>
          <p:nvPr/>
        </p:nvSpPr>
        <p:spPr>
          <a:xfrm>
            <a:off x="2606040" y="4846320"/>
            <a:ext cx="3291840" cy="365760"/>
          </a:xfrm>
          <a:prstGeom prst="rect">
            <a:avLst/>
          </a:prstGeom>
          <a:noFill/>
          <a:ln/>
        </p:spPr>
        <p:txBody>
          <a:bodyPr wrap="square" lIns="0" tIns="0" rIns="0" bIns="0" rtlCol="0" anchor="ctr"/>
          <a:lstStyle/>
          <a:p>
            <a:pPr indent="0" marL="0">
              <a:buNone/>
            </a:pPr>
            <a:r>
              <a:rPr lang="en-US" sz="1800" b="1" dirty="0">
                <a:solidFill>
                  <a:srgbClr val="0A0A14"/>
                </a:solidFill>
                <a:latin typeface="Arial" pitchFamily="34" charset="0"/>
                <a:ea typeface="Arial" pitchFamily="34" charset="-122"/>
                <a:cs typeface="Arial" pitchFamily="34" charset="-120"/>
              </a:rPr>
              <a:t>The database</a:t>
            </a:r>
            <a:endParaRPr lang="en-US" sz="1800" dirty="0"/>
          </a:p>
        </p:txBody>
      </p:sp>
      <p:sp>
        <p:nvSpPr>
          <p:cNvPr id="20" name="Text 18"/>
          <p:cNvSpPr/>
          <p:nvPr/>
        </p:nvSpPr>
        <p:spPr>
          <a:xfrm>
            <a:off x="2606040" y="5285232"/>
            <a:ext cx="3291840" cy="310896"/>
          </a:xfrm>
          <a:prstGeom prst="rect">
            <a:avLst/>
          </a:prstGeom>
          <a:noFill/>
          <a:ln/>
        </p:spPr>
        <p:txBody>
          <a:bodyPr wrap="square" lIns="0" tIns="0" rIns="0" bIns="0" rtlCol="0" anchor="ctr"/>
          <a:lstStyle/>
          <a:p>
            <a:pPr indent="0" marL="0">
              <a:buNone/>
            </a:pPr>
            <a:r>
              <a:rPr lang="en-US" sz="1050" dirty="0">
                <a:solidFill>
                  <a:srgbClr val="10069F"/>
                </a:solidFill>
                <a:latin typeface="Courier New" pitchFamily="34" charset="0"/>
                <a:ea typeface="Courier New" pitchFamily="34" charset="-122"/>
                <a:cs typeface="Courier New" pitchFamily="34" charset="-120"/>
              </a:rPr>
              <a:t>Schema, indexes, SQL</a:t>
            </a:r>
            <a:endParaRPr lang="en-US" sz="1050" dirty="0"/>
          </a:p>
        </p:txBody>
      </p:sp>
      <p:sp>
        <p:nvSpPr>
          <p:cNvPr id="21" name="Text 19"/>
          <p:cNvSpPr/>
          <p:nvPr/>
        </p:nvSpPr>
        <p:spPr>
          <a:xfrm>
            <a:off x="6263640" y="4992624"/>
            <a:ext cx="4846320" cy="64008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A separate program. It has never heard of Python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10069F"/>
                </a:solidFill>
                <a:latin typeface="Courier New" pitchFamily="34" charset="0"/>
                <a:ea typeface="Courier New" pitchFamily="34" charset="-122"/>
                <a:cs typeface="Courier New" pitchFamily="34" charset="-120"/>
              </a:rPr>
              <a:t>IN TERMS YOU ALREADY KNOW</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You have written all of this before</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Nothing here is new to you. What is new is knowing which machine each piece runs on.</a:t>
            </a:r>
            <a:endParaRPr lang="en-US" sz="1400" dirty="0"/>
          </a:p>
        </p:txBody>
      </p:sp>
      <p:sp>
        <p:nvSpPr>
          <p:cNvPr id="5" name="Shape 3"/>
          <p:cNvSpPr/>
          <p:nvPr/>
        </p:nvSpPr>
        <p:spPr>
          <a:xfrm>
            <a:off x="594360" y="2331720"/>
            <a:ext cx="10972800" cy="18288"/>
          </a:xfrm>
          <a:prstGeom prst="rect">
            <a:avLst/>
          </a:prstGeom>
          <a:solidFill>
            <a:srgbClr val="C9C7C2"/>
          </a:solidFill>
          <a:ln w="12700">
            <a:solidFill>
              <a:srgbClr val="C9C7C2"/>
            </a:solidFill>
            <a:prstDash val="solid"/>
          </a:ln>
        </p:spPr>
      </p:sp>
      <p:sp>
        <p:nvSpPr>
          <p:cNvPr id="6" name="Text 4"/>
          <p:cNvSpPr/>
          <p:nvPr/>
        </p:nvSpPr>
        <p:spPr>
          <a:xfrm>
            <a:off x="685800" y="2450592"/>
            <a:ext cx="3657600" cy="329184"/>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The link you click</a:t>
            </a:r>
            <a:endParaRPr lang="en-US" sz="1350" dirty="0"/>
          </a:p>
        </p:txBody>
      </p:sp>
      <p:sp>
        <p:nvSpPr>
          <p:cNvPr id="7" name="Text 5"/>
          <p:cNvSpPr/>
          <p:nvPr/>
        </p:nvSpPr>
        <p:spPr>
          <a:xfrm>
            <a:off x="4526280" y="2450592"/>
            <a:ext cx="4754880" cy="329184"/>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template .html</a:t>
            </a:r>
            <a:endParaRPr lang="en-US" sz="1200" dirty="0"/>
          </a:p>
        </p:txBody>
      </p:sp>
      <p:sp>
        <p:nvSpPr>
          <p:cNvPr id="8" name="Text 6"/>
          <p:cNvSpPr/>
          <p:nvPr/>
        </p:nvSpPr>
        <p:spPr>
          <a:xfrm>
            <a:off x="10104120" y="2450592"/>
            <a:ext cx="1371600" cy="329184"/>
          </a:xfrm>
          <a:prstGeom prst="rect">
            <a:avLst/>
          </a:prstGeom>
          <a:noFill/>
          <a:ln/>
        </p:spPr>
        <p:txBody>
          <a:bodyPr wrap="square" lIns="0" tIns="0" rIns="0" bIns="0" rtlCol="0" anchor="ctr"/>
          <a:lstStyle/>
          <a:p>
            <a:pPr algn="r" indent="0" marL="0">
              <a:buNone/>
            </a:pPr>
            <a:r>
              <a:rPr lang="en-US" sz="1100" b="1" dirty="0">
                <a:solidFill>
                  <a:srgbClr val="C2410C"/>
                </a:solidFill>
                <a:latin typeface="Courier New" pitchFamily="34" charset="0"/>
                <a:ea typeface="Courier New" pitchFamily="34" charset="-122"/>
                <a:cs typeface="Courier New" pitchFamily="34" charset="-120"/>
              </a:rPr>
              <a:t>Tier 1</a:t>
            </a:r>
            <a:endParaRPr lang="en-US" sz="1100" dirty="0"/>
          </a:p>
        </p:txBody>
      </p:sp>
      <p:sp>
        <p:nvSpPr>
          <p:cNvPr id="9" name="Shape 7"/>
          <p:cNvSpPr/>
          <p:nvPr/>
        </p:nvSpPr>
        <p:spPr>
          <a:xfrm>
            <a:off x="594360" y="2880360"/>
            <a:ext cx="10972800" cy="9144"/>
          </a:xfrm>
          <a:prstGeom prst="rect">
            <a:avLst/>
          </a:prstGeom>
          <a:solidFill>
            <a:srgbClr val="24384A"/>
          </a:solidFill>
          <a:ln w="12700">
            <a:solidFill>
              <a:srgbClr val="24384A"/>
            </a:solidFill>
            <a:prstDash val="solid"/>
          </a:ln>
        </p:spPr>
      </p:sp>
      <p:sp>
        <p:nvSpPr>
          <p:cNvPr id="10" name="Text 8"/>
          <p:cNvSpPr/>
          <p:nvPr/>
        </p:nvSpPr>
        <p:spPr>
          <a:xfrm>
            <a:off x="685800" y="3017520"/>
            <a:ext cx="3657600" cy="329184"/>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The URL match</a:t>
            </a:r>
            <a:endParaRPr lang="en-US" sz="1350" dirty="0"/>
          </a:p>
        </p:txBody>
      </p:sp>
      <p:sp>
        <p:nvSpPr>
          <p:cNvPr id="11" name="Text 9"/>
          <p:cNvSpPr/>
          <p:nvPr/>
        </p:nvSpPr>
        <p:spPr>
          <a:xfrm>
            <a:off x="4526280" y="3017520"/>
            <a:ext cx="4754880" cy="329184"/>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urls.py → path()</a:t>
            </a:r>
            <a:endParaRPr lang="en-US" sz="1200" dirty="0"/>
          </a:p>
        </p:txBody>
      </p:sp>
      <p:sp>
        <p:nvSpPr>
          <p:cNvPr id="12" name="Text 10"/>
          <p:cNvSpPr/>
          <p:nvPr/>
        </p:nvSpPr>
        <p:spPr>
          <a:xfrm>
            <a:off x="10104120" y="3017520"/>
            <a:ext cx="1371600" cy="329184"/>
          </a:xfrm>
          <a:prstGeom prst="rect">
            <a:avLst/>
          </a:prstGeom>
          <a:noFill/>
          <a:ln/>
        </p:spPr>
        <p:txBody>
          <a:bodyPr wrap="square" lIns="0" tIns="0" rIns="0" bIns="0" rtlCol="0" anchor="ctr"/>
          <a:lstStyle/>
          <a:p>
            <a:pPr algn="r" indent="0" marL="0">
              <a:buNone/>
            </a:pPr>
            <a:r>
              <a:rPr lang="en-US" sz="1100" b="1" dirty="0">
                <a:solidFill>
                  <a:srgbClr val="10069F"/>
                </a:solidFill>
                <a:latin typeface="Courier New" pitchFamily="34" charset="0"/>
                <a:ea typeface="Courier New" pitchFamily="34" charset="-122"/>
                <a:cs typeface="Courier New" pitchFamily="34" charset="-120"/>
              </a:rPr>
              <a:t>Tier 2</a:t>
            </a:r>
            <a:endParaRPr lang="en-US" sz="1100" dirty="0"/>
          </a:p>
        </p:txBody>
      </p:sp>
      <p:sp>
        <p:nvSpPr>
          <p:cNvPr id="13" name="Shape 11"/>
          <p:cNvSpPr/>
          <p:nvPr/>
        </p:nvSpPr>
        <p:spPr>
          <a:xfrm>
            <a:off x="594360" y="3447288"/>
            <a:ext cx="10972800" cy="9144"/>
          </a:xfrm>
          <a:prstGeom prst="rect">
            <a:avLst/>
          </a:prstGeom>
          <a:solidFill>
            <a:srgbClr val="24384A"/>
          </a:solidFill>
          <a:ln w="12700">
            <a:solidFill>
              <a:srgbClr val="24384A"/>
            </a:solidFill>
            <a:prstDash val="solid"/>
          </a:ln>
        </p:spPr>
      </p:sp>
      <p:sp>
        <p:nvSpPr>
          <p:cNvPr id="14" name="Text 12"/>
          <p:cNvSpPr/>
          <p:nvPr/>
        </p:nvSpPr>
        <p:spPr>
          <a:xfrm>
            <a:off x="685800" y="3584448"/>
            <a:ext cx="3657600" cy="329184"/>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Your handler</a:t>
            </a:r>
            <a:endParaRPr lang="en-US" sz="1350" dirty="0"/>
          </a:p>
        </p:txBody>
      </p:sp>
      <p:sp>
        <p:nvSpPr>
          <p:cNvPr id="15" name="Text 13"/>
          <p:cNvSpPr/>
          <p:nvPr/>
        </p:nvSpPr>
        <p:spPr>
          <a:xfrm>
            <a:off x="4526280" y="3584448"/>
            <a:ext cx="4754880" cy="329184"/>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views.py → def my_view()</a:t>
            </a:r>
            <a:endParaRPr lang="en-US" sz="1200" dirty="0"/>
          </a:p>
        </p:txBody>
      </p:sp>
      <p:sp>
        <p:nvSpPr>
          <p:cNvPr id="16" name="Text 14"/>
          <p:cNvSpPr/>
          <p:nvPr/>
        </p:nvSpPr>
        <p:spPr>
          <a:xfrm>
            <a:off x="10104120" y="3584448"/>
            <a:ext cx="1371600" cy="329184"/>
          </a:xfrm>
          <a:prstGeom prst="rect">
            <a:avLst/>
          </a:prstGeom>
          <a:noFill/>
          <a:ln/>
        </p:spPr>
        <p:txBody>
          <a:bodyPr wrap="square" lIns="0" tIns="0" rIns="0" bIns="0" rtlCol="0" anchor="ctr"/>
          <a:lstStyle/>
          <a:p>
            <a:pPr algn="r" indent="0" marL="0">
              <a:buNone/>
            </a:pPr>
            <a:r>
              <a:rPr lang="en-US" sz="1100" b="1" dirty="0">
                <a:solidFill>
                  <a:srgbClr val="10069F"/>
                </a:solidFill>
                <a:latin typeface="Courier New" pitchFamily="34" charset="0"/>
                <a:ea typeface="Courier New" pitchFamily="34" charset="-122"/>
                <a:cs typeface="Courier New" pitchFamily="34" charset="-120"/>
              </a:rPr>
              <a:t>Tier 2</a:t>
            </a:r>
            <a:endParaRPr lang="en-US" sz="1100" dirty="0"/>
          </a:p>
        </p:txBody>
      </p:sp>
      <p:sp>
        <p:nvSpPr>
          <p:cNvPr id="17" name="Shape 15"/>
          <p:cNvSpPr/>
          <p:nvPr/>
        </p:nvSpPr>
        <p:spPr>
          <a:xfrm>
            <a:off x="594360" y="4014216"/>
            <a:ext cx="10972800" cy="9144"/>
          </a:xfrm>
          <a:prstGeom prst="rect">
            <a:avLst/>
          </a:prstGeom>
          <a:solidFill>
            <a:srgbClr val="24384A"/>
          </a:solidFill>
          <a:ln w="12700">
            <a:solidFill>
              <a:srgbClr val="24384A"/>
            </a:solidFill>
            <a:prstDash val="solid"/>
          </a:ln>
        </p:spPr>
      </p:sp>
      <p:sp>
        <p:nvSpPr>
          <p:cNvPr id="18" name="Text 16"/>
          <p:cNvSpPr/>
          <p:nvPr/>
        </p:nvSpPr>
        <p:spPr>
          <a:xfrm>
            <a:off x="685800" y="4151376"/>
            <a:ext cx="3657600" cy="329184"/>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The query you wrote</a:t>
            </a:r>
            <a:endParaRPr lang="en-US" sz="1350" dirty="0"/>
          </a:p>
        </p:txBody>
      </p:sp>
      <p:sp>
        <p:nvSpPr>
          <p:cNvPr id="19" name="Text 17"/>
          <p:cNvSpPr/>
          <p:nvPr/>
        </p:nvSpPr>
        <p:spPr>
          <a:xfrm>
            <a:off x="4526280" y="4151376"/>
            <a:ext cx="4754880" cy="329184"/>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Model.objects.filter()</a:t>
            </a:r>
            <a:endParaRPr lang="en-US" sz="1200" dirty="0"/>
          </a:p>
        </p:txBody>
      </p:sp>
      <p:sp>
        <p:nvSpPr>
          <p:cNvPr id="20" name="Text 18"/>
          <p:cNvSpPr/>
          <p:nvPr/>
        </p:nvSpPr>
        <p:spPr>
          <a:xfrm>
            <a:off x="10104120" y="4151376"/>
            <a:ext cx="1371600" cy="329184"/>
          </a:xfrm>
          <a:prstGeom prst="rect">
            <a:avLst/>
          </a:prstGeom>
          <a:noFill/>
          <a:ln/>
        </p:spPr>
        <p:txBody>
          <a:bodyPr wrap="square" lIns="0" tIns="0" rIns="0" bIns="0" rtlCol="0" anchor="ctr"/>
          <a:lstStyle/>
          <a:p>
            <a:pPr algn="r" indent="0" marL="0">
              <a:buNone/>
            </a:pPr>
            <a:r>
              <a:rPr lang="en-US" sz="1100" b="1" dirty="0">
                <a:solidFill>
                  <a:srgbClr val="10069F"/>
                </a:solidFill>
                <a:latin typeface="Courier New" pitchFamily="34" charset="0"/>
                <a:ea typeface="Courier New" pitchFamily="34" charset="-122"/>
                <a:cs typeface="Courier New" pitchFamily="34" charset="-120"/>
              </a:rPr>
              <a:t>Tier 2</a:t>
            </a:r>
            <a:endParaRPr lang="en-US" sz="1100" dirty="0"/>
          </a:p>
        </p:txBody>
      </p:sp>
      <p:sp>
        <p:nvSpPr>
          <p:cNvPr id="21" name="Shape 19"/>
          <p:cNvSpPr/>
          <p:nvPr/>
        </p:nvSpPr>
        <p:spPr>
          <a:xfrm>
            <a:off x="594360" y="4581144"/>
            <a:ext cx="10972800" cy="9144"/>
          </a:xfrm>
          <a:prstGeom prst="rect">
            <a:avLst/>
          </a:prstGeom>
          <a:solidFill>
            <a:srgbClr val="24384A"/>
          </a:solidFill>
          <a:ln w="12700">
            <a:solidFill>
              <a:srgbClr val="24384A"/>
            </a:solidFill>
            <a:prstDash val="solid"/>
          </a:ln>
        </p:spPr>
      </p:sp>
      <p:sp>
        <p:nvSpPr>
          <p:cNvPr id="22" name="Text 20"/>
          <p:cNvSpPr/>
          <p:nvPr/>
        </p:nvSpPr>
        <p:spPr>
          <a:xfrm>
            <a:off x="685800" y="4718304"/>
            <a:ext cx="3657600" cy="329184"/>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What actually runs</a:t>
            </a:r>
            <a:endParaRPr lang="en-US" sz="1350" dirty="0"/>
          </a:p>
        </p:txBody>
      </p:sp>
      <p:sp>
        <p:nvSpPr>
          <p:cNvPr id="23" name="Text 21"/>
          <p:cNvSpPr/>
          <p:nvPr/>
        </p:nvSpPr>
        <p:spPr>
          <a:xfrm>
            <a:off x="4526280" y="4718304"/>
            <a:ext cx="4754880" cy="329184"/>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SELECT ... JOIN ... WHERE</a:t>
            </a:r>
            <a:endParaRPr lang="en-US" sz="1200" dirty="0"/>
          </a:p>
        </p:txBody>
      </p:sp>
      <p:sp>
        <p:nvSpPr>
          <p:cNvPr id="24" name="Text 22"/>
          <p:cNvSpPr/>
          <p:nvPr/>
        </p:nvSpPr>
        <p:spPr>
          <a:xfrm>
            <a:off x="10104120" y="4718304"/>
            <a:ext cx="1371600" cy="329184"/>
          </a:xfrm>
          <a:prstGeom prst="rect">
            <a:avLst/>
          </a:prstGeom>
          <a:noFill/>
          <a:ln/>
        </p:spPr>
        <p:txBody>
          <a:bodyPr wrap="square" lIns="0" tIns="0" rIns="0" bIns="0" rtlCol="0" anchor="ctr"/>
          <a:lstStyle/>
          <a:p>
            <a:pPr algn="r" indent="0" marL="0">
              <a:buNone/>
            </a:pPr>
            <a:r>
              <a:rPr lang="en-US" sz="1100" b="1" dirty="0">
                <a:solidFill>
                  <a:srgbClr val="10069F"/>
                </a:solidFill>
                <a:latin typeface="Courier New" pitchFamily="34" charset="0"/>
                <a:ea typeface="Courier New" pitchFamily="34" charset="-122"/>
                <a:cs typeface="Courier New" pitchFamily="34" charset="-120"/>
              </a:rPr>
              <a:t>Tier 3</a:t>
            </a:r>
            <a:endParaRPr lang="en-US" sz="1100" dirty="0"/>
          </a:p>
        </p:txBody>
      </p:sp>
      <p:sp>
        <p:nvSpPr>
          <p:cNvPr id="25" name="Shape 23"/>
          <p:cNvSpPr/>
          <p:nvPr/>
        </p:nvSpPr>
        <p:spPr>
          <a:xfrm>
            <a:off x="594360" y="5148072"/>
            <a:ext cx="10972800" cy="9144"/>
          </a:xfrm>
          <a:prstGeom prst="rect">
            <a:avLst/>
          </a:prstGeom>
          <a:solidFill>
            <a:srgbClr val="24384A"/>
          </a:solidFill>
          <a:ln w="12700">
            <a:solidFill>
              <a:srgbClr val="24384A"/>
            </a:solidFill>
            <a:prstDash val="solid"/>
          </a:ln>
        </p:spPr>
      </p:sp>
      <p:sp>
        <p:nvSpPr>
          <p:cNvPr id="26" name="Text 24"/>
          <p:cNvSpPr/>
          <p:nvPr/>
        </p:nvSpPr>
        <p:spPr>
          <a:xfrm>
            <a:off x="685800" y="5285232"/>
            <a:ext cx="3657600" cy="329184"/>
          </a:xfrm>
          <a:prstGeom prst="rect">
            <a:avLst/>
          </a:prstGeom>
          <a:noFill/>
          <a:ln/>
        </p:spPr>
        <p:txBody>
          <a:bodyPr wrap="square" lIns="0" tIns="0" rIns="0" bIns="0" rtlCol="0" anchor="ctr"/>
          <a:lstStyle/>
          <a:p>
            <a:pPr indent="0" marL="0">
              <a:buNone/>
            </a:pPr>
            <a:r>
              <a:rPr lang="en-US" sz="1350" dirty="0">
                <a:solidFill>
                  <a:srgbClr val="0A0A14"/>
                </a:solidFill>
                <a:latin typeface="Arial" pitchFamily="34" charset="0"/>
                <a:ea typeface="Arial" pitchFamily="34" charset="-122"/>
                <a:cs typeface="Arial" pitchFamily="34" charset="-120"/>
              </a:rPr>
              <a:t>What comes back</a:t>
            </a:r>
            <a:endParaRPr lang="en-US" sz="1350" dirty="0"/>
          </a:p>
        </p:txBody>
      </p:sp>
      <p:sp>
        <p:nvSpPr>
          <p:cNvPr id="27" name="Text 25"/>
          <p:cNvSpPr/>
          <p:nvPr/>
        </p:nvSpPr>
        <p:spPr>
          <a:xfrm>
            <a:off x="4526280" y="5285232"/>
            <a:ext cx="4754880" cy="329184"/>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rows, not objects</a:t>
            </a:r>
            <a:endParaRPr lang="en-US" sz="1200" dirty="0"/>
          </a:p>
        </p:txBody>
      </p:sp>
      <p:sp>
        <p:nvSpPr>
          <p:cNvPr id="28" name="Text 26"/>
          <p:cNvSpPr/>
          <p:nvPr/>
        </p:nvSpPr>
        <p:spPr>
          <a:xfrm>
            <a:off x="10104120" y="5285232"/>
            <a:ext cx="1371600" cy="329184"/>
          </a:xfrm>
          <a:prstGeom prst="rect">
            <a:avLst/>
          </a:prstGeom>
          <a:noFill/>
          <a:ln/>
        </p:spPr>
        <p:txBody>
          <a:bodyPr wrap="square" lIns="0" tIns="0" rIns="0" bIns="0" rtlCol="0" anchor="ctr"/>
          <a:lstStyle/>
          <a:p>
            <a:pPr algn="r" indent="0" marL="0">
              <a:buNone/>
            </a:pPr>
            <a:r>
              <a:rPr lang="en-US" sz="1100" b="1" dirty="0">
                <a:solidFill>
                  <a:srgbClr val="10069F"/>
                </a:solidFill>
                <a:latin typeface="Courier New" pitchFamily="34" charset="0"/>
                <a:ea typeface="Courier New" pitchFamily="34" charset="-122"/>
                <a:cs typeface="Courier New" pitchFamily="34" charset="-120"/>
              </a:rPr>
              <a:t>Tier 3</a:t>
            </a:r>
            <a:endParaRPr lang="en-US" sz="1100" dirty="0"/>
          </a:p>
        </p:txBody>
      </p:sp>
      <p:sp>
        <p:nvSpPr>
          <p:cNvPr id="29" name="Shape 27"/>
          <p:cNvSpPr/>
          <p:nvPr/>
        </p:nvSpPr>
        <p:spPr>
          <a:xfrm>
            <a:off x="594360" y="5715000"/>
            <a:ext cx="10972800" cy="9144"/>
          </a:xfrm>
          <a:prstGeom prst="rect">
            <a:avLst/>
          </a:prstGeom>
          <a:solidFill>
            <a:srgbClr val="24384A"/>
          </a:solidFill>
          <a:ln w="12700">
            <a:solidFill>
              <a:srgbClr val="24384A"/>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377440"/>
            <a:ext cx="3657600" cy="365760"/>
          </a:xfrm>
          <a:prstGeom prst="rect">
            <a:avLst/>
          </a:prstGeom>
          <a:noFill/>
          <a:ln/>
        </p:spPr>
        <p:txBody>
          <a:bodyPr wrap="square" lIns="0" tIns="0" rIns="0" bIns="0" rtlCol="0" anchor="ctr"/>
          <a:lstStyle/>
          <a:p>
            <a:pPr indent="0" marL="0">
              <a:buNone/>
            </a:pPr>
            <a:r>
              <a:rPr lang="en-US" sz="1300" b="1" spc="260" kern="0" dirty="0">
                <a:solidFill>
                  <a:srgbClr val="C2410C"/>
                </a:solidFill>
                <a:latin typeface="Courier New" pitchFamily="34" charset="0"/>
                <a:ea typeface="Courier New" pitchFamily="34" charset="-122"/>
                <a:cs typeface="Courier New" pitchFamily="34" charset="-120"/>
              </a:rPr>
              <a:t>PART 2</a:t>
            </a:r>
            <a:endParaRPr lang="en-US" sz="1300" dirty="0"/>
          </a:p>
        </p:txBody>
      </p:sp>
      <p:sp>
        <p:nvSpPr>
          <p:cNvPr id="3" name="Text 1"/>
          <p:cNvSpPr/>
          <p:nvPr/>
        </p:nvSpPr>
        <p:spPr>
          <a:xfrm>
            <a:off x="594360" y="2788920"/>
            <a:ext cx="8229600" cy="914400"/>
          </a:xfrm>
          <a:prstGeom prst="rect">
            <a:avLst/>
          </a:prstGeom>
          <a:noFill/>
          <a:ln/>
        </p:spPr>
        <p:txBody>
          <a:bodyPr wrap="square" lIns="0" tIns="0" rIns="0" bIns="0" rtlCol="0" anchor="ctr"/>
          <a:lstStyle/>
          <a:p>
            <a:pPr indent="0" marL="0">
              <a:buNone/>
            </a:pPr>
            <a:r>
              <a:rPr lang="en-US" sz="4400" b="1" dirty="0">
                <a:solidFill>
                  <a:srgbClr val="0A0A14"/>
                </a:solidFill>
                <a:latin typeface="Arial" pitchFamily="34" charset="0"/>
                <a:ea typeface="Arial" pitchFamily="34" charset="-122"/>
                <a:cs typeface="Arial" pitchFamily="34" charset="-120"/>
              </a:rPr>
              <a:t>How it talks</a:t>
            </a:r>
            <a:endParaRPr lang="en-US" sz="4400" dirty="0"/>
          </a:p>
        </p:txBody>
      </p:sp>
      <p:sp>
        <p:nvSpPr>
          <p:cNvPr id="4" name="Text 2"/>
          <p:cNvSpPr/>
          <p:nvPr/>
        </p:nvSpPr>
        <p:spPr>
          <a:xfrm>
            <a:off x="594360" y="3794760"/>
            <a:ext cx="8229600" cy="365760"/>
          </a:xfrm>
          <a:prstGeom prst="rect">
            <a:avLst/>
          </a:prstGeom>
          <a:noFill/>
          <a:ln/>
        </p:spPr>
        <p:txBody>
          <a:bodyPr wrap="square" lIns="0" tIns="0" rIns="0" bIns="0" rtlCol="0" anchor="ctr"/>
          <a:lstStyle/>
          <a:p>
            <a:pPr indent="0" marL="0">
              <a:buNone/>
            </a:pPr>
            <a:r>
              <a:rPr lang="en-US" sz="1600" dirty="0">
                <a:solidFill>
                  <a:srgbClr val="3F3F4D"/>
                </a:solidFill>
                <a:latin typeface="Arial" pitchFamily="34" charset="0"/>
                <a:ea typeface="Arial" pitchFamily="34" charset="-122"/>
                <a:cs typeface="Arial" pitchFamily="34" charset="-120"/>
              </a:rPr>
              <a:t>Envelopes, round trips, and plain text.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NUMBER THAT SURPRISES PEOPLE</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Your code is 40 ms of a 953 ms wait</a:t>
            </a:r>
            <a:endParaRPr lang="en-US" sz="3200" dirty="0"/>
          </a:p>
        </p:txBody>
      </p:sp>
      <p:sp>
        <p:nvSpPr>
          <p:cNvPr id="4" name="Shape 2"/>
          <p:cNvSpPr/>
          <p:nvPr/>
        </p:nvSpPr>
        <p:spPr>
          <a:xfrm>
            <a:off x="594360" y="1965960"/>
            <a:ext cx="5120640" cy="3063240"/>
          </a:xfrm>
          <a:prstGeom prst="roundRect">
            <a:avLst>
              <a:gd name="adj" fmla="val 1791"/>
            </a:avLst>
          </a:prstGeom>
          <a:solidFill>
            <a:srgbClr val="F6F6FA"/>
          </a:solidFill>
          <a:ln w="9525">
            <a:solidFill>
              <a:srgbClr val="C9C7C2"/>
            </a:solidFill>
            <a:prstDash val="solid"/>
          </a:ln>
        </p:spPr>
      </p:sp>
      <p:sp>
        <p:nvSpPr>
          <p:cNvPr id="5" name="Text 3"/>
          <p:cNvSpPr/>
          <p:nvPr/>
        </p:nvSpPr>
        <p:spPr>
          <a:xfrm>
            <a:off x="960120" y="2212848"/>
            <a:ext cx="4389120" cy="310896"/>
          </a:xfrm>
          <a:prstGeom prst="rect">
            <a:avLst/>
          </a:prstGeom>
          <a:noFill/>
          <a:ln/>
        </p:spPr>
        <p:txBody>
          <a:bodyPr wrap="square" lIns="0" tIns="0" rIns="0" bIns="0" rtlCol="0" anchor="ctr"/>
          <a:lstStyle/>
          <a:p>
            <a:pPr indent="0" marL="0">
              <a:buNone/>
            </a:pPr>
            <a:r>
              <a:rPr lang="en-US" sz="1100" spc="120" kern="0" dirty="0">
                <a:solidFill>
                  <a:srgbClr val="63616F"/>
                </a:solidFill>
                <a:latin typeface="Courier New" pitchFamily="34" charset="0"/>
                <a:ea typeface="Courier New" pitchFamily="34" charset="-122"/>
                <a:cs typeface="Courier New" pitchFamily="34" charset="-120"/>
              </a:rPr>
              <a:t>Same request, from Berlin</a:t>
            </a:r>
            <a:endParaRPr lang="en-US" sz="1100" dirty="0"/>
          </a:p>
        </p:txBody>
      </p:sp>
      <p:sp>
        <p:nvSpPr>
          <p:cNvPr id="6" name="Text 4"/>
          <p:cNvSpPr/>
          <p:nvPr/>
        </p:nvSpPr>
        <p:spPr>
          <a:xfrm>
            <a:off x="960120" y="2578608"/>
            <a:ext cx="2926080" cy="1051560"/>
          </a:xfrm>
          <a:prstGeom prst="rect">
            <a:avLst/>
          </a:prstGeom>
          <a:noFill/>
          <a:ln/>
        </p:spPr>
        <p:txBody>
          <a:bodyPr wrap="square" lIns="0" tIns="0" rIns="0" bIns="0" rtlCol="0" anchor="ctr"/>
          <a:lstStyle/>
          <a:p>
            <a:pPr indent="0" marL="0">
              <a:buNone/>
            </a:pPr>
            <a:r>
              <a:rPr lang="en-US" sz="7600" b="1" dirty="0">
                <a:solidFill>
                  <a:srgbClr val="C2410C"/>
                </a:solidFill>
                <a:latin typeface="Arial" pitchFamily="34" charset="0"/>
                <a:ea typeface="Arial" pitchFamily="34" charset="-122"/>
                <a:cs typeface="Arial" pitchFamily="34" charset="-120"/>
              </a:rPr>
              <a:t>953</a:t>
            </a:r>
            <a:endParaRPr lang="en-US" sz="7600" dirty="0"/>
          </a:p>
        </p:txBody>
      </p:sp>
      <p:sp>
        <p:nvSpPr>
          <p:cNvPr id="7" name="Text 5"/>
          <p:cNvSpPr/>
          <p:nvPr/>
        </p:nvSpPr>
        <p:spPr>
          <a:xfrm>
            <a:off x="960120" y="3639312"/>
            <a:ext cx="4389120" cy="329184"/>
          </a:xfrm>
          <a:prstGeom prst="rect">
            <a:avLst/>
          </a:prstGeom>
          <a:noFill/>
          <a:ln/>
        </p:spPr>
        <p:txBody>
          <a:bodyPr wrap="square" lIns="0" tIns="0" rIns="0" bIns="0" rtlCol="0" anchor="ctr"/>
          <a:lstStyle/>
          <a:p>
            <a:pPr indent="0" marL="0">
              <a:buNone/>
            </a:pPr>
            <a:r>
              <a:rPr lang="en-US" sz="1500" dirty="0">
                <a:solidFill>
                  <a:srgbClr val="3F3F4D"/>
                </a:solidFill>
                <a:latin typeface="Arial" pitchFamily="34" charset="0"/>
                <a:ea typeface="Arial" pitchFamily="34" charset="-122"/>
                <a:cs typeface="Arial" pitchFamily="34" charset="-120"/>
              </a:rPr>
              <a:t>ms to first byte</a:t>
            </a:r>
            <a:endParaRPr lang="en-US" sz="1500" dirty="0"/>
          </a:p>
        </p:txBody>
      </p:sp>
      <p:sp>
        <p:nvSpPr>
          <p:cNvPr id="8" name="Text 6"/>
          <p:cNvSpPr/>
          <p:nvPr/>
        </p:nvSpPr>
        <p:spPr>
          <a:xfrm>
            <a:off x="960120" y="4023360"/>
            <a:ext cx="4480560" cy="685800"/>
          </a:xfrm>
          <a:prstGeom prst="rect">
            <a:avLst/>
          </a:prstGeom>
          <a:noFill/>
          <a:ln/>
        </p:spPr>
        <p:txBody>
          <a:bodyPr wrap="square" lIns="0" tIns="0" rIns="0" bIns="0" rtlCol="0" anchor="ctr"/>
          <a:lstStyle/>
          <a:p>
            <a:pPr indent="0" marL="0">
              <a:lnSpc>
                <a:spcPts val="1600"/>
              </a:lnSpc>
              <a:buNone/>
            </a:pPr>
            <a:r>
              <a:rPr lang="en-US" sz="1200" dirty="0">
                <a:solidFill>
                  <a:srgbClr val="63616F"/>
                </a:solidFill>
                <a:latin typeface="Arial" pitchFamily="34" charset="0"/>
                <a:ea typeface="Arial" pitchFamily="34" charset="-122"/>
                <a:cs typeface="Arial" pitchFamily="34" charset="-120"/>
              </a:rPr>
              <a:t>913 ms of that is network and setup.</a:t>
            </a:r>
            <a:endParaRPr lang="en-US" sz="1200" dirty="0"/>
          </a:p>
          <a:p>
            <a:pPr indent="0" marL="0">
              <a:lnSpc>
                <a:spcPts val="1600"/>
              </a:lnSpc>
              <a:buNone/>
            </a:pPr>
            <a:r>
              <a:rPr lang="en-US" sz="1200" dirty="0">
                <a:solidFill>
                  <a:srgbClr val="63616F"/>
                </a:solidFill>
                <a:latin typeface="Arial" pitchFamily="34" charset="0"/>
                <a:ea typeface="Arial" pitchFamily="34" charset="-122"/>
                <a:cs typeface="Arial" pitchFamily="34" charset="-120"/>
              </a:rPr>
              <a:t>Your handler never got faster or slower.</a:t>
            </a:r>
            <a:endParaRPr lang="en-US" sz="1200" dirty="0"/>
          </a:p>
        </p:txBody>
      </p:sp>
      <p:sp>
        <p:nvSpPr>
          <p:cNvPr id="9" name="Text 7"/>
          <p:cNvSpPr/>
          <p:nvPr/>
        </p:nvSpPr>
        <p:spPr>
          <a:xfrm>
            <a:off x="6217920" y="2103120"/>
            <a:ext cx="310896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DNS lookup</a:t>
            </a:r>
            <a:endParaRPr lang="en-US" sz="1300" dirty="0"/>
          </a:p>
        </p:txBody>
      </p:sp>
      <p:sp>
        <p:nvSpPr>
          <p:cNvPr id="10" name="Text 8"/>
          <p:cNvSpPr/>
          <p:nvPr/>
        </p:nvSpPr>
        <p:spPr>
          <a:xfrm>
            <a:off x="10195560" y="2103120"/>
            <a:ext cx="1280160" cy="310896"/>
          </a:xfrm>
          <a:prstGeom prst="rect">
            <a:avLst/>
          </a:prstGeom>
          <a:noFill/>
          <a:ln/>
        </p:spPr>
        <p:txBody>
          <a:bodyPr wrap="square" lIns="0" tIns="0" rIns="0" bIns="0" rtlCol="0" anchor="ctr"/>
          <a:lstStyle/>
          <a:p>
            <a:pPr algn="r" indent="0" marL="0">
              <a:buNone/>
            </a:pPr>
            <a:r>
              <a:rPr lang="en-US" sz="1200" dirty="0">
                <a:solidFill>
                  <a:srgbClr val="63616F"/>
                </a:solidFill>
                <a:latin typeface="Courier New" pitchFamily="34" charset="0"/>
                <a:ea typeface="Courier New" pitchFamily="34" charset="-122"/>
                <a:cs typeface="Courier New" pitchFamily="34" charset="-120"/>
              </a:rPr>
              <a:t>184 ms</a:t>
            </a:r>
            <a:endParaRPr lang="en-US" sz="1200" dirty="0"/>
          </a:p>
        </p:txBody>
      </p:sp>
      <p:sp>
        <p:nvSpPr>
          <p:cNvPr id="11" name="Text 9"/>
          <p:cNvSpPr/>
          <p:nvPr/>
        </p:nvSpPr>
        <p:spPr>
          <a:xfrm>
            <a:off x="6217920" y="2587752"/>
            <a:ext cx="310896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TCP handshake</a:t>
            </a:r>
            <a:endParaRPr lang="en-US" sz="1300" dirty="0"/>
          </a:p>
        </p:txBody>
      </p:sp>
      <p:sp>
        <p:nvSpPr>
          <p:cNvPr id="12" name="Text 10"/>
          <p:cNvSpPr/>
          <p:nvPr/>
        </p:nvSpPr>
        <p:spPr>
          <a:xfrm>
            <a:off x="10195560" y="2587752"/>
            <a:ext cx="1280160" cy="310896"/>
          </a:xfrm>
          <a:prstGeom prst="rect">
            <a:avLst/>
          </a:prstGeom>
          <a:noFill/>
          <a:ln/>
        </p:spPr>
        <p:txBody>
          <a:bodyPr wrap="square" lIns="0" tIns="0" rIns="0" bIns="0" rtlCol="0" anchor="ctr"/>
          <a:lstStyle/>
          <a:p>
            <a:pPr algn="r" indent="0" marL="0">
              <a:buNone/>
            </a:pPr>
            <a:r>
              <a:rPr lang="en-US" sz="1200" dirty="0">
                <a:solidFill>
                  <a:srgbClr val="63616F"/>
                </a:solidFill>
                <a:latin typeface="Courier New" pitchFamily="34" charset="0"/>
                <a:ea typeface="Courier New" pitchFamily="34" charset="-122"/>
                <a:cs typeface="Courier New" pitchFamily="34" charset="-120"/>
              </a:rPr>
              <a:t>181 ms</a:t>
            </a:r>
            <a:endParaRPr lang="en-US" sz="1200" dirty="0"/>
          </a:p>
        </p:txBody>
      </p:sp>
      <p:sp>
        <p:nvSpPr>
          <p:cNvPr id="13" name="Text 11"/>
          <p:cNvSpPr/>
          <p:nvPr/>
        </p:nvSpPr>
        <p:spPr>
          <a:xfrm>
            <a:off x="6217920" y="3072384"/>
            <a:ext cx="310896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TLS handshake</a:t>
            </a:r>
            <a:endParaRPr lang="en-US" sz="1300" dirty="0"/>
          </a:p>
        </p:txBody>
      </p:sp>
      <p:sp>
        <p:nvSpPr>
          <p:cNvPr id="14" name="Text 12"/>
          <p:cNvSpPr/>
          <p:nvPr/>
        </p:nvSpPr>
        <p:spPr>
          <a:xfrm>
            <a:off x="10195560" y="3072384"/>
            <a:ext cx="1280160" cy="310896"/>
          </a:xfrm>
          <a:prstGeom prst="rect">
            <a:avLst/>
          </a:prstGeom>
          <a:noFill/>
          <a:ln/>
        </p:spPr>
        <p:txBody>
          <a:bodyPr wrap="square" lIns="0" tIns="0" rIns="0" bIns="0" rtlCol="0" anchor="ctr"/>
          <a:lstStyle/>
          <a:p>
            <a:pPr algn="r" indent="0" marL="0">
              <a:buNone/>
            </a:pPr>
            <a:r>
              <a:rPr lang="en-US" sz="1200" dirty="0">
                <a:solidFill>
                  <a:srgbClr val="63616F"/>
                </a:solidFill>
                <a:latin typeface="Courier New" pitchFamily="34" charset="0"/>
                <a:ea typeface="Courier New" pitchFamily="34" charset="-122"/>
                <a:cs typeface="Courier New" pitchFamily="34" charset="-120"/>
              </a:rPr>
              <a:t>366 ms</a:t>
            </a:r>
            <a:endParaRPr lang="en-US" sz="1200" dirty="0"/>
          </a:p>
        </p:txBody>
      </p:sp>
      <p:sp>
        <p:nvSpPr>
          <p:cNvPr id="15" name="Text 13"/>
          <p:cNvSpPr/>
          <p:nvPr/>
        </p:nvSpPr>
        <p:spPr>
          <a:xfrm>
            <a:off x="6217920" y="3557016"/>
            <a:ext cx="310896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Request sent</a:t>
            </a:r>
            <a:endParaRPr lang="en-US" sz="1300" dirty="0"/>
          </a:p>
        </p:txBody>
      </p:sp>
      <p:sp>
        <p:nvSpPr>
          <p:cNvPr id="16" name="Text 14"/>
          <p:cNvSpPr/>
          <p:nvPr/>
        </p:nvSpPr>
        <p:spPr>
          <a:xfrm>
            <a:off x="10195560" y="3557016"/>
            <a:ext cx="1280160" cy="310896"/>
          </a:xfrm>
          <a:prstGeom prst="rect">
            <a:avLst/>
          </a:prstGeom>
          <a:noFill/>
          <a:ln/>
        </p:spPr>
        <p:txBody>
          <a:bodyPr wrap="square" lIns="0" tIns="0" rIns="0" bIns="0" rtlCol="0" anchor="ctr"/>
          <a:lstStyle/>
          <a:p>
            <a:pPr algn="r" indent="0" marL="0">
              <a:buNone/>
            </a:pPr>
            <a:r>
              <a:rPr lang="en-US" sz="1200" dirty="0">
                <a:solidFill>
                  <a:srgbClr val="63616F"/>
                </a:solidFill>
                <a:latin typeface="Courier New" pitchFamily="34" charset="0"/>
                <a:ea typeface="Courier New" pitchFamily="34" charset="-122"/>
                <a:cs typeface="Courier New" pitchFamily="34" charset="-120"/>
              </a:rPr>
              <a:t>91 ms</a:t>
            </a:r>
            <a:endParaRPr lang="en-US" sz="1200" dirty="0"/>
          </a:p>
        </p:txBody>
      </p:sp>
      <p:sp>
        <p:nvSpPr>
          <p:cNvPr id="17" name="Text 15"/>
          <p:cNvSpPr/>
          <p:nvPr/>
        </p:nvSpPr>
        <p:spPr>
          <a:xfrm>
            <a:off x="6217920" y="4041648"/>
            <a:ext cx="3108960" cy="310896"/>
          </a:xfrm>
          <a:prstGeom prst="rect">
            <a:avLst/>
          </a:prstGeom>
          <a:noFill/>
          <a:ln/>
        </p:spPr>
        <p:txBody>
          <a:bodyPr wrap="square" lIns="0" tIns="0" rIns="0" bIns="0" rtlCol="0" anchor="ctr"/>
          <a:lstStyle/>
          <a:p>
            <a:pPr indent="0" marL="0">
              <a:buNone/>
            </a:pPr>
            <a:r>
              <a:rPr lang="en-US" sz="1300" b="1" dirty="0">
                <a:solidFill>
                  <a:srgbClr val="0A0A14"/>
                </a:solidFill>
                <a:latin typeface="Arial" pitchFamily="34" charset="0"/>
                <a:ea typeface="Arial" pitchFamily="34" charset="-122"/>
                <a:cs typeface="Arial" pitchFamily="34" charset="-120"/>
              </a:rPr>
              <a:t>Your handler runs</a:t>
            </a:r>
            <a:endParaRPr lang="en-US" sz="1300" dirty="0"/>
          </a:p>
        </p:txBody>
      </p:sp>
      <p:sp>
        <p:nvSpPr>
          <p:cNvPr id="18" name="Text 16"/>
          <p:cNvSpPr/>
          <p:nvPr/>
        </p:nvSpPr>
        <p:spPr>
          <a:xfrm>
            <a:off x="10195560" y="4041648"/>
            <a:ext cx="1280160" cy="310896"/>
          </a:xfrm>
          <a:prstGeom prst="rect">
            <a:avLst/>
          </a:prstGeom>
          <a:noFill/>
          <a:ln/>
        </p:spPr>
        <p:txBody>
          <a:bodyPr wrap="square" lIns="0" tIns="0" rIns="0" bIns="0" rtlCol="0" anchor="ctr"/>
          <a:lstStyle/>
          <a:p>
            <a:pPr algn="r" indent="0" marL="0">
              <a:buNone/>
            </a:pPr>
            <a:r>
              <a:rPr lang="en-US" sz="1200" b="1" dirty="0">
                <a:solidFill>
                  <a:srgbClr val="10069F"/>
                </a:solidFill>
                <a:latin typeface="Courier New" pitchFamily="34" charset="0"/>
                <a:ea typeface="Courier New" pitchFamily="34" charset="-122"/>
                <a:cs typeface="Courier New" pitchFamily="34" charset="-120"/>
              </a:rPr>
              <a:t>40 ms</a:t>
            </a:r>
            <a:endParaRPr lang="en-US" sz="1200" dirty="0"/>
          </a:p>
        </p:txBody>
      </p:sp>
      <p:sp>
        <p:nvSpPr>
          <p:cNvPr id="19" name="Text 17"/>
          <p:cNvSpPr/>
          <p:nvPr/>
        </p:nvSpPr>
        <p:spPr>
          <a:xfrm>
            <a:off x="6217920" y="4526280"/>
            <a:ext cx="310896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First byte back</a:t>
            </a:r>
            <a:endParaRPr lang="en-US" sz="1300" dirty="0"/>
          </a:p>
        </p:txBody>
      </p:sp>
      <p:sp>
        <p:nvSpPr>
          <p:cNvPr id="20" name="Text 18"/>
          <p:cNvSpPr/>
          <p:nvPr/>
        </p:nvSpPr>
        <p:spPr>
          <a:xfrm>
            <a:off x="10195560" y="4526280"/>
            <a:ext cx="1280160" cy="310896"/>
          </a:xfrm>
          <a:prstGeom prst="rect">
            <a:avLst/>
          </a:prstGeom>
          <a:noFill/>
          <a:ln/>
        </p:spPr>
        <p:txBody>
          <a:bodyPr wrap="square" lIns="0" tIns="0" rIns="0" bIns="0" rtlCol="0" anchor="ctr"/>
          <a:lstStyle/>
          <a:p>
            <a:pPr algn="r" indent="0" marL="0">
              <a:buNone/>
            </a:pPr>
            <a:r>
              <a:rPr lang="en-US" sz="1200" dirty="0">
                <a:solidFill>
                  <a:srgbClr val="63616F"/>
                </a:solidFill>
                <a:latin typeface="Courier New" pitchFamily="34" charset="0"/>
                <a:ea typeface="Courier New" pitchFamily="34" charset="-122"/>
                <a:cs typeface="Courier New" pitchFamily="34" charset="-120"/>
              </a:rPr>
              <a:t>91 ms</a:t>
            </a:r>
            <a:endParaRPr lang="en-US" sz="1200" dirty="0"/>
          </a:p>
        </p:txBody>
      </p:sp>
      <p:sp>
        <p:nvSpPr>
          <p:cNvPr id="21" name="Text 19"/>
          <p:cNvSpPr/>
          <p:nvPr/>
        </p:nvSpPr>
        <p:spPr>
          <a:xfrm>
            <a:off x="6217920" y="5120640"/>
            <a:ext cx="5120640" cy="365760"/>
          </a:xfrm>
          <a:prstGeom prst="rect">
            <a:avLst/>
          </a:prstGeom>
          <a:noFill/>
          <a:ln/>
        </p:spPr>
        <p:txBody>
          <a:bodyPr wrap="square" lIns="0" tIns="0" rIns="0" bIns="0" rtlCol="0" anchor="ctr"/>
          <a:lstStyle/>
          <a:p>
            <a:pPr indent="0" marL="0">
              <a:buNone/>
            </a:pPr>
            <a:r>
              <a:rPr lang="en-US" sz="1250" i="1" dirty="0">
                <a:solidFill>
                  <a:srgbClr val="C2410C"/>
                </a:solidFill>
                <a:latin typeface="Arial" pitchFamily="34" charset="0"/>
                <a:ea typeface="Arial" pitchFamily="34" charset="-122"/>
                <a:cs typeface="Arial" pitchFamily="34" charset="-120"/>
              </a:rPr>
              <a:t>Five round trips happen before your view function is called.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REFERENCE</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HTTP is text you could type by hand</a:t>
            </a:r>
            <a:endParaRPr lang="en-US" sz="3200" dirty="0"/>
          </a:p>
        </p:txBody>
      </p:sp>
      <p:sp>
        <p:nvSpPr>
          <p:cNvPr id="4" name="Shape 2"/>
          <p:cNvSpPr/>
          <p:nvPr/>
        </p:nvSpPr>
        <p:spPr>
          <a:xfrm>
            <a:off x="594360" y="1920240"/>
            <a:ext cx="5394960" cy="3200400"/>
          </a:xfrm>
          <a:prstGeom prst="roundRect">
            <a:avLst>
              <a:gd name="adj" fmla="val 1714"/>
            </a:avLst>
          </a:prstGeom>
          <a:solidFill>
            <a:srgbClr val="F6F6FA"/>
          </a:solidFill>
          <a:ln w="9525">
            <a:solidFill>
              <a:srgbClr val="C9C7C2"/>
            </a:solidFill>
            <a:prstDash val="solid"/>
          </a:ln>
        </p:spPr>
      </p:sp>
      <p:sp>
        <p:nvSpPr>
          <p:cNvPr id="5" name="Text 3"/>
          <p:cNvSpPr/>
          <p:nvPr/>
        </p:nvSpPr>
        <p:spPr>
          <a:xfrm>
            <a:off x="886968" y="2121408"/>
            <a:ext cx="2743200" cy="237744"/>
          </a:xfrm>
          <a:prstGeom prst="rect">
            <a:avLst/>
          </a:prstGeom>
          <a:noFill/>
          <a:ln/>
        </p:spPr>
        <p:txBody>
          <a:bodyPr wrap="square" lIns="0" tIns="0" rIns="0" bIns="0" rtlCol="0" anchor="ctr"/>
          <a:lstStyle/>
          <a:p>
            <a:pPr indent="0" marL="0">
              <a:buNone/>
            </a:pPr>
            <a:r>
              <a:rPr lang="en-US" sz="950" b="1" spc="160" kern="0" dirty="0">
                <a:solidFill>
                  <a:srgbClr val="C2410C"/>
                </a:solidFill>
                <a:latin typeface="Courier New" pitchFamily="34" charset="0"/>
                <a:ea typeface="Courier New" pitchFamily="34" charset="-122"/>
                <a:cs typeface="Courier New" pitchFamily="34" charset="-120"/>
              </a:rPr>
              <a:t>REQUEST — BROWSER TO SERVER</a:t>
            </a:r>
            <a:endParaRPr lang="en-US" sz="950" dirty="0"/>
          </a:p>
        </p:txBody>
      </p:sp>
      <p:sp>
        <p:nvSpPr>
          <p:cNvPr id="6" name="Text 4"/>
          <p:cNvSpPr/>
          <p:nvPr/>
        </p:nvSpPr>
        <p:spPr>
          <a:xfrm>
            <a:off x="886968" y="2487168"/>
            <a:ext cx="4846320" cy="2377440"/>
          </a:xfrm>
          <a:prstGeom prst="rect">
            <a:avLst/>
          </a:prstGeom>
          <a:noFill/>
          <a:ln/>
        </p:spPr>
        <p:txBody>
          <a:bodyPr wrap="square" lIns="0" tIns="0" rIns="0" bIns="0" rtlCol="0" anchor="ctr"/>
          <a:lstStyle/>
          <a:p>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GET /courses?sem=1 HTTP/1.1
</a:t>
            </a:r>
            <a:pPr indent="0" marL="0">
              <a:lnSpc>
                <a:spcPts val="2200"/>
              </a:lnSpc>
              <a:buNone/>
            </a:pPr>
            <a:r>
              <a:rPr lang="en-US" sz="1200" dirty="0">
                <a:solidFill>
                  <a:srgbClr val="C2410C"/>
                </a:solidFill>
                <a:latin typeface="Courier New" pitchFamily="34" charset="0"/>
                <a:ea typeface="Courier New" pitchFamily="34" charset="-122"/>
                <a:cs typeface="Courier New" pitchFamily="34" charset="-120"/>
              </a:rPr>
              <a:t>Host: </a:t>
            </a:r>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api.example.com
</a:t>
            </a:r>
            <a:pPr indent="0" marL="0">
              <a:lnSpc>
                <a:spcPts val="2200"/>
              </a:lnSpc>
              <a:buNone/>
            </a:pPr>
            <a:r>
              <a:rPr lang="en-US" sz="1200" dirty="0">
                <a:solidFill>
                  <a:srgbClr val="C2410C"/>
                </a:solidFill>
                <a:latin typeface="Courier New" pitchFamily="34" charset="0"/>
                <a:ea typeface="Courier New" pitchFamily="34" charset="-122"/>
                <a:cs typeface="Courier New" pitchFamily="34" charset="-120"/>
              </a:rPr>
              <a:t>Accept: </a:t>
            </a:r>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application/json
</a:t>
            </a:r>
            <a:pPr indent="0" marL="0">
              <a:lnSpc>
                <a:spcPts val="2200"/>
              </a:lnSpc>
              <a:buNone/>
            </a:pPr>
            <a:r>
              <a:rPr lang="en-US" sz="1200" dirty="0">
                <a:solidFill>
                  <a:srgbClr val="C2410C"/>
                </a:solidFill>
                <a:latin typeface="Courier New" pitchFamily="34" charset="0"/>
                <a:ea typeface="Courier New" pitchFamily="34" charset="-122"/>
                <a:cs typeface="Courier New" pitchFamily="34" charset="-120"/>
              </a:rPr>
              <a:t>Connection: </a:t>
            </a:r>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keep-alive
</a:t>
            </a:r>
            <a:pPr indent="0" marL="0">
              <a:lnSpc>
                <a:spcPts val="2200"/>
              </a:lnSpc>
              <a:buNone/>
            </a:pPr>
            <a:r>
              <a:rPr lang="en-US" sz="1200" dirty="0">
                <a:solidFill>
                  <a:srgbClr val="63616F"/>
                </a:solidFill>
                <a:latin typeface="Courier New" pitchFamily="34" charset="0"/>
                <a:ea typeface="Courier New" pitchFamily="34" charset="-122"/>
                <a:cs typeface="Courier New" pitchFamily="34" charset="-120"/>
              </a:rPr>
              <a:t>↵ (blank line — headers end here)</a:t>
            </a:r>
            <a:endParaRPr lang="en-US" sz="1200" dirty="0"/>
          </a:p>
        </p:txBody>
      </p:sp>
      <p:sp>
        <p:nvSpPr>
          <p:cNvPr id="7" name="Shape 5"/>
          <p:cNvSpPr/>
          <p:nvPr/>
        </p:nvSpPr>
        <p:spPr>
          <a:xfrm>
            <a:off x="6217920" y="1920240"/>
            <a:ext cx="5349240" cy="3200400"/>
          </a:xfrm>
          <a:prstGeom prst="roundRect">
            <a:avLst>
              <a:gd name="adj" fmla="val 1714"/>
            </a:avLst>
          </a:prstGeom>
          <a:solidFill>
            <a:srgbClr val="F6F6FA"/>
          </a:solidFill>
          <a:ln w="9525">
            <a:solidFill>
              <a:srgbClr val="C9C7C2"/>
            </a:solidFill>
            <a:prstDash val="solid"/>
          </a:ln>
        </p:spPr>
      </p:sp>
      <p:sp>
        <p:nvSpPr>
          <p:cNvPr id="8" name="Text 6"/>
          <p:cNvSpPr/>
          <p:nvPr/>
        </p:nvSpPr>
        <p:spPr>
          <a:xfrm>
            <a:off x="6510528" y="2121408"/>
            <a:ext cx="3108960" cy="237744"/>
          </a:xfrm>
          <a:prstGeom prst="rect">
            <a:avLst/>
          </a:prstGeom>
          <a:noFill/>
          <a:ln/>
        </p:spPr>
        <p:txBody>
          <a:bodyPr wrap="square" lIns="0" tIns="0" rIns="0" bIns="0" rtlCol="0" anchor="ctr"/>
          <a:lstStyle/>
          <a:p>
            <a:pPr indent="0" marL="0">
              <a:buNone/>
            </a:pPr>
            <a:r>
              <a:rPr lang="en-US" sz="950" b="1" spc="160" kern="0" dirty="0">
                <a:solidFill>
                  <a:srgbClr val="10069F"/>
                </a:solidFill>
                <a:latin typeface="Courier New" pitchFamily="34" charset="0"/>
                <a:ea typeface="Courier New" pitchFamily="34" charset="-122"/>
                <a:cs typeface="Courier New" pitchFamily="34" charset="-120"/>
              </a:rPr>
              <a:t>RESPONSE — SERVER TO BROWSER</a:t>
            </a:r>
            <a:endParaRPr lang="en-US" sz="950" dirty="0"/>
          </a:p>
        </p:txBody>
      </p:sp>
      <p:sp>
        <p:nvSpPr>
          <p:cNvPr id="9" name="Text 7"/>
          <p:cNvSpPr/>
          <p:nvPr/>
        </p:nvSpPr>
        <p:spPr>
          <a:xfrm>
            <a:off x="6510528" y="2487168"/>
            <a:ext cx="4754880" cy="2377440"/>
          </a:xfrm>
          <a:prstGeom prst="rect">
            <a:avLst/>
          </a:prstGeom>
          <a:noFill/>
          <a:ln/>
        </p:spPr>
        <p:txBody>
          <a:bodyPr wrap="square" lIns="0" tIns="0" rIns="0" bIns="0" rtlCol="0" anchor="ctr"/>
          <a:lstStyle/>
          <a:p>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HTTP/1.1 200 OK
</a:t>
            </a:r>
            <a:pPr indent="0" marL="0">
              <a:lnSpc>
                <a:spcPts val="2200"/>
              </a:lnSpc>
              <a:buNone/>
            </a:pPr>
            <a:r>
              <a:rPr lang="en-US" sz="1200" dirty="0">
                <a:solidFill>
                  <a:srgbClr val="10069F"/>
                </a:solidFill>
                <a:latin typeface="Courier New" pitchFamily="34" charset="0"/>
                <a:ea typeface="Courier New" pitchFamily="34" charset="-122"/>
                <a:cs typeface="Courier New" pitchFamily="34" charset="-120"/>
              </a:rPr>
              <a:t>Content-Type: </a:t>
            </a:r>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application/json
</a:t>
            </a:r>
            <a:pPr indent="0" marL="0">
              <a:lnSpc>
                <a:spcPts val="2200"/>
              </a:lnSpc>
              <a:buNone/>
            </a:pPr>
            <a:r>
              <a:rPr lang="en-US" sz="1200" dirty="0">
                <a:solidFill>
                  <a:srgbClr val="10069F"/>
                </a:solidFill>
                <a:latin typeface="Courier New" pitchFamily="34" charset="0"/>
                <a:ea typeface="Courier New" pitchFamily="34" charset="-122"/>
                <a:cs typeface="Courier New" pitchFamily="34" charset="-120"/>
              </a:rPr>
              <a:t>Content-Length: </a:t>
            </a:r>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51
</a:t>
            </a:r>
            <a:pPr indent="0" marL="0">
              <a:lnSpc>
                <a:spcPts val="2200"/>
              </a:lnSpc>
              <a:buNone/>
            </a:pPr>
            <a:r>
              <a:rPr lang="en-US" sz="1200" dirty="0">
                <a:solidFill>
                  <a:srgbClr val="63616F"/>
                </a:solidFill>
                <a:latin typeface="Courier New" pitchFamily="34" charset="0"/>
                <a:ea typeface="Courier New" pitchFamily="34" charset="-122"/>
                <a:cs typeface="Courier New" pitchFamily="34" charset="-120"/>
              </a:rPr>
              <a:t>↵ (blank line)
</a:t>
            </a:r>
            <a:pPr indent="0" marL="0">
              <a:lnSpc>
                <a:spcPts val="2200"/>
              </a:lnSpc>
              <a:buNone/>
            </a:pPr>
            <a:r>
              <a:rPr lang="en-US" sz="1200" dirty="0">
                <a:solidFill>
                  <a:srgbClr val="3F3F4D"/>
                </a:solidFill>
                <a:latin typeface="Courier New" pitchFamily="34" charset="0"/>
                <a:ea typeface="Courier New" pitchFamily="34" charset="-122"/>
                <a:cs typeface="Courier New" pitchFamily="34" charset="-120"/>
              </a:rPr>
              <a:t>{"sem":1,"courses":[ ... ]}</a:t>
            </a:r>
            <a:endParaRPr lang="en-US" sz="1200" dirty="0"/>
          </a:p>
        </p:txBody>
      </p:sp>
      <p:sp>
        <p:nvSpPr>
          <p:cNvPr id="10" name="Text 8"/>
          <p:cNvSpPr/>
          <p:nvPr/>
        </p:nvSpPr>
        <p:spPr>
          <a:xfrm>
            <a:off x="594360" y="5394960"/>
            <a:ext cx="10972800" cy="365760"/>
          </a:xfrm>
          <a:prstGeom prst="rect">
            <a:avLst/>
          </a:prstGeom>
          <a:noFill/>
          <a:ln/>
        </p:spPr>
        <p:txBody>
          <a:bodyPr wrap="square" lIns="0" tIns="0" rIns="0" bIns="0" rtlCol="0" anchor="ctr"/>
          <a:lstStyle/>
          <a:p>
            <a:pPr indent="0" marL="0">
              <a:buNone/>
            </a:pPr>
            <a:r>
              <a:rPr lang="en-US" sz="1400" dirty="0">
                <a:solidFill>
                  <a:srgbClr val="3F3F4D"/>
                </a:solidFill>
                <a:latin typeface="Arial" pitchFamily="34" charset="0"/>
                <a:ea typeface="Arial" pitchFamily="34" charset="-122"/>
                <a:cs typeface="Arial" pitchFamily="34" charset="-120"/>
              </a:rPr>
              <a:t>A first line, some Key: value headers, a blank line, then optionally a body. That is the whole format.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BREAKOUT 1  ·  30 MINUTES</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Read the wire</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Groups of three. Run the server. Answer these by looking, not by asking an AI.</a:t>
            </a:r>
            <a:endParaRPr lang="en-US" sz="1400" dirty="0"/>
          </a:p>
        </p:txBody>
      </p:sp>
      <p:sp>
        <p:nvSpPr>
          <p:cNvPr id="5" name="Shape 3"/>
          <p:cNvSpPr/>
          <p:nvPr/>
        </p:nvSpPr>
        <p:spPr>
          <a:xfrm>
            <a:off x="594360" y="2331720"/>
            <a:ext cx="3474720" cy="914400"/>
          </a:xfrm>
          <a:prstGeom prst="roundRect">
            <a:avLst>
              <a:gd name="adj" fmla="val 6000"/>
            </a:avLst>
          </a:prstGeom>
          <a:solidFill>
            <a:srgbClr val="EFEFF5"/>
          </a:solidFill>
          <a:ln w="9525">
            <a:solidFill>
              <a:srgbClr val="C9C7C2"/>
            </a:solidFill>
            <a:prstDash val="solid"/>
          </a:ln>
        </p:spPr>
      </p:sp>
      <p:sp>
        <p:nvSpPr>
          <p:cNvPr id="6" name="Text 4"/>
          <p:cNvSpPr/>
          <p:nvPr/>
        </p:nvSpPr>
        <p:spPr>
          <a:xfrm>
            <a:off x="822960" y="2468880"/>
            <a:ext cx="3017520" cy="274320"/>
          </a:xfrm>
          <a:prstGeom prst="rect">
            <a:avLst/>
          </a:prstGeom>
          <a:noFill/>
          <a:ln/>
        </p:spPr>
        <p:txBody>
          <a:bodyPr wrap="square" lIns="0" tIns="0" rIns="0" bIns="0" rtlCol="0" anchor="ctr"/>
          <a:lstStyle/>
          <a:p>
            <a:pPr indent="0" marL="0">
              <a:buNone/>
            </a:pPr>
            <a:r>
              <a:rPr lang="en-US" sz="1100" b="1" spc="120" kern="0" dirty="0">
                <a:solidFill>
                  <a:srgbClr val="C2410C"/>
                </a:solidFill>
                <a:latin typeface="Courier New" pitchFamily="34" charset="0"/>
                <a:ea typeface="Courier New" pitchFamily="34" charset="-122"/>
                <a:cs typeface="Courier New" pitchFamily="34" charset="-120"/>
              </a:rPr>
              <a:t>Driver</a:t>
            </a:r>
            <a:endParaRPr lang="en-US" sz="1100" dirty="0"/>
          </a:p>
        </p:txBody>
      </p:sp>
      <p:sp>
        <p:nvSpPr>
          <p:cNvPr id="7" name="Text 5"/>
          <p:cNvSpPr/>
          <p:nvPr/>
        </p:nvSpPr>
        <p:spPr>
          <a:xfrm>
            <a:off x="822960" y="2761488"/>
            <a:ext cx="3017520" cy="402336"/>
          </a:xfrm>
          <a:prstGeom prst="rect">
            <a:avLst/>
          </a:prstGeom>
          <a:noFill/>
          <a:ln/>
        </p:spPr>
        <p:txBody>
          <a:bodyPr wrap="square" lIns="0" tIns="0" rIns="0" bIns="0" rtlCol="0" anchor="ctr"/>
          <a:lstStyle/>
          <a:p>
            <a:pPr indent="0" marL="0">
              <a:lnSpc>
                <a:spcPts val="1400"/>
              </a:lnSpc>
              <a:buNone/>
            </a:pPr>
            <a:r>
              <a:rPr lang="en-US" sz="1150" dirty="0">
                <a:solidFill>
                  <a:srgbClr val="3F3F4D"/>
                </a:solidFill>
                <a:latin typeface="Arial" pitchFamily="34" charset="0"/>
                <a:ea typeface="Arial" pitchFamily="34" charset="-122"/>
                <a:cs typeface="Arial" pitchFamily="34" charset="-120"/>
              </a:rPr>
              <a:t>Types. Does not decide what to type.</a:t>
            </a:r>
            <a:endParaRPr lang="en-US" sz="1150" dirty="0"/>
          </a:p>
        </p:txBody>
      </p:sp>
      <p:sp>
        <p:nvSpPr>
          <p:cNvPr id="8" name="Shape 6"/>
          <p:cNvSpPr/>
          <p:nvPr/>
        </p:nvSpPr>
        <p:spPr>
          <a:xfrm>
            <a:off x="4343400" y="2331720"/>
            <a:ext cx="3474720" cy="914400"/>
          </a:xfrm>
          <a:prstGeom prst="roundRect">
            <a:avLst>
              <a:gd name="adj" fmla="val 6000"/>
            </a:avLst>
          </a:prstGeom>
          <a:solidFill>
            <a:srgbClr val="EFEFF5"/>
          </a:solidFill>
          <a:ln w="9525">
            <a:solidFill>
              <a:srgbClr val="C9C7C2"/>
            </a:solidFill>
            <a:prstDash val="solid"/>
          </a:ln>
        </p:spPr>
      </p:sp>
      <p:sp>
        <p:nvSpPr>
          <p:cNvPr id="9" name="Text 7"/>
          <p:cNvSpPr/>
          <p:nvPr/>
        </p:nvSpPr>
        <p:spPr>
          <a:xfrm>
            <a:off x="4572000" y="2468880"/>
            <a:ext cx="3017520" cy="274320"/>
          </a:xfrm>
          <a:prstGeom prst="rect">
            <a:avLst/>
          </a:prstGeom>
          <a:noFill/>
          <a:ln/>
        </p:spPr>
        <p:txBody>
          <a:bodyPr wrap="square" lIns="0" tIns="0" rIns="0" bIns="0" rtlCol="0" anchor="ctr"/>
          <a:lstStyle/>
          <a:p>
            <a:pPr indent="0" marL="0">
              <a:buNone/>
            </a:pPr>
            <a:r>
              <a:rPr lang="en-US" sz="1100" b="1" spc="120" kern="0" dirty="0">
                <a:solidFill>
                  <a:srgbClr val="C2410C"/>
                </a:solidFill>
                <a:latin typeface="Courier New" pitchFamily="34" charset="0"/>
                <a:ea typeface="Courier New" pitchFamily="34" charset="-122"/>
                <a:cs typeface="Courier New" pitchFamily="34" charset="-120"/>
              </a:rPr>
              <a:t>Prober</a:t>
            </a:r>
            <a:endParaRPr lang="en-US" sz="1100" dirty="0"/>
          </a:p>
        </p:txBody>
      </p:sp>
      <p:sp>
        <p:nvSpPr>
          <p:cNvPr id="10" name="Text 8"/>
          <p:cNvSpPr/>
          <p:nvPr/>
        </p:nvSpPr>
        <p:spPr>
          <a:xfrm>
            <a:off x="4572000" y="2761488"/>
            <a:ext cx="3017520" cy="402336"/>
          </a:xfrm>
          <a:prstGeom prst="rect">
            <a:avLst/>
          </a:prstGeom>
          <a:noFill/>
          <a:ln/>
        </p:spPr>
        <p:txBody>
          <a:bodyPr wrap="square" lIns="0" tIns="0" rIns="0" bIns="0" rtlCol="0" anchor="ctr"/>
          <a:lstStyle/>
          <a:p>
            <a:pPr indent="0" marL="0">
              <a:lnSpc>
                <a:spcPts val="1400"/>
              </a:lnSpc>
              <a:buNone/>
            </a:pPr>
            <a:r>
              <a:rPr lang="en-US" sz="1150" dirty="0">
                <a:solidFill>
                  <a:srgbClr val="3F3F4D"/>
                </a:solidFill>
                <a:latin typeface="Arial" pitchFamily="34" charset="0"/>
                <a:ea typeface="Arial" pitchFamily="34" charset="-122"/>
                <a:cs typeface="Arial" pitchFamily="34" charset="-120"/>
              </a:rPr>
              <a:t>Decides what to try. Hands off the keyboard.</a:t>
            </a:r>
            <a:endParaRPr lang="en-US" sz="1150" dirty="0"/>
          </a:p>
        </p:txBody>
      </p:sp>
      <p:sp>
        <p:nvSpPr>
          <p:cNvPr id="11" name="Shape 9"/>
          <p:cNvSpPr/>
          <p:nvPr/>
        </p:nvSpPr>
        <p:spPr>
          <a:xfrm>
            <a:off x="8092440" y="2331720"/>
            <a:ext cx="3474720" cy="914400"/>
          </a:xfrm>
          <a:prstGeom prst="roundRect">
            <a:avLst>
              <a:gd name="adj" fmla="val 6000"/>
            </a:avLst>
          </a:prstGeom>
          <a:solidFill>
            <a:srgbClr val="EFEFF5"/>
          </a:solidFill>
          <a:ln w="9525">
            <a:solidFill>
              <a:srgbClr val="C9C7C2"/>
            </a:solidFill>
            <a:prstDash val="solid"/>
          </a:ln>
        </p:spPr>
      </p:sp>
      <p:sp>
        <p:nvSpPr>
          <p:cNvPr id="12" name="Text 10"/>
          <p:cNvSpPr/>
          <p:nvPr/>
        </p:nvSpPr>
        <p:spPr>
          <a:xfrm>
            <a:off x="8321040" y="2468880"/>
            <a:ext cx="3017520" cy="274320"/>
          </a:xfrm>
          <a:prstGeom prst="rect">
            <a:avLst/>
          </a:prstGeom>
          <a:noFill/>
          <a:ln/>
        </p:spPr>
        <p:txBody>
          <a:bodyPr wrap="square" lIns="0" tIns="0" rIns="0" bIns="0" rtlCol="0" anchor="ctr"/>
          <a:lstStyle/>
          <a:p>
            <a:pPr indent="0" marL="0">
              <a:buNone/>
            </a:pPr>
            <a:r>
              <a:rPr lang="en-US" sz="1100" b="1" spc="120" kern="0" dirty="0">
                <a:solidFill>
                  <a:srgbClr val="C2410C"/>
                </a:solidFill>
                <a:latin typeface="Courier New" pitchFamily="34" charset="0"/>
                <a:ea typeface="Courier New" pitchFamily="34" charset="-122"/>
                <a:cs typeface="Courier New" pitchFamily="34" charset="-120"/>
              </a:rPr>
              <a:t>Scribe</a:t>
            </a:r>
            <a:endParaRPr lang="en-US" sz="1100" dirty="0"/>
          </a:p>
        </p:txBody>
      </p:sp>
      <p:sp>
        <p:nvSpPr>
          <p:cNvPr id="13" name="Text 11"/>
          <p:cNvSpPr/>
          <p:nvPr/>
        </p:nvSpPr>
        <p:spPr>
          <a:xfrm>
            <a:off x="8321040" y="2761488"/>
            <a:ext cx="3017520" cy="402336"/>
          </a:xfrm>
          <a:prstGeom prst="rect">
            <a:avLst/>
          </a:prstGeom>
          <a:noFill/>
          <a:ln/>
        </p:spPr>
        <p:txBody>
          <a:bodyPr wrap="square" lIns="0" tIns="0" rIns="0" bIns="0" rtlCol="0" anchor="ctr"/>
          <a:lstStyle/>
          <a:p>
            <a:pPr indent="0" marL="0">
              <a:lnSpc>
                <a:spcPts val="1400"/>
              </a:lnSpc>
              <a:buNone/>
            </a:pPr>
            <a:r>
              <a:rPr lang="en-US" sz="1150" dirty="0">
                <a:solidFill>
                  <a:srgbClr val="3F3F4D"/>
                </a:solidFill>
                <a:latin typeface="Arial" pitchFamily="34" charset="0"/>
                <a:ea typeface="Arial" pitchFamily="34" charset="-122"/>
                <a:cs typeface="Arial" pitchFamily="34" charset="-120"/>
              </a:rPr>
              <a:t>Records what surprised you. Owns the report.</a:t>
            </a:r>
            <a:endParaRPr lang="en-US" sz="1150" dirty="0"/>
          </a:p>
        </p:txBody>
      </p:sp>
      <p:sp>
        <p:nvSpPr>
          <p:cNvPr id="14" name="Text 12"/>
          <p:cNvSpPr/>
          <p:nvPr/>
        </p:nvSpPr>
        <p:spPr>
          <a:xfrm>
            <a:off x="731520" y="3611880"/>
            <a:ext cx="10698480" cy="17373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0A0A14"/>
                </a:solidFill>
                <a:latin typeface="Arial" pitchFamily="34" charset="0"/>
                <a:ea typeface="Arial" pitchFamily="34" charset="-122"/>
                <a:cs typeface="Arial" pitchFamily="34" charset="-120"/>
              </a:rPr>
              <a:t>Count the headers curl sends, then the browser. Why the difference?</a:t>
            </a:r>
            <a:endParaRPr lang="en-US" sz="1400" dirty="0"/>
          </a:p>
          <a:p>
            <a:pPr marL="342900" indent="-342900">
              <a:spcAft>
                <a:spcPts val="800"/>
              </a:spcAft>
              <a:buSzPct val="100000"/>
              <a:buChar char="•"/>
            </a:pPr>
            <a:r>
              <a:rPr lang="en-US" sz="1400" dirty="0">
                <a:solidFill>
                  <a:srgbClr val="0A0A14"/>
                </a:solidFill>
                <a:latin typeface="Arial" pitchFamily="34" charset="0"/>
                <a:ea typeface="Arial" pitchFamily="34" charset="-122"/>
                <a:cs typeface="Arial" pitchFamily="34" charset="-120"/>
              </a:rPr>
              <a:t>Force a 404. Does Content-Length match the body you counted?</a:t>
            </a:r>
            <a:endParaRPr lang="en-US" sz="1400" dirty="0"/>
          </a:p>
          <a:p>
            <a:pPr marL="342900" indent="-342900">
              <a:spcAft>
                <a:spcPts val="800"/>
              </a:spcAft>
              <a:buSzPct val="100000"/>
              <a:buChar char="•"/>
            </a:pPr>
            <a:r>
              <a:rPr lang="en-US" sz="1400" dirty="0">
                <a:solidFill>
                  <a:srgbClr val="0A0A14"/>
                </a:solidFill>
                <a:latin typeface="Arial" pitchFamily="34" charset="0"/>
                <a:ea typeface="Arial" pitchFamily="34" charset="-122"/>
                <a:cs typeface="Arial" pitchFamily="34" charset="-120"/>
              </a:rPr>
              <a:t>POST a body. Where does the blank line fall in the server log?</a:t>
            </a:r>
            <a:endParaRPr lang="en-US" sz="1400" dirty="0"/>
          </a:p>
          <a:p>
            <a:pPr marL="342900" indent="-342900">
              <a:spcAft>
                <a:spcPts val="800"/>
              </a:spcAft>
              <a:buSzPct val="100000"/>
              <a:buChar char="•"/>
            </a:pPr>
            <a:r>
              <a:rPr lang="en-US" sz="1400" dirty="0">
                <a:solidFill>
                  <a:srgbClr val="0A0A14"/>
                </a:solidFill>
                <a:latin typeface="Arial" pitchFamily="34" charset="0"/>
                <a:ea typeface="Arial" pitchFamily="34" charset="-122"/>
                <a:cs typeface="Arial" pitchFamily="34" charset="-120"/>
              </a:rPr>
              <a:t>Hit /slow from two terminals at once. Time the second one.</a:t>
            </a:r>
            <a:endParaRPr lang="en-US" sz="1400" dirty="0"/>
          </a:p>
          <a:p>
            <a:pPr marL="342900" indent="-342900">
              <a:spcAft>
                <a:spcPts val="800"/>
              </a:spcAft>
              <a:buSzPct val="100000"/>
              <a:buChar char="•"/>
            </a:pPr>
            <a:r>
              <a:rPr lang="en-US" sz="1400" dirty="0">
                <a:solidFill>
                  <a:srgbClr val="0A0A14"/>
                </a:solidFill>
                <a:latin typeface="Arial" pitchFamily="34" charset="0"/>
                <a:ea typeface="Arial" pitchFamily="34" charset="-122"/>
                <a:cs typeface="Arial" pitchFamily="34" charset="-120"/>
              </a:rPr>
              <a:t>Type a request by hand with nc. Which header can you not omit?</a:t>
            </a:r>
            <a:endParaRPr lang="en-US" sz="1400" dirty="0"/>
          </a:p>
        </p:txBody>
      </p:sp>
      <p:sp>
        <p:nvSpPr>
          <p:cNvPr id="15" name="Text 13"/>
          <p:cNvSpPr/>
          <p:nvPr/>
        </p:nvSpPr>
        <p:spPr>
          <a:xfrm>
            <a:off x="594360" y="5532120"/>
            <a:ext cx="10972800" cy="365760"/>
          </a:xfrm>
          <a:prstGeom prst="rect">
            <a:avLst/>
          </a:prstGeom>
          <a:noFill/>
          <a:ln/>
        </p:spPr>
        <p:txBody>
          <a:bodyPr wrap="square" lIns="0" tIns="0" rIns="0" bIns="0" rtlCol="0" anchor="ctr"/>
          <a:lstStyle/>
          <a:p>
            <a:pPr indent="0" marL="0">
              <a:buNone/>
            </a:pPr>
            <a:r>
              <a:rPr lang="en-US" sz="1250" i="1" dirty="0">
                <a:solidFill>
                  <a:srgbClr val="10069F"/>
                </a:solidFill>
                <a:latin typeface="Arial" pitchFamily="34" charset="0"/>
                <a:ea typeface="Arial" pitchFamily="34" charset="-122"/>
                <a:cs typeface="Arial" pitchFamily="34" charset="-120"/>
              </a:rPr>
              <a:t>Report back: 90 seconds, standing, no notes, no screen. One surprise per group, no repeats.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377440"/>
            <a:ext cx="3657600" cy="365760"/>
          </a:xfrm>
          <a:prstGeom prst="rect">
            <a:avLst/>
          </a:prstGeom>
          <a:noFill/>
          <a:ln/>
        </p:spPr>
        <p:txBody>
          <a:bodyPr wrap="square" lIns="0" tIns="0" rIns="0" bIns="0" rtlCol="0" anchor="ctr"/>
          <a:lstStyle/>
          <a:p>
            <a:pPr indent="0" marL="0">
              <a:buNone/>
            </a:pPr>
            <a:r>
              <a:rPr lang="en-US" sz="1300" b="1" spc="260" kern="0" dirty="0">
                <a:solidFill>
                  <a:srgbClr val="C2410C"/>
                </a:solidFill>
                <a:latin typeface="Courier New" pitchFamily="34" charset="0"/>
                <a:ea typeface="Courier New" pitchFamily="34" charset="-122"/>
                <a:cs typeface="Courier New" pitchFamily="34" charset="-120"/>
              </a:rPr>
              <a:t>PART 3</a:t>
            </a:r>
            <a:endParaRPr lang="en-US" sz="1300" dirty="0"/>
          </a:p>
        </p:txBody>
      </p:sp>
      <p:sp>
        <p:nvSpPr>
          <p:cNvPr id="3" name="Text 1"/>
          <p:cNvSpPr/>
          <p:nvPr/>
        </p:nvSpPr>
        <p:spPr>
          <a:xfrm>
            <a:off x="594360" y="2788920"/>
            <a:ext cx="9144000" cy="914400"/>
          </a:xfrm>
          <a:prstGeom prst="rect">
            <a:avLst/>
          </a:prstGeom>
          <a:noFill/>
          <a:ln/>
        </p:spPr>
        <p:txBody>
          <a:bodyPr wrap="square" lIns="0" tIns="0" rIns="0" bIns="0" rtlCol="0" anchor="ctr"/>
          <a:lstStyle/>
          <a:p>
            <a:pPr indent="0" marL="0">
              <a:buNone/>
            </a:pPr>
            <a:r>
              <a:rPr lang="en-US" sz="4400" b="1" dirty="0">
                <a:solidFill>
                  <a:srgbClr val="0A0A14"/>
                </a:solidFill>
                <a:latin typeface="Arial" pitchFamily="34" charset="0"/>
                <a:ea typeface="Arial" pitchFamily="34" charset="-122"/>
                <a:cs typeface="Arial" pitchFamily="34" charset="-120"/>
              </a:rPr>
              <a:t>Verbs and REST</a:t>
            </a:r>
            <a:endParaRPr lang="en-US" sz="4400" dirty="0"/>
          </a:p>
        </p:txBody>
      </p:sp>
      <p:sp>
        <p:nvSpPr>
          <p:cNvPr id="4" name="Text 2"/>
          <p:cNvSpPr/>
          <p:nvPr/>
        </p:nvSpPr>
        <p:spPr>
          <a:xfrm>
            <a:off x="594360" y="3794760"/>
            <a:ext cx="9144000" cy="365760"/>
          </a:xfrm>
          <a:prstGeom prst="rect">
            <a:avLst/>
          </a:prstGeom>
          <a:noFill/>
          <a:ln/>
        </p:spPr>
        <p:txBody>
          <a:bodyPr wrap="square" lIns="0" tIns="0" rIns="0" bIns="0" rtlCol="0" anchor="ctr"/>
          <a:lstStyle/>
          <a:p>
            <a:pPr indent="0" marL="0">
              <a:buNone/>
            </a:pPr>
            <a:r>
              <a:rPr lang="en-US" sz="1600" dirty="0">
                <a:solidFill>
                  <a:srgbClr val="3F3F4D"/>
                </a:solidFill>
                <a:latin typeface="Arial" pitchFamily="34" charset="0"/>
                <a:ea typeface="Arial" pitchFamily="34" charset="-122"/>
                <a:cs typeface="Arial" pitchFamily="34" charset="-120"/>
              </a:rPr>
              <a:t>The verb says what you want done. The URL says what to do it to.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REFERENCE — LEAVE THIS UP</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The five verbs, and the two promises that matter</a:t>
            </a:r>
            <a:endParaRPr lang="en-US" sz="3200" dirty="0"/>
          </a:p>
        </p:txBody>
      </p:sp>
      <p:sp>
        <p:nvSpPr>
          <p:cNvPr id="4" name="Text 2"/>
          <p:cNvSpPr/>
          <p:nvPr/>
        </p:nvSpPr>
        <p:spPr>
          <a:xfrm>
            <a:off x="594360" y="1600200"/>
            <a:ext cx="10972800" cy="329184"/>
          </a:xfrm>
          <a:prstGeom prst="rect">
            <a:avLst/>
          </a:prstGeom>
          <a:noFill/>
          <a:ln/>
        </p:spPr>
        <p:txBody>
          <a:bodyPr wrap="square" lIns="0" tIns="0" rIns="0" bIns="0" rtlCol="0" anchor="ctr"/>
          <a:lstStyle/>
          <a:p>
            <a:pPr indent="0" marL="0">
              <a:buNone/>
            </a:pPr>
            <a:r>
              <a:rPr lang="en-US" sz="1350" dirty="0">
                <a:solidFill>
                  <a:srgbClr val="3F3F4D"/>
                </a:solidFill>
                <a:latin typeface="Arial" pitchFamily="34" charset="0"/>
                <a:ea typeface="Arial" pitchFamily="34" charset="-122"/>
                <a:cs typeface="Arial" pitchFamily="34" charset="-120"/>
              </a:rPr>
              <a:t>Safe = changes nothing.        Idempotent = doing it twice is the same as doing it once.</a:t>
            </a:r>
            <a:endParaRPr lang="en-US" sz="1350" dirty="0"/>
          </a:p>
        </p:txBody>
      </p:sp>
      <p:sp>
        <p:nvSpPr>
          <p:cNvPr id="5" name="Text 3"/>
          <p:cNvSpPr/>
          <p:nvPr/>
        </p:nvSpPr>
        <p:spPr>
          <a:xfrm>
            <a:off x="731520" y="2194560"/>
            <a:ext cx="18288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VERB</a:t>
            </a:r>
            <a:endParaRPr lang="en-US" sz="950" dirty="0"/>
          </a:p>
        </p:txBody>
      </p:sp>
      <p:sp>
        <p:nvSpPr>
          <p:cNvPr id="6" name="Text 4"/>
          <p:cNvSpPr/>
          <p:nvPr/>
        </p:nvSpPr>
        <p:spPr>
          <a:xfrm>
            <a:off x="2194560" y="2194560"/>
            <a:ext cx="18288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MEANS</a:t>
            </a:r>
            <a:endParaRPr lang="en-US" sz="950" dirty="0"/>
          </a:p>
        </p:txBody>
      </p:sp>
      <p:sp>
        <p:nvSpPr>
          <p:cNvPr id="7" name="Text 5"/>
          <p:cNvSpPr/>
          <p:nvPr/>
        </p:nvSpPr>
        <p:spPr>
          <a:xfrm>
            <a:off x="5074920" y="2194560"/>
            <a:ext cx="18288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SAFE</a:t>
            </a:r>
            <a:endParaRPr lang="en-US" sz="950" dirty="0"/>
          </a:p>
        </p:txBody>
      </p:sp>
      <p:sp>
        <p:nvSpPr>
          <p:cNvPr id="8" name="Text 6"/>
          <p:cNvSpPr/>
          <p:nvPr/>
        </p:nvSpPr>
        <p:spPr>
          <a:xfrm>
            <a:off x="6309360" y="2194560"/>
            <a:ext cx="18288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IDEMPOTENT</a:t>
            </a:r>
            <a:endParaRPr lang="en-US" sz="950" dirty="0"/>
          </a:p>
        </p:txBody>
      </p:sp>
      <p:sp>
        <p:nvSpPr>
          <p:cNvPr id="9" name="Text 7"/>
          <p:cNvSpPr/>
          <p:nvPr/>
        </p:nvSpPr>
        <p:spPr>
          <a:xfrm>
            <a:off x="8046720" y="2194560"/>
            <a:ext cx="18288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SEND IT TWICE</a:t>
            </a:r>
            <a:endParaRPr lang="en-US" sz="950" dirty="0"/>
          </a:p>
        </p:txBody>
      </p:sp>
      <p:sp>
        <p:nvSpPr>
          <p:cNvPr id="10" name="Shape 8"/>
          <p:cNvSpPr/>
          <p:nvPr/>
        </p:nvSpPr>
        <p:spPr>
          <a:xfrm>
            <a:off x="594360" y="2487168"/>
            <a:ext cx="10972800" cy="18288"/>
          </a:xfrm>
          <a:prstGeom prst="rect">
            <a:avLst/>
          </a:prstGeom>
          <a:solidFill>
            <a:srgbClr val="C9C7C2"/>
          </a:solidFill>
          <a:ln w="12700">
            <a:solidFill>
              <a:srgbClr val="C9C7C2"/>
            </a:solidFill>
            <a:prstDash val="solid"/>
          </a:ln>
        </p:spPr>
      </p:sp>
      <p:sp>
        <p:nvSpPr>
          <p:cNvPr id="11" name="Text 9"/>
          <p:cNvSpPr/>
          <p:nvPr/>
        </p:nvSpPr>
        <p:spPr>
          <a:xfrm>
            <a:off x="731520" y="2706624"/>
            <a:ext cx="1463040" cy="329184"/>
          </a:xfrm>
          <a:prstGeom prst="rect">
            <a:avLst/>
          </a:prstGeom>
          <a:noFill/>
          <a:ln/>
        </p:spPr>
        <p:txBody>
          <a:bodyPr wrap="square" lIns="0" tIns="0" rIns="0" bIns="0" rtlCol="0" anchor="ctr"/>
          <a:lstStyle/>
          <a:p>
            <a:pPr indent="0" marL="0">
              <a:buNone/>
            </a:pPr>
            <a:r>
              <a:rPr lang="en-US" sz="1400" b="1" dirty="0">
                <a:solidFill>
                  <a:srgbClr val="0A0A14"/>
                </a:solidFill>
                <a:latin typeface="Courier New" pitchFamily="34" charset="0"/>
                <a:ea typeface="Courier New" pitchFamily="34" charset="-122"/>
                <a:cs typeface="Courier New" pitchFamily="34" charset="-120"/>
              </a:rPr>
              <a:t>GET</a:t>
            </a:r>
            <a:endParaRPr lang="en-US" sz="1400" dirty="0"/>
          </a:p>
        </p:txBody>
      </p:sp>
      <p:sp>
        <p:nvSpPr>
          <p:cNvPr id="12" name="Text 10"/>
          <p:cNvSpPr/>
          <p:nvPr/>
        </p:nvSpPr>
        <p:spPr>
          <a:xfrm>
            <a:off x="2194560" y="2724912"/>
            <a:ext cx="274320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Fetch it</a:t>
            </a:r>
            <a:endParaRPr lang="en-US" sz="1300" dirty="0"/>
          </a:p>
        </p:txBody>
      </p:sp>
      <p:sp>
        <p:nvSpPr>
          <p:cNvPr id="13" name="Text 11"/>
          <p:cNvSpPr/>
          <p:nvPr/>
        </p:nvSpPr>
        <p:spPr>
          <a:xfrm>
            <a:off x="5074920" y="2724912"/>
            <a:ext cx="1097280" cy="310896"/>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yes</a:t>
            </a:r>
            <a:endParaRPr lang="en-US" sz="1200" dirty="0"/>
          </a:p>
        </p:txBody>
      </p:sp>
      <p:sp>
        <p:nvSpPr>
          <p:cNvPr id="14" name="Text 12"/>
          <p:cNvSpPr/>
          <p:nvPr/>
        </p:nvSpPr>
        <p:spPr>
          <a:xfrm>
            <a:off x="6309360" y="2724912"/>
            <a:ext cx="1463040" cy="310896"/>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yes</a:t>
            </a:r>
            <a:endParaRPr lang="en-US" sz="1200" dirty="0"/>
          </a:p>
        </p:txBody>
      </p:sp>
      <p:sp>
        <p:nvSpPr>
          <p:cNvPr id="15" name="Text 13"/>
          <p:cNvSpPr/>
          <p:nvPr/>
        </p:nvSpPr>
        <p:spPr>
          <a:xfrm>
            <a:off x="8046720" y="2724912"/>
            <a:ext cx="3657600" cy="310896"/>
          </a:xfrm>
          <a:prstGeom prst="rect">
            <a:avLst/>
          </a:prstGeom>
          <a:noFill/>
          <a:ln/>
        </p:spPr>
        <p:txBody>
          <a:bodyPr wrap="square" lIns="0" tIns="0" rIns="0" bIns="0" rtlCol="0" anchor="ctr"/>
          <a:lstStyle/>
          <a:p>
            <a:pPr indent="0" marL="0">
              <a:buNone/>
            </a:pPr>
            <a:r>
              <a:rPr lang="en-US" sz="1200" dirty="0">
                <a:solidFill>
                  <a:srgbClr val="63616F"/>
                </a:solidFill>
                <a:latin typeface="Arial" pitchFamily="34" charset="0"/>
                <a:ea typeface="Arial" pitchFamily="34" charset="-122"/>
                <a:cs typeface="Arial" pitchFamily="34" charset="-120"/>
              </a:rPr>
              <a:t>Same answer. Nothing changed.</a:t>
            </a:r>
            <a:endParaRPr lang="en-US" sz="1200" dirty="0"/>
          </a:p>
        </p:txBody>
      </p:sp>
      <p:sp>
        <p:nvSpPr>
          <p:cNvPr id="16" name="Shape 14"/>
          <p:cNvSpPr/>
          <p:nvPr/>
        </p:nvSpPr>
        <p:spPr>
          <a:xfrm>
            <a:off x="594360" y="3218688"/>
            <a:ext cx="10972800" cy="566928"/>
          </a:xfrm>
          <a:prstGeom prst="roundRect">
            <a:avLst>
              <a:gd name="adj" fmla="val 9677"/>
            </a:avLst>
          </a:prstGeom>
          <a:solidFill>
            <a:srgbClr val="EFEFF5"/>
          </a:solidFill>
          <a:ln w="9525">
            <a:solidFill>
              <a:srgbClr val="C9C7C2"/>
            </a:solidFill>
            <a:prstDash val="solid"/>
          </a:ln>
        </p:spPr>
      </p:sp>
      <p:sp>
        <p:nvSpPr>
          <p:cNvPr id="17" name="Text 15"/>
          <p:cNvSpPr/>
          <p:nvPr/>
        </p:nvSpPr>
        <p:spPr>
          <a:xfrm>
            <a:off x="731520" y="3328416"/>
            <a:ext cx="1463040" cy="329184"/>
          </a:xfrm>
          <a:prstGeom prst="rect">
            <a:avLst/>
          </a:prstGeom>
          <a:noFill/>
          <a:ln/>
        </p:spPr>
        <p:txBody>
          <a:bodyPr wrap="square" lIns="0" tIns="0" rIns="0" bIns="0" rtlCol="0" anchor="ctr"/>
          <a:lstStyle/>
          <a:p>
            <a:pPr indent="0" marL="0">
              <a:buNone/>
            </a:pPr>
            <a:r>
              <a:rPr lang="en-US" sz="1400" b="1" dirty="0">
                <a:solidFill>
                  <a:srgbClr val="C2410C"/>
                </a:solidFill>
                <a:latin typeface="Courier New" pitchFamily="34" charset="0"/>
                <a:ea typeface="Courier New" pitchFamily="34" charset="-122"/>
                <a:cs typeface="Courier New" pitchFamily="34" charset="-120"/>
              </a:rPr>
              <a:t>POST</a:t>
            </a:r>
            <a:endParaRPr lang="en-US" sz="1400" dirty="0"/>
          </a:p>
        </p:txBody>
      </p:sp>
      <p:sp>
        <p:nvSpPr>
          <p:cNvPr id="18" name="Text 16"/>
          <p:cNvSpPr/>
          <p:nvPr/>
        </p:nvSpPr>
        <p:spPr>
          <a:xfrm>
            <a:off x="2194560" y="3346704"/>
            <a:ext cx="274320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Create it</a:t>
            </a:r>
            <a:endParaRPr lang="en-US" sz="1300" dirty="0"/>
          </a:p>
        </p:txBody>
      </p:sp>
      <p:sp>
        <p:nvSpPr>
          <p:cNvPr id="19" name="Text 17"/>
          <p:cNvSpPr/>
          <p:nvPr/>
        </p:nvSpPr>
        <p:spPr>
          <a:xfrm>
            <a:off x="5074920" y="3346704"/>
            <a:ext cx="1097280" cy="310896"/>
          </a:xfrm>
          <a:prstGeom prst="rect">
            <a:avLst/>
          </a:prstGeom>
          <a:noFill/>
          <a:ln/>
        </p:spPr>
        <p:txBody>
          <a:bodyPr wrap="square" lIns="0" tIns="0" rIns="0" bIns="0" rtlCol="0" anchor="ctr"/>
          <a:lstStyle/>
          <a:p>
            <a:pPr indent="0" marL="0">
              <a:buNone/>
            </a:pPr>
            <a:r>
              <a:rPr lang="en-US" sz="1200" dirty="0">
                <a:solidFill>
                  <a:srgbClr val="B3121B"/>
                </a:solidFill>
                <a:latin typeface="Courier New" pitchFamily="34" charset="0"/>
                <a:ea typeface="Courier New" pitchFamily="34" charset="-122"/>
                <a:cs typeface="Courier New" pitchFamily="34" charset="-120"/>
              </a:rPr>
              <a:t>no</a:t>
            </a:r>
            <a:endParaRPr lang="en-US" sz="1200" dirty="0"/>
          </a:p>
        </p:txBody>
      </p:sp>
      <p:sp>
        <p:nvSpPr>
          <p:cNvPr id="20" name="Text 18"/>
          <p:cNvSpPr/>
          <p:nvPr/>
        </p:nvSpPr>
        <p:spPr>
          <a:xfrm>
            <a:off x="6309360" y="3346704"/>
            <a:ext cx="1463040" cy="310896"/>
          </a:xfrm>
          <a:prstGeom prst="rect">
            <a:avLst/>
          </a:prstGeom>
          <a:noFill/>
          <a:ln/>
        </p:spPr>
        <p:txBody>
          <a:bodyPr wrap="square" lIns="0" tIns="0" rIns="0" bIns="0" rtlCol="0" anchor="ctr"/>
          <a:lstStyle/>
          <a:p>
            <a:pPr indent="0" marL="0">
              <a:buNone/>
            </a:pPr>
            <a:r>
              <a:rPr lang="en-US" sz="1200" dirty="0">
                <a:solidFill>
                  <a:srgbClr val="B3121B"/>
                </a:solidFill>
                <a:latin typeface="Courier New" pitchFamily="34" charset="0"/>
                <a:ea typeface="Courier New" pitchFamily="34" charset="-122"/>
                <a:cs typeface="Courier New" pitchFamily="34" charset="-120"/>
              </a:rPr>
              <a:t>no</a:t>
            </a:r>
            <a:endParaRPr lang="en-US" sz="1200" dirty="0"/>
          </a:p>
        </p:txBody>
      </p:sp>
      <p:sp>
        <p:nvSpPr>
          <p:cNvPr id="21" name="Text 19"/>
          <p:cNvSpPr/>
          <p:nvPr/>
        </p:nvSpPr>
        <p:spPr>
          <a:xfrm>
            <a:off x="8046720" y="3346704"/>
            <a:ext cx="3657600" cy="310896"/>
          </a:xfrm>
          <a:prstGeom prst="rect">
            <a:avLst/>
          </a:prstGeom>
          <a:noFill/>
          <a:ln/>
        </p:spPr>
        <p:txBody>
          <a:bodyPr wrap="square" lIns="0" tIns="0" rIns="0" bIns="0" rtlCol="0" anchor="ctr"/>
          <a:lstStyle/>
          <a:p>
            <a:pPr indent="0" marL="0">
              <a:buNone/>
            </a:pPr>
            <a:r>
              <a:rPr lang="en-US" sz="1200" dirty="0">
                <a:solidFill>
                  <a:srgbClr val="0A0A14"/>
                </a:solidFill>
                <a:latin typeface="Arial" pitchFamily="34" charset="0"/>
                <a:ea typeface="Arial" pitchFamily="34" charset="-122"/>
                <a:cs typeface="Arial" pitchFamily="34" charset="-120"/>
              </a:rPr>
              <a:t>Two records. This is the refresh bug.</a:t>
            </a:r>
            <a:endParaRPr lang="en-US" sz="1200" dirty="0"/>
          </a:p>
        </p:txBody>
      </p:sp>
      <p:sp>
        <p:nvSpPr>
          <p:cNvPr id="22" name="Text 20"/>
          <p:cNvSpPr/>
          <p:nvPr/>
        </p:nvSpPr>
        <p:spPr>
          <a:xfrm>
            <a:off x="731520" y="3950208"/>
            <a:ext cx="1463040" cy="329184"/>
          </a:xfrm>
          <a:prstGeom prst="rect">
            <a:avLst/>
          </a:prstGeom>
          <a:noFill/>
          <a:ln/>
        </p:spPr>
        <p:txBody>
          <a:bodyPr wrap="square" lIns="0" tIns="0" rIns="0" bIns="0" rtlCol="0" anchor="ctr"/>
          <a:lstStyle/>
          <a:p>
            <a:pPr indent="0" marL="0">
              <a:buNone/>
            </a:pPr>
            <a:r>
              <a:rPr lang="en-US" sz="1400" b="1" dirty="0">
                <a:solidFill>
                  <a:srgbClr val="0A0A14"/>
                </a:solidFill>
                <a:latin typeface="Courier New" pitchFamily="34" charset="0"/>
                <a:ea typeface="Courier New" pitchFamily="34" charset="-122"/>
                <a:cs typeface="Courier New" pitchFamily="34" charset="-120"/>
              </a:rPr>
              <a:t>PUT</a:t>
            </a:r>
            <a:endParaRPr lang="en-US" sz="1400" dirty="0"/>
          </a:p>
        </p:txBody>
      </p:sp>
      <p:sp>
        <p:nvSpPr>
          <p:cNvPr id="23" name="Text 21"/>
          <p:cNvSpPr/>
          <p:nvPr/>
        </p:nvSpPr>
        <p:spPr>
          <a:xfrm>
            <a:off x="2194560" y="3968496"/>
            <a:ext cx="274320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Replace all of it</a:t>
            </a:r>
            <a:endParaRPr lang="en-US" sz="1300" dirty="0"/>
          </a:p>
        </p:txBody>
      </p:sp>
      <p:sp>
        <p:nvSpPr>
          <p:cNvPr id="24" name="Text 22"/>
          <p:cNvSpPr/>
          <p:nvPr/>
        </p:nvSpPr>
        <p:spPr>
          <a:xfrm>
            <a:off x="5074920" y="3968496"/>
            <a:ext cx="1097280" cy="310896"/>
          </a:xfrm>
          <a:prstGeom prst="rect">
            <a:avLst/>
          </a:prstGeom>
          <a:noFill/>
          <a:ln/>
        </p:spPr>
        <p:txBody>
          <a:bodyPr wrap="square" lIns="0" tIns="0" rIns="0" bIns="0" rtlCol="0" anchor="ctr"/>
          <a:lstStyle/>
          <a:p>
            <a:pPr indent="0" marL="0">
              <a:buNone/>
            </a:pPr>
            <a:r>
              <a:rPr lang="en-US" sz="1200" dirty="0">
                <a:solidFill>
                  <a:srgbClr val="B3121B"/>
                </a:solidFill>
                <a:latin typeface="Courier New" pitchFamily="34" charset="0"/>
                <a:ea typeface="Courier New" pitchFamily="34" charset="-122"/>
                <a:cs typeface="Courier New" pitchFamily="34" charset="-120"/>
              </a:rPr>
              <a:t>no</a:t>
            </a:r>
            <a:endParaRPr lang="en-US" sz="1200" dirty="0"/>
          </a:p>
        </p:txBody>
      </p:sp>
      <p:sp>
        <p:nvSpPr>
          <p:cNvPr id="25" name="Text 23"/>
          <p:cNvSpPr/>
          <p:nvPr/>
        </p:nvSpPr>
        <p:spPr>
          <a:xfrm>
            <a:off x="6309360" y="3968496"/>
            <a:ext cx="1463040" cy="310896"/>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yes</a:t>
            </a:r>
            <a:endParaRPr lang="en-US" sz="1200" dirty="0"/>
          </a:p>
        </p:txBody>
      </p:sp>
      <p:sp>
        <p:nvSpPr>
          <p:cNvPr id="26" name="Text 24"/>
          <p:cNvSpPr/>
          <p:nvPr/>
        </p:nvSpPr>
        <p:spPr>
          <a:xfrm>
            <a:off x="8046720" y="3968496"/>
            <a:ext cx="3657600" cy="310896"/>
          </a:xfrm>
          <a:prstGeom prst="rect">
            <a:avLst/>
          </a:prstGeom>
          <a:noFill/>
          <a:ln/>
        </p:spPr>
        <p:txBody>
          <a:bodyPr wrap="square" lIns="0" tIns="0" rIns="0" bIns="0" rtlCol="0" anchor="ctr"/>
          <a:lstStyle/>
          <a:p>
            <a:pPr indent="0" marL="0">
              <a:buNone/>
            </a:pPr>
            <a:r>
              <a:rPr lang="en-US" sz="1200" dirty="0">
                <a:solidFill>
                  <a:srgbClr val="63616F"/>
                </a:solidFill>
                <a:latin typeface="Arial" pitchFamily="34" charset="0"/>
                <a:ea typeface="Arial" pitchFamily="34" charset="-122"/>
                <a:cs typeface="Arial" pitchFamily="34" charset="-120"/>
              </a:rPr>
              <a:t>Same result — same values written.</a:t>
            </a:r>
            <a:endParaRPr lang="en-US" sz="1200" dirty="0"/>
          </a:p>
        </p:txBody>
      </p:sp>
      <p:sp>
        <p:nvSpPr>
          <p:cNvPr id="27" name="Text 25"/>
          <p:cNvSpPr/>
          <p:nvPr/>
        </p:nvSpPr>
        <p:spPr>
          <a:xfrm>
            <a:off x="731520" y="4572000"/>
            <a:ext cx="1463040" cy="329184"/>
          </a:xfrm>
          <a:prstGeom prst="rect">
            <a:avLst/>
          </a:prstGeom>
          <a:noFill/>
          <a:ln/>
        </p:spPr>
        <p:txBody>
          <a:bodyPr wrap="square" lIns="0" tIns="0" rIns="0" bIns="0" rtlCol="0" anchor="ctr"/>
          <a:lstStyle/>
          <a:p>
            <a:pPr indent="0" marL="0">
              <a:buNone/>
            </a:pPr>
            <a:r>
              <a:rPr lang="en-US" sz="1400" b="1" dirty="0">
                <a:solidFill>
                  <a:srgbClr val="0A0A14"/>
                </a:solidFill>
                <a:latin typeface="Courier New" pitchFamily="34" charset="0"/>
                <a:ea typeface="Courier New" pitchFamily="34" charset="-122"/>
                <a:cs typeface="Courier New" pitchFamily="34" charset="-120"/>
              </a:rPr>
              <a:t>PATCH</a:t>
            </a:r>
            <a:endParaRPr lang="en-US" sz="1400" dirty="0"/>
          </a:p>
        </p:txBody>
      </p:sp>
      <p:sp>
        <p:nvSpPr>
          <p:cNvPr id="28" name="Text 26"/>
          <p:cNvSpPr/>
          <p:nvPr/>
        </p:nvSpPr>
        <p:spPr>
          <a:xfrm>
            <a:off x="2194560" y="4590288"/>
            <a:ext cx="274320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Change part of it</a:t>
            </a:r>
            <a:endParaRPr lang="en-US" sz="1300" dirty="0"/>
          </a:p>
        </p:txBody>
      </p:sp>
      <p:sp>
        <p:nvSpPr>
          <p:cNvPr id="29" name="Text 27"/>
          <p:cNvSpPr/>
          <p:nvPr/>
        </p:nvSpPr>
        <p:spPr>
          <a:xfrm>
            <a:off x="5074920" y="4590288"/>
            <a:ext cx="1097280" cy="310896"/>
          </a:xfrm>
          <a:prstGeom prst="rect">
            <a:avLst/>
          </a:prstGeom>
          <a:noFill/>
          <a:ln/>
        </p:spPr>
        <p:txBody>
          <a:bodyPr wrap="square" lIns="0" tIns="0" rIns="0" bIns="0" rtlCol="0" anchor="ctr"/>
          <a:lstStyle/>
          <a:p>
            <a:pPr indent="0" marL="0">
              <a:buNone/>
            </a:pPr>
            <a:r>
              <a:rPr lang="en-US" sz="1200" dirty="0">
                <a:solidFill>
                  <a:srgbClr val="B3121B"/>
                </a:solidFill>
                <a:latin typeface="Courier New" pitchFamily="34" charset="0"/>
                <a:ea typeface="Courier New" pitchFamily="34" charset="-122"/>
                <a:cs typeface="Courier New" pitchFamily="34" charset="-120"/>
              </a:rPr>
              <a:t>no</a:t>
            </a:r>
            <a:endParaRPr lang="en-US" sz="1200" dirty="0"/>
          </a:p>
        </p:txBody>
      </p:sp>
      <p:sp>
        <p:nvSpPr>
          <p:cNvPr id="30" name="Text 28"/>
          <p:cNvSpPr/>
          <p:nvPr/>
        </p:nvSpPr>
        <p:spPr>
          <a:xfrm>
            <a:off x="6309360" y="4590288"/>
            <a:ext cx="1463040" cy="310896"/>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yes</a:t>
            </a:r>
            <a:endParaRPr lang="en-US" sz="1200" dirty="0"/>
          </a:p>
        </p:txBody>
      </p:sp>
      <p:sp>
        <p:nvSpPr>
          <p:cNvPr id="31" name="Text 29"/>
          <p:cNvSpPr/>
          <p:nvPr/>
        </p:nvSpPr>
        <p:spPr>
          <a:xfrm>
            <a:off x="8046720" y="4590288"/>
            <a:ext cx="3657600" cy="310896"/>
          </a:xfrm>
          <a:prstGeom prst="rect">
            <a:avLst/>
          </a:prstGeom>
          <a:noFill/>
          <a:ln/>
        </p:spPr>
        <p:txBody>
          <a:bodyPr wrap="square" lIns="0" tIns="0" rIns="0" bIns="0" rtlCol="0" anchor="ctr"/>
          <a:lstStyle/>
          <a:p>
            <a:pPr indent="0" marL="0">
              <a:buNone/>
            </a:pPr>
            <a:r>
              <a:rPr lang="en-US" sz="1200" dirty="0">
                <a:solidFill>
                  <a:srgbClr val="63616F"/>
                </a:solidFill>
                <a:latin typeface="Arial" pitchFamily="34" charset="0"/>
                <a:ea typeface="Arial" pitchFamily="34" charset="-122"/>
                <a:cs typeface="Arial" pitchFamily="34" charset="-120"/>
              </a:rPr>
              <a:t>Same result for plain values.</a:t>
            </a:r>
            <a:endParaRPr lang="en-US" sz="1200" dirty="0"/>
          </a:p>
        </p:txBody>
      </p:sp>
      <p:sp>
        <p:nvSpPr>
          <p:cNvPr id="32" name="Text 30"/>
          <p:cNvSpPr/>
          <p:nvPr/>
        </p:nvSpPr>
        <p:spPr>
          <a:xfrm>
            <a:off x="731520" y="5193792"/>
            <a:ext cx="1463040" cy="329184"/>
          </a:xfrm>
          <a:prstGeom prst="rect">
            <a:avLst/>
          </a:prstGeom>
          <a:noFill/>
          <a:ln/>
        </p:spPr>
        <p:txBody>
          <a:bodyPr wrap="square" lIns="0" tIns="0" rIns="0" bIns="0" rtlCol="0" anchor="ctr"/>
          <a:lstStyle/>
          <a:p>
            <a:pPr indent="0" marL="0">
              <a:buNone/>
            </a:pPr>
            <a:r>
              <a:rPr lang="en-US" sz="1400" b="1" dirty="0">
                <a:solidFill>
                  <a:srgbClr val="0A0A14"/>
                </a:solidFill>
                <a:latin typeface="Courier New" pitchFamily="34" charset="0"/>
                <a:ea typeface="Courier New" pitchFamily="34" charset="-122"/>
                <a:cs typeface="Courier New" pitchFamily="34" charset="-120"/>
              </a:rPr>
              <a:t>DELETE</a:t>
            </a:r>
            <a:endParaRPr lang="en-US" sz="1400" dirty="0"/>
          </a:p>
        </p:txBody>
      </p:sp>
      <p:sp>
        <p:nvSpPr>
          <p:cNvPr id="33" name="Text 31"/>
          <p:cNvSpPr/>
          <p:nvPr/>
        </p:nvSpPr>
        <p:spPr>
          <a:xfrm>
            <a:off x="2194560" y="5212080"/>
            <a:ext cx="274320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Remove it</a:t>
            </a:r>
            <a:endParaRPr lang="en-US" sz="1300" dirty="0"/>
          </a:p>
        </p:txBody>
      </p:sp>
      <p:sp>
        <p:nvSpPr>
          <p:cNvPr id="34" name="Text 32"/>
          <p:cNvSpPr/>
          <p:nvPr/>
        </p:nvSpPr>
        <p:spPr>
          <a:xfrm>
            <a:off x="5074920" y="5212080"/>
            <a:ext cx="1097280" cy="310896"/>
          </a:xfrm>
          <a:prstGeom prst="rect">
            <a:avLst/>
          </a:prstGeom>
          <a:noFill/>
          <a:ln/>
        </p:spPr>
        <p:txBody>
          <a:bodyPr wrap="square" lIns="0" tIns="0" rIns="0" bIns="0" rtlCol="0" anchor="ctr"/>
          <a:lstStyle/>
          <a:p>
            <a:pPr indent="0" marL="0">
              <a:buNone/>
            </a:pPr>
            <a:r>
              <a:rPr lang="en-US" sz="1200" dirty="0">
                <a:solidFill>
                  <a:srgbClr val="B3121B"/>
                </a:solidFill>
                <a:latin typeface="Courier New" pitchFamily="34" charset="0"/>
                <a:ea typeface="Courier New" pitchFamily="34" charset="-122"/>
                <a:cs typeface="Courier New" pitchFamily="34" charset="-120"/>
              </a:rPr>
              <a:t>no</a:t>
            </a:r>
            <a:endParaRPr lang="en-US" sz="1200" dirty="0"/>
          </a:p>
        </p:txBody>
      </p:sp>
      <p:sp>
        <p:nvSpPr>
          <p:cNvPr id="35" name="Text 33"/>
          <p:cNvSpPr/>
          <p:nvPr/>
        </p:nvSpPr>
        <p:spPr>
          <a:xfrm>
            <a:off x="6309360" y="5212080"/>
            <a:ext cx="1463040" cy="310896"/>
          </a:xfrm>
          <a:prstGeom prst="rect">
            <a:avLst/>
          </a:prstGeom>
          <a:noFill/>
          <a:ln/>
        </p:spPr>
        <p:txBody>
          <a:bodyPr wrap="square" lIns="0" tIns="0" rIns="0" bIns="0" rtlCol="0" anchor="ctr"/>
          <a:lstStyle/>
          <a:p>
            <a:pPr indent="0" marL="0">
              <a:buNone/>
            </a:pPr>
            <a:r>
              <a:rPr lang="en-US" sz="1200" dirty="0">
                <a:solidFill>
                  <a:srgbClr val="10069F"/>
                </a:solidFill>
                <a:latin typeface="Courier New" pitchFamily="34" charset="0"/>
                <a:ea typeface="Courier New" pitchFamily="34" charset="-122"/>
                <a:cs typeface="Courier New" pitchFamily="34" charset="-120"/>
              </a:rPr>
              <a:t>yes</a:t>
            </a:r>
            <a:endParaRPr lang="en-US" sz="1200" dirty="0"/>
          </a:p>
        </p:txBody>
      </p:sp>
      <p:sp>
        <p:nvSpPr>
          <p:cNvPr id="36" name="Text 34"/>
          <p:cNvSpPr/>
          <p:nvPr/>
        </p:nvSpPr>
        <p:spPr>
          <a:xfrm>
            <a:off x="8046720" y="5212080"/>
            <a:ext cx="3657600" cy="310896"/>
          </a:xfrm>
          <a:prstGeom prst="rect">
            <a:avLst/>
          </a:prstGeom>
          <a:noFill/>
          <a:ln/>
        </p:spPr>
        <p:txBody>
          <a:bodyPr wrap="square" lIns="0" tIns="0" rIns="0" bIns="0" rtlCol="0" anchor="ctr"/>
          <a:lstStyle/>
          <a:p>
            <a:pPr indent="0" marL="0">
              <a:buNone/>
            </a:pPr>
            <a:r>
              <a:rPr lang="en-US" sz="1200" dirty="0">
                <a:solidFill>
                  <a:srgbClr val="63616F"/>
                </a:solidFill>
                <a:latin typeface="Arial" pitchFamily="34" charset="0"/>
                <a:ea typeface="Arial" pitchFamily="34" charset="-122"/>
                <a:cs typeface="Arial" pitchFamily="34" charset="-120"/>
              </a:rPr>
              <a:t>Gone, then 404. End state is the same.</a:t>
            </a:r>
            <a:endParaRPr lang="en-US" sz="1200" dirty="0"/>
          </a:p>
        </p:txBody>
      </p:sp>
      <p:sp>
        <p:nvSpPr>
          <p:cNvPr id="37" name="Text 35"/>
          <p:cNvSpPr/>
          <p:nvPr/>
        </p:nvSpPr>
        <p:spPr>
          <a:xfrm>
            <a:off x="594360" y="5943600"/>
            <a:ext cx="10972800" cy="365760"/>
          </a:xfrm>
          <a:prstGeom prst="rect">
            <a:avLst/>
          </a:prstGeom>
          <a:noFill/>
          <a:ln/>
        </p:spPr>
        <p:txBody>
          <a:bodyPr wrap="square" lIns="0" tIns="0" rIns="0" bIns="0" rtlCol="0" anchor="ctr"/>
          <a:lstStyle/>
          <a:p>
            <a:pPr indent="0" marL="0">
              <a:buNone/>
            </a:pPr>
            <a:r>
              <a:rPr lang="en-US" sz="1300" i="1" dirty="0">
                <a:solidFill>
                  <a:srgbClr val="C2410C"/>
                </a:solidFill>
                <a:latin typeface="Arial" pitchFamily="34" charset="0"/>
                <a:ea typeface="Arial" pitchFamily="34" charset="-122"/>
                <a:cs typeface="Arial" pitchFamily="34" charset="-120"/>
              </a:rPr>
              <a:t>POST is the only common verb that is neither. Anything that must not happen twice needs protection you write yourself.</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REFERENCE — LEAVE THIS UP</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The first digit tells you whose problem it is</a:t>
            </a:r>
            <a:endParaRPr lang="en-US" sz="3200" dirty="0"/>
          </a:p>
        </p:txBody>
      </p:sp>
      <p:sp>
        <p:nvSpPr>
          <p:cNvPr id="4" name="Shape 2"/>
          <p:cNvSpPr/>
          <p:nvPr/>
        </p:nvSpPr>
        <p:spPr>
          <a:xfrm>
            <a:off x="594360" y="1783080"/>
            <a:ext cx="2537460" cy="1170432"/>
          </a:xfrm>
          <a:prstGeom prst="roundRect">
            <a:avLst>
              <a:gd name="adj" fmla="val 4688"/>
            </a:avLst>
          </a:prstGeom>
          <a:solidFill>
            <a:srgbClr val="F6F6FA"/>
          </a:solidFill>
          <a:ln w="9525">
            <a:solidFill>
              <a:srgbClr val="C9C7C2"/>
            </a:solidFill>
            <a:prstDash val="solid"/>
          </a:ln>
        </p:spPr>
      </p:sp>
      <p:sp>
        <p:nvSpPr>
          <p:cNvPr id="5" name="Text 3"/>
          <p:cNvSpPr/>
          <p:nvPr/>
        </p:nvSpPr>
        <p:spPr>
          <a:xfrm>
            <a:off x="813816" y="1938528"/>
            <a:ext cx="2125980" cy="365760"/>
          </a:xfrm>
          <a:prstGeom prst="rect">
            <a:avLst/>
          </a:prstGeom>
          <a:noFill/>
          <a:ln/>
        </p:spPr>
        <p:txBody>
          <a:bodyPr wrap="square" lIns="0" tIns="0" rIns="0" bIns="0" rtlCol="0" anchor="ctr"/>
          <a:lstStyle/>
          <a:p>
            <a:pPr indent="0" marL="0">
              <a:buNone/>
            </a:pPr>
            <a:r>
              <a:rPr lang="en-US" sz="2000" b="1" dirty="0">
                <a:solidFill>
                  <a:srgbClr val="10069F"/>
                </a:solidFill>
                <a:latin typeface="Courier New" pitchFamily="34" charset="0"/>
                <a:ea typeface="Courier New" pitchFamily="34" charset="-122"/>
                <a:cs typeface="Courier New" pitchFamily="34" charset="-120"/>
              </a:rPr>
              <a:t>2xx</a:t>
            </a:r>
            <a:endParaRPr lang="en-US" sz="2000" dirty="0"/>
          </a:p>
        </p:txBody>
      </p:sp>
      <p:sp>
        <p:nvSpPr>
          <p:cNvPr id="6" name="Text 4"/>
          <p:cNvSpPr/>
          <p:nvPr/>
        </p:nvSpPr>
        <p:spPr>
          <a:xfrm>
            <a:off x="813816" y="2331720"/>
            <a:ext cx="2125980" cy="274320"/>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It worked</a:t>
            </a:r>
            <a:endParaRPr lang="en-US" sz="1350" dirty="0"/>
          </a:p>
        </p:txBody>
      </p:sp>
      <p:sp>
        <p:nvSpPr>
          <p:cNvPr id="7" name="Text 5"/>
          <p:cNvSpPr/>
          <p:nvPr/>
        </p:nvSpPr>
        <p:spPr>
          <a:xfrm>
            <a:off x="813816" y="2606040"/>
            <a:ext cx="212598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Did what you asked</a:t>
            </a:r>
            <a:endParaRPr lang="en-US" sz="1100" dirty="0"/>
          </a:p>
        </p:txBody>
      </p:sp>
      <p:sp>
        <p:nvSpPr>
          <p:cNvPr id="8" name="Shape 6"/>
          <p:cNvSpPr/>
          <p:nvPr/>
        </p:nvSpPr>
        <p:spPr>
          <a:xfrm>
            <a:off x="3406140" y="1783080"/>
            <a:ext cx="2537460" cy="1170432"/>
          </a:xfrm>
          <a:prstGeom prst="roundRect">
            <a:avLst>
              <a:gd name="adj" fmla="val 4688"/>
            </a:avLst>
          </a:prstGeom>
          <a:solidFill>
            <a:srgbClr val="F6F6FA"/>
          </a:solidFill>
          <a:ln w="9525">
            <a:solidFill>
              <a:srgbClr val="C9C7C2"/>
            </a:solidFill>
            <a:prstDash val="solid"/>
          </a:ln>
        </p:spPr>
      </p:sp>
      <p:sp>
        <p:nvSpPr>
          <p:cNvPr id="9" name="Text 7"/>
          <p:cNvSpPr/>
          <p:nvPr/>
        </p:nvSpPr>
        <p:spPr>
          <a:xfrm>
            <a:off x="3625596" y="1938528"/>
            <a:ext cx="2125980" cy="365760"/>
          </a:xfrm>
          <a:prstGeom prst="rect">
            <a:avLst/>
          </a:prstGeom>
          <a:noFill/>
          <a:ln/>
        </p:spPr>
        <p:txBody>
          <a:bodyPr wrap="square" lIns="0" tIns="0" rIns="0" bIns="0" rtlCol="0" anchor="ctr"/>
          <a:lstStyle/>
          <a:p>
            <a:pPr indent="0" marL="0">
              <a:buNone/>
            </a:pPr>
            <a:r>
              <a:rPr lang="en-US" sz="2000" b="1" dirty="0">
                <a:solidFill>
                  <a:srgbClr val="3F3F4D"/>
                </a:solidFill>
                <a:latin typeface="Courier New" pitchFamily="34" charset="0"/>
                <a:ea typeface="Courier New" pitchFamily="34" charset="-122"/>
                <a:cs typeface="Courier New" pitchFamily="34" charset="-120"/>
              </a:rPr>
              <a:t>3xx</a:t>
            </a:r>
            <a:endParaRPr lang="en-US" sz="2000" dirty="0"/>
          </a:p>
        </p:txBody>
      </p:sp>
      <p:sp>
        <p:nvSpPr>
          <p:cNvPr id="10" name="Text 8"/>
          <p:cNvSpPr/>
          <p:nvPr/>
        </p:nvSpPr>
        <p:spPr>
          <a:xfrm>
            <a:off x="3625596" y="2331720"/>
            <a:ext cx="2125980" cy="274320"/>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Look elsewhere</a:t>
            </a:r>
            <a:endParaRPr lang="en-US" sz="1350" dirty="0"/>
          </a:p>
        </p:txBody>
      </p:sp>
      <p:sp>
        <p:nvSpPr>
          <p:cNvPr id="11" name="Text 9"/>
          <p:cNvSpPr/>
          <p:nvPr/>
        </p:nvSpPr>
        <p:spPr>
          <a:xfrm>
            <a:off x="3625596" y="2606040"/>
            <a:ext cx="212598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Another URL, or your cached copy</a:t>
            </a:r>
            <a:endParaRPr lang="en-US" sz="1100" dirty="0"/>
          </a:p>
        </p:txBody>
      </p:sp>
      <p:sp>
        <p:nvSpPr>
          <p:cNvPr id="12" name="Shape 10"/>
          <p:cNvSpPr/>
          <p:nvPr/>
        </p:nvSpPr>
        <p:spPr>
          <a:xfrm>
            <a:off x="6217920" y="1783080"/>
            <a:ext cx="2537460" cy="1170432"/>
          </a:xfrm>
          <a:prstGeom prst="roundRect">
            <a:avLst>
              <a:gd name="adj" fmla="val 4688"/>
            </a:avLst>
          </a:prstGeom>
          <a:solidFill>
            <a:srgbClr val="F6F6FA"/>
          </a:solidFill>
          <a:ln w="9525">
            <a:solidFill>
              <a:srgbClr val="C9C7C2"/>
            </a:solidFill>
            <a:prstDash val="solid"/>
          </a:ln>
        </p:spPr>
      </p:sp>
      <p:sp>
        <p:nvSpPr>
          <p:cNvPr id="13" name="Text 11"/>
          <p:cNvSpPr/>
          <p:nvPr/>
        </p:nvSpPr>
        <p:spPr>
          <a:xfrm>
            <a:off x="6437376" y="1938528"/>
            <a:ext cx="2125980" cy="365760"/>
          </a:xfrm>
          <a:prstGeom prst="rect">
            <a:avLst/>
          </a:prstGeom>
          <a:noFill/>
          <a:ln/>
        </p:spPr>
        <p:txBody>
          <a:bodyPr wrap="square" lIns="0" tIns="0" rIns="0" bIns="0" rtlCol="0" anchor="ctr"/>
          <a:lstStyle/>
          <a:p>
            <a:pPr indent="0" marL="0">
              <a:buNone/>
            </a:pPr>
            <a:r>
              <a:rPr lang="en-US" sz="2000" b="1" dirty="0">
                <a:solidFill>
                  <a:srgbClr val="C2410C"/>
                </a:solidFill>
                <a:latin typeface="Courier New" pitchFamily="34" charset="0"/>
                <a:ea typeface="Courier New" pitchFamily="34" charset="-122"/>
                <a:cs typeface="Courier New" pitchFamily="34" charset="-120"/>
              </a:rPr>
              <a:t>4xx</a:t>
            </a:r>
            <a:endParaRPr lang="en-US" sz="2000" dirty="0"/>
          </a:p>
        </p:txBody>
      </p:sp>
      <p:sp>
        <p:nvSpPr>
          <p:cNvPr id="14" name="Text 12"/>
          <p:cNvSpPr/>
          <p:nvPr/>
        </p:nvSpPr>
        <p:spPr>
          <a:xfrm>
            <a:off x="6437376" y="2331720"/>
            <a:ext cx="2125980" cy="274320"/>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Your fault</a:t>
            </a:r>
            <a:endParaRPr lang="en-US" sz="1350" dirty="0"/>
          </a:p>
        </p:txBody>
      </p:sp>
      <p:sp>
        <p:nvSpPr>
          <p:cNvPr id="15" name="Text 13"/>
          <p:cNvSpPr/>
          <p:nvPr/>
        </p:nvSpPr>
        <p:spPr>
          <a:xfrm>
            <a:off x="6437376" y="2606040"/>
            <a:ext cx="212598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Request was wrong. Server is fine</a:t>
            </a:r>
            <a:endParaRPr lang="en-US" sz="1100" dirty="0"/>
          </a:p>
        </p:txBody>
      </p:sp>
      <p:sp>
        <p:nvSpPr>
          <p:cNvPr id="16" name="Shape 14"/>
          <p:cNvSpPr/>
          <p:nvPr/>
        </p:nvSpPr>
        <p:spPr>
          <a:xfrm>
            <a:off x="9029700" y="1783080"/>
            <a:ext cx="2537460" cy="1170432"/>
          </a:xfrm>
          <a:prstGeom prst="roundRect">
            <a:avLst>
              <a:gd name="adj" fmla="val 4688"/>
            </a:avLst>
          </a:prstGeom>
          <a:solidFill>
            <a:srgbClr val="F6F6FA"/>
          </a:solidFill>
          <a:ln w="9525">
            <a:solidFill>
              <a:srgbClr val="C9C7C2"/>
            </a:solidFill>
            <a:prstDash val="solid"/>
          </a:ln>
        </p:spPr>
      </p:sp>
      <p:sp>
        <p:nvSpPr>
          <p:cNvPr id="17" name="Text 15"/>
          <p:cNvSpPr/>
          <p:nvPr/>
        </p:nvSpPr>
        <p:spPr>
          <a:xfrm>
            <a:off x="9249156" y="1938528"/>
            <a:ext cx="2125980" cy="365760"/>
          </a:xfrm>
          <a:prstGeom prst="rect">
            <a:avLst/>
          </a:prstGeom>
          <a:noFill/>
          <a:ln/>
        </p:spPr>
        <p:txBody>
          <a:bodyPr wrap="square" lIns="0" tIns="0" rIns="0" bIns="0" rtlCol="0" anchor="ctr"/>
          <a:lstStyle/>
          <a:p>
            <a:pPr indent="0" marL="0">
              <a:buNone/>
            </a:pPr>
            <a:r>
              <a:rPr lang="en-US" sz="2000" b="1" dirty="0">
                <a:solidFill>
                  <a:srgbClr val="B3121B"/>
                </a:solidFill>
                <a:latin typeface="Courier New" pitchFamily="34" charset="0"/>
                <a:ea typeface="Courier New" pitchFamily="34" charset="-122"/>
                <a:cs typeface="Courier New" pitchFamily="34" charset="-120"/>
              </a:rPr>
              <a:t>5xx</a:t>
            </a:r>
            <a:endParaRPr lang="en-US" sz="2000" dirty="0"/>
          </a:p>
        </p:txBody>
      </p:sp>
      <p:sp>
        <p:nvSpPr>
          <p:cNvPr id="18" name="Text 16"/>
          <p:cNvSpPr/>
          <p:nvPr/>
        </p:nvSpPr>
        <p:spPr>
          <a:xfrm>
            <a:off x="9249156" y="2331720"/>
            <a:ext cx="2125980" cy="274320"/>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Their fault</a:t>
            </a:r>
            <a:endParaRPr lang="en-US" sz="1350" dirty="0"/>
          </a:p>
        </p:txBody>
      </p:sp>
      <p:sp>
        <p:nvSpPr>
          <p:cNvPr id="19" name="Text 17"/>
          <p:cNvSpPr/>
          <p:nvPr/>
        </p:nvSpPr>
        <p:spPr>
          <a:xfrm>
            <a:off x="9249156" y="2606040"/>
            <a:ext cx="212598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Request was fine. Server broke</a:t>
            </a:r>
            <a:endParaRPr lang="en-US" sz="1100" dirty="0"/>
          </a:p>
        </p:txBody>
      </p:sp>
      <p:sp>
        <p:nvSpPr>
          <p:cNvPr id="20" name="Text 18"/>
          <p:cNvSpPr/>
          <p:nvPr/>
        </p:nvSpPr>
        <p:spPr>
          <a:xfrm>
            <a:off x="594360" y="3246120"/>
            <a:ext cx="2423160" cy="292608"/>
          </a:xfrm>
          <a:prstGeom prst="rect">
            <a:avLst/>
          </a:prstGeom>
          <a:noFill/>
          <a:ln/>
        </p:spPr>
        <p:txBody>
          <a:bodyPr wrap="square" lIns="0" tIns="0" rIns="0" bIns="0" rtlCol="0" anchor="ctr"/>
          <a:lstStyle/>
          <a:p>
            <a:pPr indent="0" marL="0">
              <a:buNone/>
            </a:pPr>
            <a:r>
              <a:rPr lang="en-US" sz="1100" b="1" dirty="0">
                <a:solidFill>
                  <a:srgbClr val="10069F"/>
                </a:solidFill>
                <a:latin typeface="Courier New" pitchFamily="34" charset="0"/>
                <a:ea typeface="Courier New" pitchFamily="34" charset="-122"/>
                <a:cs typeface="Courier New" pitchFamily="34" charset="-120"/>
              </a:rPr>
              <a:t>200 OK</a:t>
            </a:r>
            <a:endParaRPr lang="en-US" sz="1100" dirty="0"/>
          </a:p>
        </p:txBody>
      </p:sp>
      <p:sp>
        <p:nvSpPr>
          <p:cNvPr id="21" name="Text 19"/>
          <p:cNvSpPr/>
          <p:nvPr/>
        </p:nvSpPr>
        <p:spPr>
          <a:xfrm>
            <a:off x="3108960" y="3246120"/>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The answer is in the body</a:t>
            </a:r>
            <a:endParaRPr lang="en-US" sz="1100" dirty="0"/>
          </a:p>
        </p:txBody>
      </p:sp>
      <p:sp>
        <p:nvSpPr>
          <p:cNvPr id="22" name="Text 20"/>
          <p:cNvSpPr/>
          <p:nvPr/>
        </p:nvSpPr>
        <p:spPr>
          <a:xfrm>
            <a:off x="594360" y="3666744"/>
            <a:ext cx="2423160" cy="292608"/>
          </a:xfrm>
          <a:prstGeom prst="rect">
            <a:avLst/>
          </a:prstGeom>
          <a:noFill/>
          <a:ln/>
        </p:spPr>
        <p:txBody>
          <a:bodyPr wrap="square" lIns="0" tIns="0" rIns="0" bIns="0" rtlCol="0" anchor="ctr"/>
          <a:lstStyle/>
          <a:p>
            <a:pPr indent="0" marL="0">
              <a:buNone/>
            </a:pPr>
            <a:r>
              <a:rPr lang="en-US" sz="1100" b="1" dirty="0">
                <a:solidFill>
                  <a:srgbClr val="10069F"/>
                </a:solidFill>
                <a:latin typeface="Courier New" pitchFamily="34" charset="0"/>
                <a:ea typeface="Courier New" pitchFamily="34" charset="-122"/>
                <a:cs typeface="Courier New" pitchFamily="34" charset="-120"/>
              </a:rPr>
              <a:t>201 Created</a:t>
            </a:r>
            <a:endParaRPr lang="en-US" sz="1100" dirty="0"/>
          </a:p>
        </p:txBody>
      </p:sp>
      <p:sp>
        <p:nvSpPr>
          <p:cNvPr id="23" name="Text 21"/>
          <p:cNvSpPr/>
          <p:nvPr/>
        </p:nvSpPr>
        <p:spPr>
          <a:xfrm>
            <a:off x="3108960" y="3666744"/>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Something new exists. Location says where</a:t>
            </a:r>
            <a:endParaRPr lang="en-US" sz="1100" dirty="0"/>
          </a:p>
        </p:txBody>
      </p:sp>
      <p:sp>
        <p:nvSpPr>
          <p:cNvPr id="24" name="Text 22"/>
          <p:cNvSpPr/>
          <p:nvPr/>
        </p:nvSpPr>
        <p:spPr>
          <a:xfrm>
            <a:off x="594360" y="4087368"/>
            <a:ext cx="2423160" cy="292608"/>
          </a:xfrm>
          <a:prstGeom prst="rect">
            <a:avLst/>
          </a:prstGeom>
          <a:noFill/>
          <a:ln/>
        </p:spPr>
        <p:txBody>
          <a:bodyPr wrap="square" lIns="0" tIns="0" rIns="0" bIns="0" rtlCol="0" anchor="ctr"/>
          <a:lstStyle/>
          <a:p>
            <a:pPr indent="0" marL="0">
              <a:buNone/>
            </a:pPr>
            <a:r>
              <a:rPr lang="en-US" sz="1100" b="1" dirty="0">
                <a:solidFill>
                  <a:srgbClr val="10069F"/>
                </a:solidFill>
                <a:latin typeface="Courier New" pitchFamily="34" charset="0"/>
                <a:ea typeface="Courier New" pitchFamily="34" charset="-122"/>
                <a:cs typeface="Courier New" pitchFamily="34" charset="-120"/>
              </a:rPr>
              <a:t>204 No Content</a:t>
            </a:r>
            <a:endParaRPr lang="en-US" sz="1100" dirty="0"/>
          </a:p>
        </p:txBody>
      </p:sp>
      <p:sp>
        <p:nvSpPr>
          <p:cNvPr id="25" name="Text 23"/>
          <p:cNvSpPr/>
          <p:nvPr/>
        </p:nvSpPr>
        <p:spPr>
          <a:xfrm>
            <a:off x="3108960" y="4087368"/>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Worked, nothing to send back. Usual DELETE</a:t>
            </a:r>
            <a:endParaRPr lang="en-US" sz="1100" dirty="0"/>
          </a:p>
        </p:txBody>
      </p:sp>
      <p:sp>
        <p:nvSpPr>
          <p:cNvPr id="26" name="Text 24"/>
          <p:cNvSpPr/>
          <p:nvPr/>
        </p:nvSpPr>
        <p:spPr>
          <a:xfrm>
            <a:off x="594360" y="4507992"/>
            <a:ext cx="2423160" cy="292608"/>
          </a:xfrm>
          <a:prstGeom prst="rect">
            <a:avLst/>
          </a:prstGeom>
          <a:noFill/>
          <a:ln/>
        </p:spPr>
        <p:txBody>
          <a:bodyPr wrap="square" lIns="0" tIns="0" rIns="0" bIns="0" rtlCol="0" anchor="ctr"/>
          <a:lstStyle/>
          <a:p>
            <a:pPr indent="0" marL="0">
              <a:buNone/>
            </a:pPr>
            <a:r>
              <a:rPr lang="en-US" sz="1100" b="1" dirty="0">
                <a:solidFill>
                  <a:srgbClr val="3F3F4D"/>
                </a:solidFill>
                <a:latin typeface="Courier New" pitchFamily="34" charset="0"/>
                <a:ea typeface="Courier New" pitchFamily="34" charset="-122"/>
                <a:cs typeface="Courier New" pitchFamily="34" charset="-120"/>
              </a:rPr>
              <a:t>303 See Other</a:t>
            </a:r>
            <a:endParaRPr lang="en-US" sz="1100" dirty="0"/>
          </a:p>
        </p:txBody>
      </p:sp>
      <p:sp>
        <p:nvSpPr>
          <p:cNvPr id="27" name="Text 25"/>
          <p:cNvSpPr/>
          <p:nvPr/>
        </p:nvSpPr>
        <p:spPr>
          <a:xfrm>
            <a:off x="3108960" y="4507992"/>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Redirect after POST — cures the refresh bug</a:t>
            </a:r>
            <a:endParaRPr lang="en-US" sz="1100" dirty="0"/>
          </a:p>
        </p:txBody>
      </p:sp>
      <p:sp>
        <p:nvSpPr>
          <p:cNvPr id="28" name="Text 26"/>
          <p:cNvSpPr/>
          <p:nvPr/>
        </p:nvSpPr>
        <p:spPr>
          <a:xfrm>
            <a:off x="594360" y="4928616"/>
            <a:ext cx="2423160" cy="292608"/>
          </a:xfrm>
          <a:prstGeom prst="rect">
            <a:avLst/>
          </a:prstGeom>
          <a:noFill/>
          <a:ln/>
        </p:spPr>
        <p:txBody>
          <a:bodyPr wrap="square" lIns="0" tIns="0" rIns="0" bIns="0" rtlCol="0" anchor="ctr"/>
          <a:lstStyle/>
          <a:p>
            <a:pPr indent="0" marL="0">
              <a:buNone/>
            </a:pPr>
            <a:r>
              <a:rPr lang="en-US" sz="1100" b="1" dirty="0">
                <a:solidFill>
                  <a:srgbClr val="3F3F4D"/>
                </a:solidFill>
                <a:latin typeface="Courier New" pitchFamily="34" charset="0"/>
                <a:ea typeface="Courier New" pitchFamily="34" charset="-122"/>
                <a:cs typeface="Courier New" pitchFamily="34" charset="-120"/>
              </a:rPr>
              <a:t>304 Not Modified</a:t>
            </a:r>
            <a:endParaRPr lang="en-US" sz="1100" dirty="0"/>
          </a:p>
        </p:txBody>
      </p:sp>
      <p:sp>
        <p:nvSpPr>
          <p:cNvPr id="29" name="Text 27"/>
          <p:cNvSpPr/>
          <p:nvPr/>
        </p:nvSpPr>
        <p:spPr>
          <a:xfrm>
            <a:off x="3108960" y="4928616"/>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Use your cache. Saves real bandwidth</a:t>
            </a:r>
            <a:endParaRPr lang="en-US" sz="1100" dirty="0"/>
          </a:p>
        </p:txBody>
      </p:sp>
      <p:sp>
        <p:nvSpPr>
          <p:cNvPr id="30" name="Text 28"/>
          <p:cNvSpPr/>
          <p:nvPr/>
        </p:nvSpPr>
        <p:spPr>
          <a:xfrm>
            <a:off x="594360" y="5349240"/>
            <a:ext cx="2423160" cy="292608"/>
          </a:xfrm>
          <a:prstGeom prst="rect">
            <a:avLst/>
          </a:prstGeom>
          <a:noFill/>
          <a:ln/>
        </p:spPr>
        <p:txBody>
          <a:bodyPr wrap="square" lIns="0" tIns="0" rIns="0" bIns="0" rtlCol="0" anchor="ctr"/>
          <a:lstStyle/>
          <a:p>
            <a:pPr indent="0" marL="0">
              <a:buNone/>
            </a:pPr>
            <a:r>
              <a:rPr lang="en-US" sz="1100" b="1" dirty="0">
                <a:solidFill>
                  <a:srgbClr val="C2410C"/>
                </a:solidFill>
                <a:latin typeface="Courier New" pitchFamily="34" charset="0"/>
                <a:ea typeface="Courier New" pitchFamily="34" charset="-122"/>
                <a:cs typeface="Courier New" pitchFamily="34" charset="-120"/>
              </a:rPr>
              <a:t>400 Bad Request</a:t>
            </a:r>
            <a:endParaRPr lang="en-US" sz="1100" dirty="0"/>
          </a:p>
        </p:txBody>
      </p:sp>
      <p:sp>
        <p:nvSpPr>
          <p:cNvPr id="31" name="Text 29"/>
          <p:cNvSpPr/>
          <p:nvPr/>
        </p:nvSpPr>
        <p:spPr>
          <a:xfrm>
            <a:off x="3108960" y="5349240"/>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Malformed. Could not even parse it</a:t>
            </a:r>
            <a:endParaRPr lang="en-US" sz="1100" dirty="0"/>
          </a:p>
        </p:txBody>
      </p:sp>
      <p:sp>
        <p:nvSpPr>
          <p:cNvPr id="32" name="Text 30"/>
          <p:cNvSpPr/>
          <p:nvPr/>
        </p:nvSpPr>
        <p:spPr>
          <a:xfrm>
            <a:off x="594360" y="5769864"/>
            <a:ext cx="2423160" cy="292608"/>
          </a:xfrm>
          <a:prstGeom prst="rect">
            <a:avLst/>
          </a:prstGeom>
          <a:noFill/>
          <a:ln/>
        </p:spPr>
        <p:txBody>
          <a:bodyPr wrap="square" lIns="0" tIns="0" rIns="0" bIns="0" rtlCol="0" anchor="ctr"/>
          <a:lstStyle/>
          <a:p>
            <a:pPr indent="0" marL="0">
              <a:buNone/>
            </a:pPr>
            <a:r>
              <a:rPr lang="en-US" sz="1100" b="1" dirty="0">
                <a:solidFill>
                  <a:srgbClr val="C2410C"/>
                </a:solidFill>
                <a:latin typeface="Courier New" pitchFamily="34" charset="0"/>
                <a:ea typeface="Courier New" pitchFamily="34" charset="-122"/>
                <a:cs typeface="Courier New" pitchFamily="34" charset="-120"/>
              </a:rPr>
              <a:t>401 Unauthorized</a:t>
            </a:r>
            <a:endParaRPr lang="en-US" sz="1100" dirty="0"/>
          </a:p>
        </p:txBody>
      </p:sp>
      <p:sp>
        <p:nvSpPr>
          <p:cNvPr id="33" name="Text 31"/>
          <p:cNvSpPr/>
          <p:nvPr/>
        </p:nvSpPr>
        <p:spPr>
          <a:xfrm>
            <a:off x="3108960" y="5769864"/>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Badly named — means unauthenticated</a:t>
            </a:r>
            <a:endParaRPr lang="en-US" sz="1100" dirty="0"/>
          </a:p>
        </p:txBody>
      </p:sp>
      <p:sp>
        <p:nvSpPr>
          <p:cNvPr id="34" name="Text 32"/>
          <p:cNvSpPr/>
          <p:nvPr/>
        </p:nvSpPr>
        <p:spPr>
          <a:xfrm>
            <a:off x="6355080" y="3246120"/>
            <a:ext cx="2423160" cy="292608"/>
          </a:xfrm>
          <a:prstGeom prst="rect">
            <a:avLst/>
          </a:prstGeom>
          <a:noFill/>
          <a:ln/>
        </p:spPr>
        <p:txBody>
          <a:bodyPr wrap="square" lIns="0" tIns="0" rIns="0" bIns="0" rtlCol="0" anchor="ctr"/>
          <a:lstStyle/>
          <a:p>
            <a:pPr indent="0" marL="0">
              <a:buNone/>
            </a:pPr>
            <a:r>
              <a:rPr lang="en-US" sz="1100" b="1" dirty="0">
                <a:solidFill>
                  <a:srgbClr val="C2410C"/>
                </a:solidFill>
                <a:latin typeface="Courier New" pitchFamily="34" charset="0"/>
                <a:ea typeface="Courier New" pitchFamily="34" charset="-122"/>
                <a:cs typeface="Courier New" pitchFamily="34" charset="-120"/>
              </a:rPr>
              <a:t>403 Forbidden</a:t>
            </a:r>
            <a:endParaRPr lang="en-US" sz="1100" dirty="0"/>
          </a:p>
        </p:txBody>
      </p:sp>
      <p:sp>
        <p:nvSpPr>
          <p:cNvPr id="35" name="Text 33"/>
          <p:cNvSpPr/>
          <p:nvPr/>
        </p:nvSpPr>
        <p:spPr>
          <a:xfrm>
            <a:off x="8869680" y="3246120"/>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Knows who you are. Answer is still no</a:t>
            </a:r>
            <a:endParaRPr lang="en-US" sz="1100" dirty="0"/>
          </a:p>
        </p:txBody>
      </p:sp>
      <p:sp>
        <p:nvSpPr>
          <p:cNvPr id="36" name="Text 34"/>
          <p:cNvSpPr/>
          <p:nvPr/>
        </p:nvSpPr>
        <p:spPr>
          <a:xfrm>
            <a:off x="6355080" y="3666744"/>
            <a:ext cx="2423160" cy="292608"/>
          </a:xfrm>
          <a:prstGeom prst="rect">
            <a:avLst/>
          </a:prstGeom>
          <a:noFill/>
          <a:ln/>
        </p:spPr>
        <p:txBody>
          <a:bodyPr wrap="square" lIns="0" tIns="0" rIns="0" bIns="0" rtlCol="0" anchor="ctr"/>
          <a:lstStyle/>
          <a:p>
            <a:pPr indent="0" marL="0">
              <a:buNone/>
            </a:pPr>
            <a:r>
              <a:rPr lang="en-US" sz="1100" b="1" dirty="0">
                <a:solidFill>
                  <a:srgbClr val="C2410C"/>
                </a:solidFill>
                <a:latin typeface="Courier New" pitchFamily="34" charset="0"/>
                <a:ea typeface="Courier New" pitchFamily="34" charset="-122"/>
                <a:cs typeface="Courier New" pitchFamily="34" charset="-120"/>
              </a:rPr>
              <a:t>404 Not Found</a:t>
            </a:r>
            <a:endParaRPr lang="en-US" sz="1100" dirty="0"/>
          </a:p>
        </p:txBody>
      </p:sp>
      <p:sp>
        <p:nvSpPr>
          <p:cNvPr id="37" name="Text 35"/>
          <p:cNvSpPr/>
          <p:nvPr/>
        </p:nvSpPr>
        <p:spPr>
          <a:xfrm>
            <a:off x="8869680" y="3666744"/>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URL names nothing. Server is fine</a:t>
            </a:r>
            <a:endParaRPr lang="en-US" sz="1100" dirty="0"/>
          </a:p>
        </p:txBody>
      </p:sp>
      <p:sp>
        <p:nvSpPr>
          <p:cNvPr id="38" name="Text 36"/>
          <p:cNvSpPr/>
          <p:nvPr/>
        </p:nvSpPr>
        <p:spPr>
          <a:xfrm>
            <a:off x="6355080" y="4087368"/>
            <a:ext cx="2423160" cy="292608"/>
          </a:xfrm>
          <a:prstGeom prst="rect">
            <a:avLst/>
          </a:prstGeom>
          <a:noFill/>
          <a:ln/>
        </p:spPr>
        <p:txBody>
          <a:bodyPr wrap="square" lIns="0" tIns="0" rIns="0" bIns="0" rtlCol="0" anchor="ctr"/>
          <a:lstStyle/>
          <a:p>
            <a:pPr indent="0" marL="0">
              <a:buNone/>
            </a:pPr>
            <a:r>
              <a:rPr lang="en-US" sz="1100" b="1" dirty="0">
                <a:solidFill>
                  <a:srgbClr val="C2410C"/>
                </a:solidFill>
                <a:latin typeface="Courier New" pitchFamily="34" charset="0"/>
                <a:ea typeface="Courier New" pitchFamily="34" charset="-122"/>
                <a:cs typeface="Courier New" pitchFamily="34" charset="-120"/>
              </a:rPr>
              <a:t>409 Conflict</a:t>
            </a:r>
            <a:endParaRPr lang="en-US" sz="1100" dirty="0"/>
          </a:p>
        </p:txBody>
      </p:sp>
      <p:sp>
        <p:nvSpPr>
          <p:cNvPr id="39" name="Text 37"/>
          <p:cNvSpPr/>
          <p:nvPr/>
        </p:nvSpPr>
        <p:spPr>
          <a:xfrm>
            <a:off x="8869680" y="4087368"/>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Two students, one last seat</a:t>
            </a:r>
            <a:endParaRPr lang="en-US" sz="1100" dirty="0"/>
          </a:p>
        </p:txBody>
      </p:sp>
      <p:sp>
        <p:nvSpPr>
          <p:cNvPr id="40" name="Text 38"/>
          <p:cNvSpPr/>
          <p:nvPr/>
        </p:nvSpPr>
        <p:spPr>
          <a:xfrm>
            <a:off x="6355080" y="4507992"/>
            <a:ext cx="2423160" cy="292608"/>
          </a:xfrm>
          <a:prstGeom prst="rect">
            <a:avLst/>
          </a:prstGeom>
          <a:noFill/>
          <a:ln/>
        </p:spPr>
        <p:txBody>
          <a:bodyPr wrap="square" lIns="0" tIns="0" rIns="0" bIns="0" rtlCol="0" anchor="ctr"/>
          <a:lstStyle/>
          <a:p>
            <a:pPr indent="0" marL="0">
              <a:buNone/>
            </a:pPr>
            <a:r>
              <a:rPr lang="en-US" sz="1100" b="1" dirty="0">
                <a:solidFill>
                  <a:srgbClr val="C2410C"/>
                </a:solidFill>
                <a:latin typeface="Courier New" pitchFamily="34" charset="0"/>
                <a:ea typeface="Courier New" pitchFamily="34" charset="-122"/>
                <a:cs typeface="Courier New" pitchFamily="34" charset="-120"/>
              </a:rPr>
              <a:t>429 Too Many Requests</a:t>
            </a:r>
            <a:endParaRPr lang="en-US" sz="1100" dirty="0"/>
          </a:p>
        </p:txBody>
      </p:sp>
      <p:sp>
        <p:nvSpPr>
          <p:cNvPr id="41" name="Text 39"/>
          <p:cNvSpPr/>
          <p:nvPr/>
        </p:nvSpPr>
        <p:spPr>
          <a:xfrm>
            <a:off x="8869680" y="4507992"/>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Rate limited. Retry-After says when</a:t>
            </a:r>
            <a:endParaRPr lang="en-US" sz="1100" dirty="0"/>
          </a:p>
        </p:txBody>
      </p:sp>
      <p:sp>
        <p:nvSpPr>
          <p:cNvPr id="42" name="Text 40"/>
          <p:cNvSpPr/>
          <p:nvPr/>
        </p:nvSpPr>
        <p:spPr>
          <a:xfrm>
            <a:off x="6355080" y="4928616"/>
            <a:ext cx="2423160" cy="292608"/>
          </a:xfrm>
          <a:prstGeom prst="rect">
            <a:avLst/>
          </a:prstGeom>
          <a:noFill/>
          <a:ln/>
        </p:spPr>
        <p:txBody>
          <a:bodyPr wrap="square" lIns="0" tIns="0" rIns="0" bIns="0" rtlCol="0" anchor="ctr"/>
          <a:lstStyle/>
          <a:p>
            <a:pPr indent="0" marL="0">
              <a:buNone/>
            </a:pPr>
            <a:r>
              <a:rPr lang="en-US" sz="1100" b="1" dirty="0">
                <a:solidFill>
                  <a:srgbClr val="B3121B"/>
                </a:solidFill>
                <a:latin typeface="Courier New" pitchFamily="34" charset="0"/>
                <a:ea typeface="Courier New" pitchFamily="34" charset="-122"/>
                <a:cs typeface="Courier New" pitchFamily="34" charset="-120"/>
              </a:rPr>
              <a:t>500 Internal Server Error</a:t>
            </a:r>
            <a:endParaRPr lang="en-US" sz="1100" dirty="0"/>
          </a:p>
        </p:txBody>
      </p:sp>
      <p:sp>
        <p:nvSpPr>
          <p:cNvPr id="43" name="Text 41"/>
          <p:cNvSpPr/>
          <p:nvPr/>
        </p:nvSpPr>
        <p:spPr>
          <a:xfrm>
            <a:off x="8869680" y="4928616"/>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Your code raised. Read the traceback</a:t>
            </a:r>
            <a:endParaRPr lang="en-US" sz="1100" dirty="0"/>
          </a:p>
        </p:txBody>
      </p:sp>
      <p:sp>
        <p:nvSpPr>
          <p:cNvPr id="44" name="Text 42"/>
          <p:cNvSpPr/>
          <p:nvPr/>
        </p:nvSpPr>
        <p:spPr>
          <a:xfrm>
            <a:off x="6355080" y="5349240"/>
            <a:ext cx="2423160" cy="292608"/>
          </a:xfrm>
          <a:prstGeom prst="rect">
            <a:avLst/>
          </a:prstGeom>
          <a:noFill/>
          <a:ln/>
        </p:spPr>
        <p:txBody>
          <a:bodyPr wrap="square" lIns="0" tIns="0" rIns="0" bIns="0" rtlCol="0" anchor="ctr"/>
          <a:lstStyle/>
          <a:p>
            <a:pPr indent="0" marL="0">
              <a:buNone/>
            </a:pPr>
            <a:r>
              <a:rPr lang="en-US" sz="1100" b="1" dirty="0">
                <a:solidFill>
                  <a:srgbClr val="B3121B"/>
                </a:solidFill>
                <a:latin typeface="Courier New" pitchFamily="34" charset="0"/>
                <a:ea typeface="Courier New" pitchFamily="34" charset="-122"/>
                <a:cs typeface="Courier New" pitchFamily="34" charset="-120"/>
              </a:rPr>
              <a:t>502 Bad Gateway</a:t>
            </a:r>
            <a:endParaRPr lang="en-US" sz="1100" dirty="0"/>
          </a:p>
        </p:txBody>
      </p:sp>
      <p:sp>
        <p:nvSpPr>
          <p:cNvPr id="45" name="Text 43"/>
          <p:cNvSpPr/>
          <p:nvPr/>
        </p:nvSpPr>
        <p:spPr>
          <a:xfrm>
            <a:off x="8869680" y="5349240"/>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Worker died — the OOM kill from panel 08</a:t>
            </a:r>
            <a:endParaRPr lang="en-US" sz="1100" dirty="0"/>
          </a:p>
        </p:txBody>
      </p:sp>
      <p:sp>
        <p:nvSpPr>
          <p:cNvPr id="46" name="Text 44"/>
          <p:cNvSpPr/>
          <p:nvPr/>
        </p:nvSpPr>
        <p:spPr>
          <a:xfrm>
            <a:off x="6355080" y="5769864"/>
            <a:ext cx="2423160" cy="292608"/>
          </a:xfrm>
          <a:prstGeom prst="rect">
            <a:avLst/>
          </a:prstGeom>
          <a:noFill/>
          <a:ln/>
        </p:spPr>
        <p:txBody>
          <a:bodyPr wrap="square" lIns="0" tIns="0" rIns="0" bIns="0" rtlCol="0" anchor="ctr"/>
          <a:lstStyle/>
          <a:p>
            <a:pPr indent="0" marL="0">
              <a:buNone/>
            </a:pPr>
            <a:r>
              <a:rPr lang="en-US" sz="1100" b="1" dirty="0">
                <a:solidFill>
                  <a:srgbClr val="B3121B"/>
                </a:solidFill>
                <a:latin typeface="Courier New" pitchFamily="34" charset="0"/>
                <a:ea typeface="Courier New" pitchFamily="34" charset="-122"/>
                <a:cs typeface="Courier New" pitchFamily="34" charset="-120"/>
              </a:rPr>
              <a:t>504 Gateway Timeout</a:t>
            </a:r>
            <a:endParaRPr lang="en-US" sz="1100" dirty="0"/>
          </a:p>
        </p:txBody>
      </p:sp>
      <p:sp>
        <p:nvSpPr>
          <p:cNvPr id="47" name="Text 45"/>
          <p:cNvSpPr/>
          <p:nvPr/>
        </p:nvSpPr>
        <p:spPr>
          <a:xfrm>
            <a:off x="8869680" y="5769864"/>
            <a:ext cx="3108960" cy="292608"/>
          </a:xfrm>
          <a:prstGeom prst="rect">
            <a:avLst/>
          </a:prstGeom>
          <a:noFill/>
          <a:ln/>
        </p:spPr>
        <p:txBody>
          <a:bodyPr wrap="square" lIns="0" tIns="0" rIns="0" bIns="0" rtlCol="0" anchor="ctr"/>
          <a:lstStyle/>
          <a:p>
            <a:pPr indent="0" marL="0">
              <a:buNone/>
            </a:pPr>
            <a:r>
              <a:rPr lang="en-US" sz="1100" dirty="0">
                <a:solidFill>
                  <a:srgbClr val="3F3F4D"/>
                </a:solidFill>
                <a:latin typeface="Arial" pitchFamily="34" charset="0"/>
                <a:ea typeface="Arial" pitchFamily="34" charset="-122"/>
                <a:cs typeface="Arial" pitchFamily="34" charset="-120"/>
              </a:rPr>
              <a:t>App did not answer. The queue overflowed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MISTAKE ALMOST EVERYONE MAKES FIRST</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Nouns go in the URL. Verbs stay in the method.</a:t>
            </a:r>
            <a:endParaRPr lang="en-US" sz="3200" dirty="0"/>
          </a:p>
        </p:txBody>
      </p:sp>
      <p:sp>
        <p:nvSpPr>
          <p:cNvPr id="4" name="Shape 2"/>
          <p:cNvSpPr/>
          <p:nvPr/>
        </p:nvSpPr>
        <p:spPr>
          <a:xfrm>
            <a:off x="594360" y="2011680"/>
            <a:ext cx="5394960" cy="3108960"/>
          </a:xfrm>
          <a:prstGeom prst="roundRect">
            <a:avLst>
              <a:gd name="adj" fmla="val 1765"/>
            </a:avLst>
          </a:prstGeom>
          <a:solidFill>
            <a:srgbClr val="F6F6FA"/>
          </a:solidFill>
          <a:ln w="9525">
            <a:solidFill>
              <a:srgbClr val="C9C7C2"/>
            </a:solidFill>
            <a:prstDash val="solid"/>
          </a:ln>
        </p:spPr>
      </p:sp>
      <p:sp>
        <p:nvSpPr>
          <p:cNvPr id="5" name="Text 3"/>
          <p:cNvSpPr/>
          <p:nvPr/>
        </p:nvSpPr>
        <p:spPr>
          <a:xfrm>
            <a:off x="886968" y="2212848"/>
            <a:ext cx="4754880" cy="310896"/>
          </a:xfrm>
          <a:prstGeom prst="rect">
            <a:avLst/>
          </a:prstGeom>
          <a:noFill/>
          <a:ln/>
        </p:spPr>
        <p:txBody>
          <a:bodyPr wrap="square" lIns="0" tIns="0" rIns="0" bIns="0" rtlCol="0" anchor="ctr"/>
          <a:lstStyle/>
          <a:p>
            <a:pPr indent="0" marL="0">
              <a:buNone/>
            </a:pPr>
            <a:r>
              <a:rPr lang="en-US" sz="1300" b="1" dirty="0">
                <a:solidFill>
                  <a:srgbClr val="B3121B"/>
                </a:solidFill>
                <a:latin typeface="Arial" pitchFamily="34" charset="0"/>
                <a:ea typeface="Arial" pitchFamily="34" charset="-122"/>
                <a:cs typeface="Arial" pitchFamily="34" charset="-120"/>
              </a:rPr>
              <a:t>✕   Verbs baked into the URL</a:t>
            </a:r>
            <a:endParaRPr lang="en-US" sz="1300" dirty="0"/>
          </a:p>
        </p:txBody>
      </p:sp>
      <p:sp>
        <p:nvSpPr>
          <p:cNvPr id="6" name="Text 4"/>
          <p:cNvSpPr/>
          <p:nvPr/>
        </p:nvSpPr>
        <p:spPr>
          <a:xfrm>
            <a:off x="886968" y="2633472"/>
            <a:ext cx="4846320" cy="1371600"/>
          </a:xfrm>
          <a:prstGeom prst="rect">
            <a:avLst/>
          </a:prstGeom>
          <a:noFill/>
          <a:ln/>
        </p:spPr>
        <p:txBody>
          <a:bodyPr wrap="square" lIns="0" tIns="0" rIns="0" bIns="0" rtlCol="0" anchor="ctr"/>
          <a:lstStyle/>
          <a:p>
            <a:pPr indent="0" marL="0">
              <a:lnSpc>
                <a:spcPts val="2200"/>
              </a:lnSpc>
              <a:buNone/>
            </a:pPr>
            <a:r>
              <a:rPr lang="en-US" sz="1200" dirty="0">
                <a:solidFill>
                  <a:srgbClr val="3F3F4D"/>
                </a:solidFill>
                <a:latin typeface="Courier New" pitchFamily="34" charset="0"/>
                <a:ea typeface="Courier New" pitchFamily="34" charset="-122"/>
                <a:cs typeface="Courier New" pitchFamily="34" charset="-120"/>
              </a:rPr>
              <a:t>GET    /getCourses</a:t>
            </a:r>
            <a:endParaRPr lang="en-US" sz="1200" dirty="0"/>
          </a:p>
          <a:p>
            <a:pPr indent="0" marL="0">
              <a:lnSpc>
                <a:spcPts val="2200"/>
              </a:lnSpc>
              <a:buNone/>
            </a:pPr>
            <a:r>
              <a:rPr lang="en-US" sz="1200" dirty="0">
                <a:solidFill>
                  <a:srgbClr val="3F3F4D"/>
                </a:solidFill>
                <a:latin typeface="Courier New" pitchFamily="34" charset="0"/>
                <a:ea typeface="Courier New" pitchFamily="34" charset="-122"/>
                <a:cs typeface="Courier New" pitchFamily="34" charset="-120"/>
              </a:rPr>
              <a:t>GET    /createEnrollment?student=5</a:t>
            </a:r>
            <a:endParaRPr lang="en-US" sz="1200" dirty="0"/>
          </a:p>
          <a:p>
            <a:pPr indent="0" marL="0">
              <a:lnSpc>
                <a:spcPts val="2200"/>
              </a:lnSpc>
              <a:buNone/>
            </a:pPr>
            <a:r>
              <a:rPr lang="en-US" sz="1200" dirty="0">
                <a:solidFill>
                  <a:srgbClr val="3F3F4D"/>
                </a:solidFill>
                <a:latin typeface="Courier New" pitchFamily="34" charset="0"/>
                <a:ea typeface="Courier New" pitchFamily="34" charset="-122"/>
                <a:cs typeface="Courier New" pitchFamily="34" charset="-120"/>
              </a:rPr>
              <a:t>POST   /updateCourseName</a:t>
            </a:r>
            <a:endParaRPr lang="en-US" sz="1200" dirty="0"/>
          </a:p>
          <a:p>
            <a:pPr indent="0" marL="0">
              <a:lnSpc>
                <a:spcPts val="2200"/>
              </a:lnSpc>
              <a:buNone/>
            </a:pPr>
            <a:r>
              <a:rPr lang="en-US" sz="1200" dirty="0">
                <a:solidFill>
                  <a:srgbClr val="3F3F4D"/>
                </a:solidFill>
                <a:latin typeface="Courier New" pitchFamily="34" charset="0"/>
                <a:ea typeface="Courier New" pitchFamily="34" charset="-122"/>
                <a:cs typeface="Courier New" pitchFamily="34" charset="-120"/>
              </a:rPr>
              <a:t>GET    /deleteStudent?id=5</a:t>
            </a:r>
            <a:endParaRPr lang="en-US" sz="1200" dirty="0"/>
          </a:p>
        </p:txBody>
      </p:sp>
      <p:sp>
        <p:nvSpPr>
          <p:cNvPr id="7" name="Text 5"/>
          <p:cNvSpPr/>
          <p:nvPr/>
        </p:nvSpPr>
        <p:spPr>
          <a:xfrm>
            <a:off x="886968" y="4114800"/>
            <a:ext cx="4846320" cy="868680"/>
          </a:xfrm>
          <a:prstGeom prst="rect">
            <a:avLst/>
          </a:prstGeom>
          <a:noFill/>
          <a:ln/>
        </p:spPr>
        <p:txBody>
          <a:bodyPr wrap="square" lIns="0" tIns="0" rIns="0" bIns="0" rtlCol="0" anchor="ctr"/>
          <a:lstStyle/>
          <a:p>
            <a:pPr indent="0" marL="0">
              <a:lnSpc>
                <a:spcPts val="1500"/>
              </a:lnSpc>
              <a:buNone/>
            </a:pPr>
            <a:r>
              <a:rPr lang="en-US" sz="1150" dirty="0">
                <a:solidFill>
                  <a:srgbClr val="63616F"/>
                </a:solidFill>
                <a:latin typeface="Arial" pitchFamily="34" charset="0"/>
                <a:ea typeface="Arial" pitchFamily="34" charset="-122"/>
                <a:cs typeface="Arial" pitchFamily="34" charset="-120"/>
              </a:rPr>
              <a:t>Every new action needs a new URL, so the list never stops growing. And the last one changes data behind a GET — so a search crawler can delete your students.</a:t>
            </a:r>
            <a:endParaRPr lang="en-US" sz="1150" dirty="0"/>
          </a:p>
        </p:txBody>
      </p:sp>
      <p:sp>
        <p:nvSpPr>
          <p:cNvPr id="8" name="Shape 6"/>
          <p:cNvSpPr/>
          <p:nvPr/>
        </p:nvSpPr>
        <p:spPr>
          <a:xfrm>
            <a:off x="6217920" y="2011680"/>
            <a:ext cx="5349240" cy="3108960"/>
          </a:xfrm>
          <a:prstGeom prst="roundRect">
            <a:avLst>
              <a:gd name="adj" fmla="val 1765"/>
            </a:avLst>
          </a:prstGeom>
          <a:solidFill>
            <a:srgbClr val="F6F6FA"/>
          </a:solidFill>
          <a:ln w="9525">
            <a:solidFill>
              <a:srgbClr val="C9C7C2"/>
            </a:solidFill>
            <a:prstDash val="solid"/>
          </a:ln>
        </p:spPr>
      </p:sp>
      <p:sp>
        <p:nvSpPr>
          <p:cNvPr id="9" name="Text 7"/>
          <p:cNvSpPr/>
          <p:nvPr/>
        </p:nvSpPr>
        <p:spPr>
          <a:xfrm>
            <a:off x="6510528" y="2212848"/>
            <a:ext cx="4754880" cy="310896"/>
          </a:xfrm>
          <a:prstGeom prst="rect">
            <a:avLst/>
          </a:prstGeom>
          <a:noFill/>
          <a:ln/>
        </p:spPr>
        <p:txBody>
          <a:bodyPr wrap="square" lIns="0" tIns="0" rIns="0" bIns="0" rtlCol="0" anchor="ctr"/>
          <a:lstStyle/>
          <a:p>
            <a:pPr indent="0" marL="0">
              <a:buNone/>
            </a:pPr>
            <a:r>
              <a:rPr lang="en-US" sz="1300" b="1" dirty="0">
                <a:solidFill>
                  <a:srgbClr val="10069F"/>
                </a:solidFill>
                <a:latin typeface="Arial" pitchFamily="34" charset="0"/>
                <a:ea typeface="Arial" pitchFamily="34" charset="-122"/>
                <a:cs typeface="Arial" pitchFamily="34" charset="-120"/>
              </a:rPr>
              <a:t>✓   Nouns in the URL</a:t>
            </a:r>
            <a:endParaRPr lang="en-US" sz="1300" dirty="0"/>
          </a:p>
        </p:txBody>
      </p:sp>
      <p:sp>
        <p:nvSpPr>
          <p:cNvPr id="10" name="Text 8"/>
          <p:cNvSpPr/>
          <p:nvPr/>
        </p:nvSpPr>
        <p:spPr>
          <a:xfrm>
            <a:off x="6510528" y="2633472"/>
            <a:ext cx="4754880" cy="1371600"/>
          </a:xfrm>
          <a:prstGeom prst="rect">
            <a:avLst/>
          </a:prstGeom>
          <a:noFill/>
          <a:ln/>
        </p:spPr>
        <p:txBody>
          <a:bodyPr wrap="square" lIns="0" tIns="0" rIns="0" bIns="0" rtlCol="0" anchor="ctr"/>
          <a:lstStyle/>
          <a:p>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GET     /courses</a:t>
            </a:r>
            <a:endParaRPr lang="en-US" sz="1200" dirty="0"/>
          </a:p>
          <a:p>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POST    /enrollments</a:t>
            </a:r>
            <a:endParaRPr lang="en-US" sz="1200" dirty="0"/>
          </a:p>
          <a:p>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PATCH   /courses/ITENT45</a:t>
            </a:r>
            <a:endParaRPr lang="en-US" sz="1200" dirty="0"/>
          </a:p>
          <a:p>
            <a:pPr indent="0" marL="0">
              <a:lnSpc>
                <a:spcPts val="2200"/>
              </a:lnSpc>
              <a:buNone/>
            </a:pPr>
            <a:r>
              <a:rPr lang="en-US" sz="1200" dirty="0">
                <a:solidFill>
                  <a:srgbClr val="0A0A14"/>
                </a:solidFill>
                <a:latin typeface="Courier New" pitchFamily="34" charset="0"/>
                <a:ea typeface="Courier New" pitchFamily="34" charset="-122"/>
                <a:cs typeface="Courier New" pitchFamily="34" charset="-120"/>
              </a:rPr>
              <a:t>DELETE  /students/5</a:t>
            </a:r>
            <a:endParaRPr lang="en-US" sz="1200" dirty="0"/>
          </a:p>
        </p:txBody>
      </p:sp>
      <p:sp>
        <p:nvSpPr>
          <p:cNvPr id="11" name="Text 9"/>
          <p:cNvSpPr/>
          <p:nvPr/>
        </p:nvSpPr>
        <p:spPr>
          <a:xfrm>
            <a:off x="6510528" y="4114800"/>
            <a:ext cx="4754880" cy="868680"/>
          </a:xfrm>
          <a:prstGeom prst="rect">
            <a:avLst/>
          </a:prstGeom>
          <a:noFill/>
          <a:ln/>
        </p:spPr>
        <p:txBody>
          <a:bodyPr wrap="square" lIns="0" tIns="0" rIns="0" bIns="0" rtlCol="0" anchor="ctr"/>
          <a:lstStyle/>
          <a:p>
            <a:pPr indent="0" marL="0">
              <a:lnSpc>
                <a:spcPts val="1500"/>
              </a:lnSpc>
              <a:buNone/>
            </a:pPr>
            <a:r>
              <a:rPr lang="en-US" sz="1150" dirty="0">
                <a:solidFill>
                  <a:srgbClr val="63616F"/>
                </a:solidFill>
                <a:latin typeface="Arial" pitchFamily="34" charset="0"/>
                <a:ea typeface="Arial" pitchFamily="34" charset="-122"/>
                <a:cs typeface="Arial" pitchFamily="34" charset="-120"/>
              </a:rPr>
              <a:t>A small fixed set of verbs against a growing set of nouns. Anyone who knows HTTP can guess your API without reading your docs — and that guessability is most of what REST is worth.</a:t>
            </a:r>
            <a:endParaRPr lang="en-US" sz="1150" dirty="0"/>
          </a:p>
        </p:txBody>
      </p:sp>
      <p:sp>
        <p:nvSpPr>
          <p:cNvPr id="12" name="Text 10"/>
          <p:cNvSpPr/>
          <p:nvPr/>
        </p:nvSpPr>
        <p:spPr>
          <a:xfrm>
            <a:off x="594360" y="5440680"/>
            <a:ext cx="10972800" cy="365760"/>
          </a:xfrm>
          <a:prstGeom prst="rect">
            <a:avLst/>
          </a:prstGeom>
          <a:noFill/>
          <a:ln/>
        </p:spPr>
        <p:txBody>
          <a:bodyPr wrap="square" lIns="0" tIns="0" rIns="0" bIns="0" rtlCol="0" anchor="ctr"/>
          <a:lstStyle/>
          <a:p>
            <a:pPr indent="0" marL="0">
              <a:buNone/>
            </a:pPr>
            <a:r>
              <a:rPr lang="en-US" sz="1350" dirty="0">
                <a:solidFill>
                  <a:srgbClr val="10069F"/>
                </a:solidFill>
                <a:latin typeface="Arial" pitchFamily="34" charset="0"/>
                <a:ea typeface="Arial" pitchFamily="34" charset="-122"/>
                <a:cs typeface="Arial" pitchFamily="34" charset="-120"/>
              </a:rPr>
              <a:t>Model your system as resources. Give each a URL. Act on them with standard verbs. Keep every request self-contained.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10069F"/>
                </a:solidFill>
                <a:latin typeface="Courier New" pitchFamily="34" charset="0"/>
                <a:ea typeface="Courier New" pitchFamily="34" charset="-122"/>
                <a:cs typeface="Courier New" pitchFamily="34" charset="-120"/>
              </a:rPr>
              <a:t>WHY REST IS WORTH THE TROUBLE</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One backend, three clients that have never met</a:t>
            </a:r>
            <a:endParaRPr lang="en-US" sz="3200" dirty="0"/>
          </a:p>
        </p:txBody>
      </p:sp>
      <p:sp>
        <p:nvSpPr>
          <p:cNvPr id="4" name="Shape 2"/>
          <p:cNvSpPr/>
          <p:nvPr/>
        </p:nvSpPr>
        <p:spPr>
          <a:xfrm>
            <a:off x="594360" y="2011680"/>
            <a:ext cx="3657600" cy="804672"/>
          </a:xfrm>
          <a:prstGeom prst="roundRect">
            <a:avLst>
              <a:gd name="adj" fmla="val 6818"/>
            </a:avLst>
          </a:prstGeom>
          <a:solidFill>
            <a:srgbClr val="F6F6FA"/>
          </a:solidFill>
          <a:ln w="9525">
            <a:solidFill>
              <a:srgbClr val="C9C7C2"/>
            </a:solidFill>
            <a:prstDash val="solid"/>
          </a:ln>
        </p:spPr>
      </p:sp>
      <p:sp>
        <p:nvSpPr>
          <p:cNvPr id="5" name="Text 3"/>
          <p:cNvSpPr/>
          <p:nvPr/>
        </p:nvSpPr>
        <p:spPr>
          <a:xfrm>
            <a:off x="850392" y="2130552"/>
            <a:ext cx="3200400" cy="274320"/>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Web browser</a:t>
            </a:r>
            <a:endParaRPr lang="en-US" sz="1400" dirty="0"/>
          </a:p>
        </p:txBody>
      </p:sp>
      <p:sp>
        <p:nvSpPr>
          <p:cNvPr id="6" name="Text 4"/>
          <p:cNvSpPr/>
          <p:nvPr/>
        </p:nvSpPr>
        <p:spPr>
          <a:xfrm>
            <a:off x="850392" y="2432304"/>
            <a:ext cx="3200400" cy="274320"/>
          </a:xfrm>
          <a:prstGeom prst="rect">
            <a:avLst/>
          </a:prstGeom>
          <a:noFill/>
          <a:ln/>
        </p:spPr>
        <p:txBody>
          <a:bodyPr wrap="square" lIns="0" tIns="0" rIns="0" bIns="0" rtlCol="0" anchor="ctr"/>
          <a:lstStyle/>
          <a:p>
            <a:pPr indent="0" marL="0">
              <a:buNone/>
            </a:pPr>
            <a:r>
              <a:rPr lang="en-US" sz="950" dirty="0">
                <a:solidFill>
                  <a:srgbClr val="C2410C"/>
                </a:solidFill>
                <a:latin typeface="Courier New" pitchFamily="34" charset="0"/>
                <a:ea typeface="Courier New" pitchFamily="34" charset="-122"/>
                <a:cs typeface="Courier New" pitchFamily="34" charset="-120"/>
              </a:rPr>
              <a:t>React, laptop   ·   Cookie: sessionid=…</a:t>
            </a:r>
            <a:endParaRPr lang="en-US" sz="950" dirty="0"/>
          </a:p>
        </p:txBody>
      </p:sp>
      <p:sp>
        <p:nvSpPr>
          <p:cNvPr id="7" name="Shape 5"/>
          <p:cNvSpPr/>
          <p:nvPr/>
        </p:nvSpPr>
        <p:spPr>
          <a:xfrm>
            <a:off x="594360" y="2971800"/>
            <a:ext cx="3657600" cy="804672"/>
          </a:xfrm>
          <a:prstGeom prst="roundRect">
            <a:avLst>
              <a:gd name="adj" fmla="val 6818"/>
            </a:avLst>
          </a:prstGeom>
          <a:solidFill>
            <a:srgbClr val="F6F6FA"/>
          </a:solidFill>
          <a:ln w="9525">
            <a:solidFill>
              <a:srgbClr val="C9C7C2"/>
            </a:solidFill>
            <a:prstDash val="solid"/>
          </a:ln>
        </p:spPr>
      </p:sp>
      <p:sp>
        <p:nvSpPr>
          <p:cNvPr id="8" name="Text 6"/>
          <p:cNvSpPr/>
          <p:nvPr/>
        </p:nvSpPr>
        <p:spPr>
          <a:xfrm>
            <a:off x="850392" y="3090672"/>
            <a:ext cx="3200400" cy="274320"/>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iOS app</a:t>
            </a:r>
            <a:endParaRPr lang="en-US" sz="1400" dirty="0"/>
          </a:p>
        </p:txBody>
      </p:sp>
      <p:sp>
        <p:nvSpPr>
          <p:cNvPr id="9" name="Text 7"/>
          <p:cNvSpPr/>
          <p:nvPr/>
        </p:nvSpPr>
        <p:spPr>
          <a:xfrm>
            <a:off x="850392" y="3392424"/>
            <a:ext cx="3200400" cy="274320"/>
          </a:xfrm>
          <a:prstGeom prst="rect">
            <a:avLst/>
          </a:prstGeom>
          <a:noFill/>
          <a:ln/>
        </p:spPr>
        <p:txBody>
          <a:bodyPr wrap="square" lIns="0" tIns="0" rIns="0" bIns="0" rtlCol="0" anchor="ctr"/>
          <a:lstStyle/>
          <a:p>
            <a:pPr indent="0" marL="0">
              <a:buNone/>
            </a:pPr>
            <a:r>
              <a:rPr lang="en-US" sz="950" dirty="0">
                <a:solidFill>
                  <a:srgbClr val="C2410C"/>
                </a:solidFill>
                <a:latin typeface="Courier New" pitchFamily="34" charset="0"/>
                <a:ea typeface="Courier New" pitchFamily="34" charset="-122"/>
                <a:cs typeface="Courier New" pitchFamily="34" charset="-120"/>
              </a:rPr>
              <a:t>Swift, native   ·   Authorization: Bearer …</a:t>
            </a:r>
            <a:endParaRPr lang="en-US" sz="950" dirty="0"/>
          </a:p>
        </p:txBody>
      </p:sp>
      <p:sp>
        <p:nvSpPr>
          <p:cNvPr id="10" name="Shape 8"/>
          <p:cNvSpPr/>
          <p:nvPr/>
        </p:nvSpPr>
        <p:spPr>
          <a:xfrm>
            <a:off x="594360" y="3931920"/>
            <a:ext cx="3657600" cy="804672"/>
          </a:xfrm>
          <a:prstGeom prst="roundRect">
            <a:avLst>
              <a:gd name="adj" fmla="val 6818"/>
            </a:avLst>
          </a:prstGeom>
          <a:solidFill>
            <a:srgbClr val="F6F6FA"/>
          </a:solidFill>
          <a:ln w="9525">
            <a:solidFill>
              <a:srgbClr val="C9C7C2"/>
            </a:solidFill>
            <a:prstDash val="solid"/>
          </a:ln>
        </p:spPr>
      </p:sp>
      <p:sp>
        <p:nvSpPr>
          <p:cNvPr id="11" name="Text 9"/>
          <p:cNvSpPr/>
          <p:nvPr/>
        </p:nvSpPr>
        <p:spPr>
          <a:xfrm>
            <a:off x="850392" y="4050792"/>
            <a:ext cx="3200400" cy="274320"/>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Android app</a:t>
            </a:r>
            <a:endParaRPr lang="en-US" sz="1400" dirty="0"/>
          </a:p>
        </p:txBody>
      </p:sp>
      <p:sp>
        <p:nvSpPr>
          <p:cNvPr id="12" name="Text 10"/>
          <p:cNvSpPr/>
          <p:nvPr/>
        </p:nvSpPr>
        <p:spPr>
          <a:xfrm>
            <a:off x="850392" y="4352544"/>
            <a:ext cx="3200400" cy="274320"/>
          </a:xfrm>
          <a:prstGeom prst="rect">
            <a:avLst/>
          </a:prstGeom>
          <a:noFill/>
          <a:ln/>
        </p:spPr>
        <p:txBody>
          <a:bodyPr wrap="square" lIns="0" tIns="0" rIns="0" bIns="0" rtlCol="0" anchor="ctr"/>
          <a:lstStyle/>
          <a:p>
            <a:pPr indent="0" marL="0">
              <a:buNone/>
            </a:pPr>
            <a:r>
              <a:rPr lang="en-US" sz="950" dirty="0">
                <a:solidFill>
                  <a:srgbClr val="C2410C"/>
                </a:solidFill>
                <a:latin typeface="Courier New" pitchFamily="34" charset="0"/>
                <a:ea typeface="Courier New" pitchFamily="34" charset="-122"/>
                <a:cs typeface="Courier New" pitchFamily="34" charset="-120"/>
              </a:rPr>
              <a:t>Kotlin, native   ·   Authorization: Bearer …</a:t>
            </a:r>
            <a:endParaRPr lang="en-US" sz="950" dirty="0"/>
          </a:p>
        </p:txBody>
      </p:sp>
      <p:sp>
        <p:nvSpPr>
          <p:cNvPr id="13" name="Text 11"/>
          <p:cNvSpPr/>
          <p:nvPr/>
        </p:nvSpPr>
        <p:spPr>
          <a:xfrm>
            <a:off x="4389120" y="3017520"/>
            <a:ext cx="457200" cy="457200"/>
          </a:xfrm>
          <a:prstGeom prst="rect">
            <a:avLst/>
          </a:prstGeom>
          <a:noFill/>
          <a:ln/>
        </p:spPr>
        <p:txBody>
          <a:bodyPr wrap="square" lIns="0" tIns="0" rIns="0" bIns="0" rtlCol="0" anchor="ctr"/>
          <a:lstStyle/>
          <a:p>
            <a:pPr algn="ctr" indent="0" marL="0">
              <a:buNone/>
            </a:pPr>
            <a:r>
              <a:rPr lang="en-US" sz="2200" dirty="0">
                <a:solidFill>
                  <a:srgbClr val="C9C7C2"/>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4983480" y="2423160"/>
            <a:ext cx="3200400" cy="1737360"/>
          </a:xfrm>
          <a:prstGeom prst="roundRect">
            <a:avLst>
              <a:gd name="adj" fmla="val 3158"/>
            </a:avLst>
          </a:prstGeom>
          <a:solidFill>
            <a:srgbClr val="F6F6FA"/>
          </a:solidFill>
          <a:ln w="9525">
            <a:solidFill>
              <a:srgbClr val="C9C7C2"/>
            </a:solidFill>
            <a:prstDash val="solid"/>
          </a:ln>
        </p:spPr>
      </p:sp>
      <p:sp>
        <p:nvSpPr>
          <p:cNvPr id="15" name="Text 13"/>
          <p:cNvSpPr/>
          <p:nvPr/>
        </p:nvSpPr>
        <p:spPr>
          <a:xfrm>
            <a:off x="5120640" y="2651760"/>
            <a:ext cx="2926080" cy="274320"/>
          </a:xfrm>
          <a:prstGeom prst="rect">
            <a:avLst/>
          </a:prstGeom>
          <a:noFill/>
          <a:ln/>
        </p:spPr>
        <p:txBody>
          <a:bodyPr wrap="square" lIns="0" tIns="0" rIns="0" bIns="0" rtlCol="0" anchor="ctr"/>
          <a:lstStyle/>
          <a:p>
            <a:pPr algn="ctr" indent="0" marL="0">
              <a:buNone/>
            </a:pPr>
            <a:r>
              <a:rPr lang="en-US" sz="1100" b="1" spc="160" kern="0" dirty="0">
                <a:solidFill>
                  <a:srgbClr val="10069F"/>
                </a:solidFill>
                <a:latin typeface="Courier New" pitchFamily="34" charset="0"/>
                <a:ea typeface="Courier New" pitchFamily="34" charset="-122"/>
                <a:cs typeface="Courier New" pitchFamily="34" charset="-120"/>
              </a:rPr>
              <a:t>ONE API</a:t>
            </a:r>
            <a:endParaRPr lang="en-US" sz="1100" dirty="0"/>
          </a:p>
        </p:txBody>
      </p:sp>
      <p:sp>
        <p:nvSpPr>
          <p:cNvPr id="16" name="Text 14"/>
          <p:cNvSpPr/>
          <p:nvPr/>
        </p:nvSpPr>
        <p:spPr>
          <a:xfrm>
            <a:off x="5120640" y="2999232"/>
            <a:ext cx="2926080" cy="310896"/>
          </a:xfrm>
          <a:prstGeom prst="rect">
            <a:avLst/>
          </a:prstGeom>
          <a:noFill/>
          <a:ln/>
        </p:spPr>
        <p:txBody>
          <a:bodyPr wrap="square" lIns="0" tIns="0" rIns="0" bIns="0" rtlCol="0" anchor="ctr"/>
          <a:lstStyle/>
          <a:p>
            <a:pPr algn="ctr" indent="0" marL="0">
              <a:buNone/>
            </a:pPr>
            <a:r>
              <a:rPr lang="en-US" sz="1300" dirty="0">
                <a:solidFill>
                  <a:srgbClr val="0A0A14"/>
                </a:solidFill>
                <a:latin typeface="Courier New" pitchFamily="34" charset="0"/>
                <a:ea typeface="Courier New" pitchFamily="34" charset="-122"/>
                <a:cs typeface="Courier New" pitchFamily="34" charset="-120"/>
              </a:rPr>
              <a:t>GET /api/courses</a:t>
            </a:r>
            <a:endParaRPr lang="en-US" sz="1300" dirty="0"/>
          </a:p>
        </p:txBody>
      </p:sp>
      <p:sp>
        <p:nvSpPr>
          <p:cNvPr id="17" name="Text 15"/>
          <p:cNvSpPr/>
          <p:nvPr/>
        </p:nvSpPr>
        <p:spPr>
          <a:xfrm>
            <a:off x="5120640" y="3383280"/>
            <a:ext cx="2926080" cy="548640"/>
          </a:xfrm>
          <a:prstGeom prst="rect">
            <a:avLst/>
          </a:prstGeom>
          <a:noFill/>
          <a:ln/>
        </p:spPr>
        <p:txBody>
          <a:bodyPr wrap="square" lIns="0" tIns="0" rIns="0" bIns="0" rtlCol="0" anchor="ctr"/>
          <a:lstStyle/>
          <a:p>
            <a:pPr algn="ctr" indent="0" marL="0">
              <a:lnSpc>
                <a:spcPts val="1500"/>
              </a:lnSpc>
              <a:buNone/>
            </a:pPr>
            <a:r>
              <a:rPr lang="en-US" sz="1150" dirty="0">
                <a:solidFill>
                  <a:srgbClr val="3F3F4D"/>
                </a:solidFill>
                <a:latin typeface="Arial" pitchFamily="34" charset="0"/>
                <a:ea typeface="Arial" pitchFamily="34" charset="-122"/>
                <a:cs typeface="Arial" pitchFamily="34" charset="-120"/>
              </a:rPr>
              <a:t>Does not know or care</a:t>
            </a:r>
            <a:endParaRPr lang="en-US" sz="1150" dirty="0"/>
          </a:p>
          <a:p>
            <a:pPr algn="ctr" indent="0" marL="0">
              <a:lnSpc>
                <a:spcPts val="1500"/>
              </a:lnSpc>
              <a:buNone/>
            </a:pPr>
            <a:r>
              <a:rPr lang="en-US" sz="1150" dirty="0">
                <a:solidFill>
                  <a:srgbClr val="3F3F4D"/>
                </a:solidFill>
                <a:latin typeface="Arial" pitchFamily="34" charset="0"/>
                <a:ea typeface="Arial" pitchFamily="34" charset="-122"/>
                <a:cs typeface="Arial" pitchFamily="34" charset="-120"/>
              </a:rPr>
              <a:t>which one is calling</a:t>
            </a:r>
            <a:endParaRPr lang="en-US" sz="1150" dirty="0"/>
          </a:p>
        </p:txBody>
      </p:sp>
      <p:sp>
        <p:nvSpPr>
          <p:cNvPr id="18" name="Text 16"/>
          <p:cNvSpPr/>
          <p:nvPr/>
        </p:nvSpPr>
        <p:spPr>
          <a:xfrm>
            <a:off x="8321040" y="3017520"/>
            <a:ext cx="457200" cy="457200"/>
          </a:xfrm>
          <a:prstGeom prst="rect">
            <a:avLst/>
          </a:prstGeom>
          <a:noFill/>
          <a:ln/>
        </p:spPr>
        <p:txBody>
          <a:bodyPr wrap="square" lIns="0" tIns="0" rIns="0" bIns="0" rtlCol="0" anchor="ctr"/>
          <a:lstStyle/>
          <a:p>
            <a:pPr algn="ctr" indent="0" marL="0">
              <a:buNone/>
            </a:pPr>
            <a:r>
              <a:rPr lang="en-US" sz="2200" dirty="0">
                <a:solidFill>
                  <a:srgbClr val="C9C7C2"/>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8915400" y="2423160"/>
            <a:ext cx="2651760" cy="1737360"/>
          </a:xfrm>
          <a:prstGeom prst="roundRect">
            <a:avLst>
              <a:gd name="adj" fmla="val 3158"/>
            </a:avLst>
          </a:prstGeom>
          <a:solidFill>
            <a:srgbClr val="F6F6FA"/>
          </a:solidFill>
          <a:ln w="9525">
            <a:solidFill>
              <a:srgbClr val="C9C7C2"/>
            </a:solidFill>
            <a:prstDash val="solid"/>
          </a:ln>
        </p:spPr>
      </p:sp>
      <p:sp>
        <p:nvSpPr>
          <p:cNvPr id="20" name="Text 18"/>
          <p:cNvSpPr/>
          <p:nvPr/>
        </p:nvSpPr>
        <p:spPr>
          <a:xfrm>
            <a:off x="9025128" y="2651760"/>
            <a:ext cx="2468880" cy="274320"/>
          </a:xfrm>
          <a:prstGeom prst="rect">
            <a:avLst/>
          </a:prstGeom>
          <a:noFill/>
          <a:ln/>
        </p:spPr>
        <p:txBody>
          <a:bodyPr wrap="square" lIns="0" tIns="0" rIns="0" bIns="0" rtlCol="0" anchor="ctr"/>
          <a:lstStyle/>
          <a:p>
            <a:pPr algn="ctr" indent="0" marL="0">
              <a:buNone/>
            </a:pPr>
            <a:r>
              <a:rPr lang="en-US" sz="950" b="1" spc="120" kern="0" dirty="0">
                <a:solidFill>
                  <a:srgbClr val="10069F"/>
                </a:solidFill>
                <a:latin typeface="Courier New" pitchFamily="34" charset="0"/>
                <a:ea typeface="Courier New" pitchFamily="34" charset="-122"/>
                <a:cs typeface="Courier New" pitchFamily="34" charset="-120"/>
              </a:rPr>
              <a:t>IDENTICAL RESPONSE</a:t>
            </a:r>
            <a:endParaRPr lang="en-US" sz="950" dirty="0"/>
          </a:p>
        </p:txBody>
      </p:sp>
      <p:sp>
        <p:nvSpPr>
          <p:cNvPr id="21" name="Text 19"/>
          <p:cNvSpPr/>
          <p:nvPr/>
        </p:nvSpPr>
        <p:spPr>
          <a:xfrm>
            <a:off x="9052560" y="2999232"/>
            <a:ext cx="2468880" cy="1005840"/>
          </a:xfrm>
          <a:prstGeom prst="rect">
            <a:avLst/>
          </a:prstGeom>
          <a:noFill/>
          <a:ln/>
        </p:spPr>
        <p:txBody>
          <a:bodyPr wrap="square" lIns="0" tIns="0" rIns="0" bIns="0" rtlCol="0" anchor="ctr"/>
          <a:lstStyle/>
          <a:p>
            <a:pPr indent="0" marL="0">
              <a:lnSpc>
                <a:spcPts val="1400"/>
              </a:lnSpc>
              <a:buNone/>
            </a:pPr>
            <a:r>
              <a:rPr lang="en-US" sz="1000" dirty="0">
                <a:solidFill>
                  <a:srgbClr val="3F3F4D"/>
                </a:solidFill>
                <a:latin typeface="Courier New" pitchFamily="34" charset="0"/>
                <a:ea typeface="Courier New" pitchFamily="34" charset="-122"/>
                <a:cs typeface="Courier New" pitchFamily="34" charset="-120"/>
              </a:rPr>
              <a:t>{"courses": [</a:t>
            </a:r>
            <a:endParaRPr lang="en-US" sz="1000" dirty="0"/>
          </a:p>
          <a:p>
            <a:pPr indent="0" marL="0">
              <a:lnSpc>
                <a:spcPts val="1400"/>
              </a:lnSpc>
              <a:buNone/>
            </a:pPr>
            <a:r>
              <a:rPr lang="en-US" sz="1000" dirty="0">
                <a:solidFill>
                  <a:srgbClr val="3F3F4D"/>
                </a:solidFill>
                <a:latin typeface="Courier New" pitchFamily="34" charset="0"/>
                <a:ea typeface="Courier New" pitchFamily="34" charset="-122"/>
                <a:cs typeface="Courier New" pitchFamily="34" charset="-120"/>
              </a:rPr>
              <a:t>  {"code":"ITENT 45",</a:t>
            </a:r>
            <a:endParaRPr lang="en-US" sz="1000" dirty="0"/>
          </a:p>
          <a:p>
            <a:pPr indent="0" marL="0">
              <a:lnSpc>
                <a:spcPts val="1400"/>
              </a:lnSpc>
              <a:buNone/>
            </a:pPr>
            <a:r>
              <a:rPr lang="en-US" sz="1000" dirty="0">
                <a:solidFill>
                  <a:srgbClr val="3F3F4D"/>
                </a:solidFill>
                <a:latin typeface="Courier New" pitchFamily="34" charset="0"/>
                <a:ea typeface="Courier New" pitchFamily="34" charset="-122"/>
                <a:cs typeface="Courier New" pitchFamily="34" charset="-120"/>
              </a:rPr>
              <a:t>   "units": 3}</a:t>
            </a:r>
            <a:endParaRPr lang="en-US" sz="1000" dirty="0"/>
          </a:p>
          <a:p>
            <a:pPr indent="0" marL="0">
              <a:lnSpc>
                <a:spcPts val="1400"/>
              </a:lnSpc>
              <a:buNone/>
            </a:pPr>
            <a:r>
              <a:rPr lang="en-US" sz="1000" dirty="0">
                <a:solidFill>
                  <a:srgbClr val="3F3F4D"/>
                </a:solidFill>
                <a:latin typeface="Courier New" pitchFamily="34" charset="0"/>
                <a:ea typeface="Courier New" pitchFamily="34" charset="-122"/>
                <a:cs typeface="Courier New" pitchFamily="34" charset="-120"/>
              </a:rPr>
              <a:t>]}</a:t>
            </a:r>
            <a:endParaRPr lang="en-US" sz="1000" dirty="0"/>
          </a:p>
        </p:txBody>
      </p:sp>
      <p:sp>
        <p:nvSpPr>
          <p:cNvPr id="22" name="Text 20"/>
          <p:cNvSpPr/>
          <p:nvPr/>
        </p:nvSpPr>
        <p:spPr>
          <a:xfrm>
            <a:off x="594360" y="5166360"/>
            <a:ext cx="10972800" cy="365760"/>
          </a:xfrm>
          <a:prstGeom prst="rect">
            <a:avLst/>
          </a:prstGeom>
          <a:noFill/>
          <a:ln/>
        </p:spPr>
        <p:txBody>
          <a:bodyPr wrap="square" lIns="0" tIns="0" rIns="0" bIns="0" rtlCol="0" anchor="ctr"/>
          <a:lstStyle/>
          <a:p>
            <a:pPr indent="0" marL="0">
              <a:buNone/>
            </a:pPr>
            <a:r>
              <a:rPr lang="en-US" sz="1400" dirty="0">
                <a:solidFill>
                  <a:srgbClr val="0A0A14"/>
                </a:solidFill>
                <a:latin typeface="Arial" pitchFamily="34" charset="0"/>
                <a:ea typeface="Arial" pitchFamily="34" charset="-122"/>
                <a:cs typeface="Arial" pitchFamily="34" charset="-120"/>
              </a:rPr>
              <a:t>Every client gets the same bytes. What differs is only how it asks, and how it draws the answer.</a:t>
            </a:r>
            <a:endParaRPr lang="en-US" sz="1400" dirty="0"/>
          </a:p>
        </p:txBody>
      </p:sp>
      <p:sp>
        <p:nvSpPr>
          <p:cNvPr id="23" name="Text 21"/>
          <p:cNvSpPr/>
          <p:nvPr/>
        </p:nvSpPr>
        <p:spPr>
          <a:xfrm>
            <a:off x="594360" y="5577840"/>
            <a:ext cx="10972800" cy="365760"/>
          </a:xfrm>
          <a:prstGeom prst="rect">
            <a:avLst/>
          </a:prstGeom>
          <a:noFill/>
          <a:ln/>
        </p:spPr>
        <p:txBody>
          <a:bodyPr wrap="square" lIns="0" tIns="0" rIns="0" bIns="0" rtlCol="0" anchor="ctr"/>
          <a:lstStyle/>
          <a:p>
            <a:pPr indent="0" marL="0">
              <a:buNone/>
            </a:pPr>
            <a:r>
              <a:rPr lang="en-US" sz="1250" i="1" dirty="0">
                <a:solidFill>
                  <a:srgbClr val="10069F"/>
                </a:solidFill>
                <a:latin typeface="Arial" pitchFamily="34" charset="0"/>
                <a:ea typeface="Arial" pitchFamily="34" charset="-122"/>
                <a:cs typeface="Arial" pitchFamily="34" charset="-120"/>
              </a:rPr>
              <a:t>REST = Representational State Transfer. You asked for state; you got a representation of it. What you render is your business.</a:t>
            </a:r>
            <a:endParaRPr lang="en-US" sz="1250" dirty="0"/>
          </a:p>
        </p:txBody>
      </p:sp>
      <p:sp>
        <p:nvSpPr>
          <p:cNvPr id="24" name="Shape 22"/>
          <p:cNvSpPr/>
          <p:nvPr/>
        </p:nvSpPr>
        <p:spPr>
          <a:xfrm>
            <a:off x="594360" y="5989320"/>
            <a:ext cx="10972800" cy="658368"/>
          </a:xfrm>
          <a:prstGeom prst="roundRect">
            <a:avLst>
              <a:gd name="adj" fmla="val 8333"/>
            </a:avLst>
          </a:prstGeom>
          <a:solidFill>
            <a:srgbClr val="F6F6FA"/>
          </a:solidFill>
          <a:ln w="9525">
            <a:solidFill>
              <a:srgbClr val="C9C7C2"/>
            </a:solidFill>
            <a:prstDash val="solid"/>
          </a:ln>
        </p:spPr>
      </p:sp>
      <p:sp>
        <p:nvSpPr>
          <p:cNvPr id="25" name="Text 23"/>
          <p:cNvSpPr/>
          <p:nvPr/>
        </p:nvSpPr>
        <p:spPr>
          <a:xfrm>
            <a:off x="886968" y="6153912"/>
            <a:ext cx="10424160" cy="365760"/>
          </a:xfrm>
          <a:prstGeom prst="rect">
            <a:avLst/>
          </a:prstGeom>
          <a:noFill/>
          <a:ln/>
        </p:spPr>
        <p:txBody>
          <a:bodyPr wrap="square" lIns="0" tIns="0" rIns="0" bIns="0" rtlCol="0" anchor="ctr"/>
          <a:lstStyle/>
          <a:p>
            <a:pPr indent="0" marL="0">
              <a:buNone/>
            </a:pPr>
            <a:r>
              <a:rPr lang="en-US" sz="1200" b="1" dirty="0">
                <a:solidFill>
                  <a:srgbClr val="C2410C"/>
                </a:solidFill>
                <a:latin typeface="Arial" pitchFamily="34" charset="0"/>
                <a:ea typeface="Arial" pitchFamily="34" charset="-122"/>
                <a:cs typeface="Arial" pitchFamily="34" charset="-120"/>
              </a:rPr>
              <a:t>The enlistment system is the counterexample. </a:t>
            </a:r>
            <a:pPr indent="0" marL="0">
              <a:buNone/>
            </a:pPr>
            <a:r>
              <a:rPr lang="en-US" sz="1200" dirty="0">
                <a:solidFill>
                  <a:srgbClr val="3F3F4D"/>
                </a:solidFill>
                <a:latin typeface="Arial" pitchFamily="34" charset="0"/>
                <a:ea typeface="Arial" pitchFamily="34" charset="-122"/>
                <a:cs typeface="Arial" pitchFamily="34" charset="-120"/>
              </a:rPr>
              <a:t>It is servlet-based and returns finished HTML, so the logic lives inside the page generation. A mobile app would have nothing to call.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CATCH NOBODY WARNS YOU ABOUT</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You can update the web instantly. You cannot update phones.</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Thirty days after you rename a field, this is who is still calling your API with the old shape.</a:t>
            </a:r>
            <a:endParaRPr lang="en-US" sz="1400" dirty="0"/>
          </a:p>
        </p:txBody>
      </p:sp>
      <p:sp>
        <p:nvSpPr>
          <p:cNvPr id="5" name="Text 3"/>
          <p:cNvSpPr/>
          <p:nvPr/>
        </p:nvSpPr>
        <p:spPr>
          <a:xfrm>
            <a:off x="594360" y="2468880"/>
            <a:ext cx="1188720" cy="292608"/>
          </a:xfrm>
          <a:prstGeom prst="rect">
            <a:avLst/>
          </a:prstGeom>
          <a:noFill/>
          <a:ln/>
        </p:spPr>
        <p:txBody>
          <a:bodyPr wrap="square" lIns="0" tIns="0" rIns="0" bIns="0" rtlCol="0" anchor="ctr"/>
          <a:lstStyle/>
          <a:p>
            <a:pPr indent="0" marL="0">
              <a:buNone/>
            </a:pPr>
            <a:r>
              <a:rPr lang="en-US" sz="1300" b="1" dirty="0">
                <a:solidFill>
                  <a:srgbClr val="0A0A14"/>
                </a:solidFill>
                <a:latin typeface="Courier New" pitchFamily="34" charset="0"/>
                <a:ea typeface="Courier New" pitchFamily="34" charset="-122"/>
                <a:cs typeface="Courier New" pitchFamily="34" charset="-120"/>
              </a:rPr>
              <a:t>Web</a:t>
            </a:r>
            <a:endParaRPr lang="en-US" sz="1300" dirty="0"/>
          </a:p>
        </p:txBody>
      </p:sp>
      <p:sp>
        <p:nvSpPr>
          <p:cNvPr id="6" name="Shape 4"/>
          <p:cNvSpPr/>
          <p:nvPr/>
        </p:nvSpPr>
        <p:spPr>
          <a:xfrm>
            <a:off x="1965960" y="2423160"/>
            <a:ext cx="5852160" cy="365760"/>
          </a:xfrm>
          <a:prstGeom prst="rect">
            <a:avLst/>
          </a:prstGeom>
          <a:solidFill>
            <a:srgbClr val="10069F"/>
          </a:solidFill>
          <a:ln w="6350">
            <a:solidFill>
              <a:srgbClr val="C9C7C2"/>
            </a:solidFill>
            <a:prstDash val="solid"/>
          </a:ln>
        </p:spPr>
      </p:sp>
      <p:sp>
        <p:nvSpPr>
          <p:cNvPr id="7" name="Text 5"/>
          <p:cNvSpPr/>
          <p:nvPr/>
        </p:nvSpPr>
        <p:spPr>
          <a:xfrm>
            <a:off x="8001000" y="2459736"/>
            <a:ext cx="1737360" cy="292608"/>
          </a:xfrm>
          <a:prstGeom prst="rect">
            <a:avLst/>
          </a:prstGeom>
          <a:noFill/>
          <a:ln/>
        </p:spPr>
        <p:txBody>
          <a:bodyPr wrap="square" lIns="0" tIns="0" rIns="0" bIns="0" rtlCol="0" anchor="ctr"/>
          <a:lstStyle/>
          <a:p>
            <a:pPr indent="0" marL="0">
              <a:buNone/>
            </a:pPr>
            <a:r>
              <a:rPr lang="en-US" sz="1150" b="1" dirty="0">
                <a:solidFill>
                  <a:srgbClr val="10069F"/>
                </a:solidFill>
                <a:latin typeface="Courier New" pitchFamily="34" charset="0"/>
                <a:ea typeface="Courier New" pitchFamily="34" charset="-122"/>
                <a:cs typeface="Courier New" pitchFamily="34" charset="-120"/>
              </a:rPr>
              <a:t>0% still old</a:t>
            </a:r>
            <a:endParaRPr lang="en-US" sz="1150" dirty="0"/>
          </a:p>
        </p:txBody>
      </p:sp>
      <p:sp>
        <p:nvSpPr>
          <p:cNvPr id="8" name="Text 6"/>
          <p:cNvSpPr/>
          <p:nvPr/>
        </p:nvSpPr>
        <p:spPr>
          <a:xfrm>
            <a:off x="9829800" y="2468880"/>
            <a:ext cx="2194560" cy="292608"/>
          </a:xfrm>
          <a:prstGeom prst="rect">
            <a:avLst/>
          </a:prstGeom>
          <a:noFill/>
          <a:ln/>
        </p:spPr>
        <p:txBody>
          <a:bodyPr wrap="square" lIns="0" tIns="0" rIns="0" bIns="0" rtlCol="0" anchor="ctr"/>
          <a:lstStyle/>
          <a:p>
            <a:pPr indent="0" marL="0">
              <a:buNone/>
            </a:pPr>
            <a:r>
              <a:rPr lang="en-US" sz="1050" dirty="0">
                <a:solidFill>
                  <a:srgbClr val="63616F"/>
                </a:solidFill>
                <a:latin typeface="Arial" pitchFamily="34" charset="0"/>
                <a:ea typeface="Arial" pitchFamily="34" charset="-122"/>
                <a:cs typeface="Arial" pitchFamily="34" charset="-120"/>
              </a:rPr>
              <a:t>New code on their next reload</a:t>
            </a:r>
            <a:endParaRPr lang="en-US" sz="1050" dirty="0"/>
          </a:p>
        </p:txBody>
      </p:sp>
      <p:sp>
        <p:nvSpPr>
          <p:cNvPr id="9" name="Text 7"/>
          <p:cNvSpPr/>
          <p:nvPr/>
        </p:nvSpPr>
        <p:spPr>
          <a:xfrm>
            <a:off x="594360" y="3310128"/>
            <a:ext cx="1188720" cy="292608"/>
          </a:xfrm>
          <a:prstGeom prst="rect">
            <a:avLst/>
          </a:prstGeom>
          <a:noFill/>
          <a:ln/>
        </p:spPr>
        <p:txBody>
          <a:bodyPr wrap="square" lIns="0" tIns="0" rIns="0" bIns="0" rtlCol="0" anchor="ctr"/>
          <a:lstStyle/>
          <a:p>
            <a:pPr indent="0" marL="0">
              <a:buNone/>
            </a:pPr>
            <a:r>
              <a:rPr lang="en-US" sz="1300" b="1" dirty="0">
                <a:solidFill>
                  <a:srgbClr val="0A0A14"/>
                </a:solidFill>
                <a:latin typeface="Courier New" pitchFamily="34" charset="0"/>
                <a:ea typeface="Courier New" pitchFamily="34" charset="-122"/>
                <a:cs typeface="Courier New" pitchFamily="34" charset="-120"/>
              </a:rPr>
              <a:t>iOS</a:t>
            </a:r>
            <a:endParaRPr lang="en-US" sz="1300" dirty="0"/>
          </a:p>
        </p:txBody>
      </p:sp>
      <p:sp>
        <p:nvSpPr>
          <p:cNvPr id="10" name="Shape 8"/>
          <p:cNvSpPr/>
          <p:nvPr/>
        </p:nvSpPr>
        <p:spPr>
          <a:xfrm>
            <a:off x="1965960" y="3264408"/>
            <a:ext cx="5852160" cy="365760"/>
          </a:xfrm>
          <a:prstGeom prst="rect">
            <a:avLst/>
          </a:prstGeom>
          <a:solidFill>
            <a:srgbClr val="10069F"/>
          </a:solidFill>
          <a:ln w="6350">
            <a:solidFill>
              <a:srgbClr val="C9C7C2"/>
            </a:solidFill>
            <a:prstDash val="solid"/>
          </a:ln>
        </p:spPr>
      </p:sp>
      <p:sp>
        <p:nvSpPr>
          <p:cNvPr id="11" name="Shape 9"/>
          <p:cNvSpPr/>
          <p:nvPr/>
        </p:nvSpPr>
        <p:spPr>
          <a:xfrm>
            <a:off x="7115861" y="3264408"/>
            <a:ext cx="702259" cy="365760"/>
          </a:xfrm>
          <a:prstGeom prst="rect">
            <a:avLst/>
          </a:prstGeom>
          <a:solidFill>
            <a:srgbClr val="B3121B"/>
          </a:solidFill>
          <a:ln w="6350">
            <a:solidFill>
              <a:srgbClr val="B3121B"/>
            </a:solidFill>
            <a:prstDash val="solid"/>
          </a:ln>
        </p:spPr>
      </p:sp>
      <p:sp>
        <p:nvSpPr>
          <p:cNvPr id="12" name="Text 10"/>
          <p:cNvSpPr/>
          <p:nvPr/>
        </p:nvSpPr>
        <p:spPr>
          <a:xfrm>
            <a:off x="8001000" y="3300984"/>
            <a:ext cx="1737360" cy="292608"/>
          </a:xfrm>
          <a:prstGeom prst="rect">
            <a:avLst/>
          </a:prstGeom>
          <a:noFill/>
          <a:ln/>
        </p:spPr>
        <p:txBody>
          <a:bodyPr wrap="square" lIns="0" tIns="0" rIns="0" bIns="0" rtlCol="0" anchor="ctr"/>
          <a:lstStyle/>
          <a:p>
            <a:pPr indent="0" marL="0">
              <a:buNone/>
            </a:pPr>
            <a:r>
              <a:rPr lang="en-US" sz="1150" b="1" dirty="0">
                <a:solidFill>
                  <a:srgbClr val="B3121B"/>
                </a:solidFill>
                <a:latin typeface="Courier New" pitchFamily="34" charset="0"/>
                <a:ea typeface="Courier New" pitchFamily="34" charset="-122"/>
                <a:cs typeface="Courier New" pitchFamily="34" charset="-120"/>
              </a:rPr>
              <a:t>12% still old</a:t>
            </a:r>
            <a:endParaRPr lang="en-US" sz="1150" dirty="0"/>
          </a:p>
        </p:txBody>
      </p:sp>
      <p:sp>
        <p:nvSpPr>
          <p:cNvPr id="13" name="Text 11"/>
          <p:cNvSpPr/>
          <p:nvPr/>
        </p:nvSpPr>
        <p:spPr>
          <a:xfrm>
            <a:off x="9829800" y="3310128"/>
            <a:ext cx="2194560" cy="292608"/>
          </a:xfrm>
          <a:prstGeom prst="rect">
            <a:avLst/>
          </a:prstGeom>
          <a:noFill/>
          <a:ln/>
        </p:spPr>
        <p:txBody>
          <a:bodyPr wrap="square" lIns="0" tIns="0" rIns="0" bIns="0" rtlCol="0" anchor="ctr"/>
          <a:lstStyle/>
          <a:p>
            <a:pPr indent="0" marL="0">
              <a:buNone/>
            </a:pPr>
            <a:r>
              <a:rPr lang="en-US" sz="1050" dirty="0">
                <a:solidFill>
                  <a:srgbClr val="63616F"/>
                </a:solidFill>
                <a:latin typeface="Arial" pitchFamily="34" charset="0"/>
                <a:ea typeface="Arial" pitchFamily="34" charset="-122"/>
                <a:cs typeface="Arial" pitchFamily="34" charset="-120"/>
              </a:rPr>
              <a:t>App Store, then the user taps Update</a:t>
            </a:r>
            <a:endParaRPr lang="en-US" sz="1050" dirty="0"/>
          </a:p>
        </p:txBody>
      </p:sp>
      <p:sp>
        <p:nvSpPr>
          <p:cNvPr id="14" name="Text 12"/>
          <p:cNvSpPr/>
          <p:nvPr/>
        </p:nvSpPr>
        <p:spPr>
          <a:xfrm>
            <a:off x="594360" y="4151376"/>
            <a:ext cx="1188720" cy="292608"/>
          </a:xfrm>
          <a:prstGeom prst="rect">
            <a:avLst/>
          </a:prstGeom>
          <a:noFill/>
          <a:ln/>
        </p:spPr>
        <p:txBody>
          <a:bodyPr wrap="square" lIns="0" tIns="0" rIns="0" bIns="0" rtlCol="0" anchor="ctr"/>
          <a:lstStyle/>
          <a:p>
            <a:pPr indent="0" marL="0">
              <a:buNone/>
            </a:pPr>
            <a:r>
              <a:rPr lang="en-US" sz="1300" b="1" dirty="0">
                <a:solidFill>
                  <a:srgbClr val="0A0A14"/>
                </a:solidFill>
                <a:latin typeface="Courier New" pitchFamily="34" charset="0"/>
                <a:ea typeface="Courier New" pitchFamily="34" charset="-122"/>
                <a:cs typeface="Courier New" pitchFamily="34" charset="-120"/>
              </a:rPr>
              <a:t>Android</a:t>
            </a:r>
            <a:endParaRPr lang="en-US" sz="1300" dirty="0"/>
          </a:p>
        </p:txBody>
      </p:sp>
      <p:sp>
        <p:nvSpPr>
          <p:cNvPr id="15" name="Shape 13"/>
          <p:cNvSpPr/>
          <p:nvPr/>
        </p:nvSpPr>
        <p:spPr>
          <a:xfrm>
            <a:off x="1965960" y="4105656"/>
            <a:ext cx="5852160" cy="365760"/>
          </a:xfrm>
          <a:prstGeom prst="rect">
            <a:avLst/>
          </a:prstGeom>
          <a:solidFill>
            <a:srgbClr val="10069F"/>
          </a:solidFill>
          <a:ln w="6350">
            <a:solidFill>
              <a:srgbClr val="C9C7C2"/>
            </a:solidFill>
            <a:prstDash val="solid"/>
          </a:ln>
        </p:spPr>
      </p:sp>
      <p:sp>
        <p:nvSpPr>
          <p:cNvPr id="16" name="Shape 14"/>
          <p:cNvSpPr/>
          <p:nvPr/>
        </p:nvSpPr>
        <p:spPr>
          <a:xfrm>
            <a:off x="5945429" y="4105656"/>
            <a:ext cx="1872691" cy="365760"/>
          </a:xfrm>
          <a:prstGeom prst="rect">
            <a:avLst/>
          </a:prstGeom>
          <a:solidFill>
            <a:srgbClr val="B3121B"/>
          </a:solidFill>
          <a:ln w="6350">
            <a:solidFill>
              <a:srgbClr val="B3121B"/>
            </a:solidFill>
            <a:prstDash val="solid"/>
          </a:ln>
        </p:spPr>
      </p:sp>
      <p:sp>
        <p:nvSpPr>
          <p:cNvPr id="17" name="Text 15"/>
          <p:cNvSpPr/>
          <p:nvPr/>
        </p:nvSpPr>
        <p:spPr>
          <a:xfrm>
            <a:off x="8001000" y="4142232"/>
            <a:ext cx="1737360" cy="292608"/>
          </a:xfrm>
          <a:prstGeom prst="rect">
            <a:avLst/>
          </a:prstGeom>
          <a:noFill/>
          <a:ln/>
        </p:spPr>
        <p:txBody>
          <a:bodyPr wrap="square" lIns="0" tIns="0" rIns="0" bIns="0" rtlCol="0" anchor="ctr"/>
          <a:lstStyle/>
          <a:p>
            <a:pPr indent="0" marL="0">
              <a:buNone/>
            </a:pPr>
            <a:r>
              <a:rPr lang="en-US" sz="1150" b="1" dirty="0">
                <a:solidFill>
                  <a:srgbClr val="B3121B"/>
                </a:solidFill>
                <a:latin typeface="Courier New" pitchFamily="34" charset="0"/>
                <a:ea typeface="Courier New" pitchFamily="34" charset="-122"/>
                <a:cs typeface="Courier New" pitchFamily="34" charset="-120"/>
              </a:rPr>
              <a:t>32% still old</a:t>
            </a:r>
            <a:endParaRPr lang="en-US" sz="1150" dirty="0"/>
          </a:p>
        </p:txBody>
      </p:sp>
      <p:sp>
        <p:nvSpPr>
          <p:cNvPr id="18" name="Text 16"/>
          <p:cNvSpPr/>
          <p:nvPr/>
        </p:nvSpPr>
        <p:spPr>
          <a:xfrm>
            <a:off x="9829800" y="4151376"/>
            <a:ext cx="2194560" cy="292608"/>
          </a:xfrm>
          <a:prstGeom prst="rect">
            <a:avLst/>
          </a:prstGeom>
          <a:noFill/>
          <a:ln/>
        </p:spPr>
        <p:txBody>
          <a:bodyPr wrap="square" lIns="0" tIns="0" rIns="0" bIns="0" rtlCol="0" anchor="ctr"/>
          <a:lstStyle/>
          <a:p>
            <a:pPr indent="0" marL="0">
              <a:buNone/>
            </a:pPr>
            <a:r>
              <a:rPr lang="en-US" sz="1050" dirty="0">
                <a:solidFill>
                  <a:srgbClr val="63616F"/>
                </a:solidFill>
                <a:latin typeface="Arial" pitchFamily="34" charset="0"/>
                <a:ea typeface="Arial" pitchFamily="34" charset="-122"/>
                <a:cs typeface="Arial" pitchFamily="34" charset="-120"/>
              </a:rPr>
              <a:t>Slower adoption, more device variety</a:t>
            </a:r>
            <a:endParaRPr lang="en-US" sz="1050" dirty="0"/>
          </a:p>
        </p:txBody>
      </p:sp>
      <p:sp>
        <p:nvSpPr>
          <p:cNvPr id="19" name="Shape 17"/>
          <p:cNvSpPr/>
          <p:nvPr/>
        </p:nvSpPr>
        <p:spPr>
          <a:xfrm>
            <a:off x="594360" y="5029200"/>
            <a:ext cx="5394960" cy="1234440"/>
          </a:xfrm>
          <a:prstGeom prst="roundRect">
            <a:avLst>
              <a:gd name="adj" fmla="val 4444"/>
            </a:avLst>
          </a:prstGeom>
          <a:solidFill>
            <a:srgbClr val="F6F6FA"/>
          </a:solidFill>
          <a:ln w="9525">
            <a:solidFill>
              <a:srgbClr val="C9C7C2"/>
            </a:solidFill>
            <a:prstDash val="solid"/>
          </a:ln>
        </p:spPr>
      </p:sp>
      <p:sp>
        <p:nvSpPr>
          <p:cNvPr id="20" name="Text 18"/>
          <p:cNvSpPr/>
          <p:nvPr/>
        </p:nvSpPr>
        <p:spPr>
          <a:xfrm>
            <a:off x="886968" y="5212080"/>
            <a:ext cx="4754880" cy="292608"/>
          </a:xfrm>
          <a:prstGeom prst="rect">
            <a:avLst/>
          </a:prstGeom>
          <a:noFill/>
          <a:ln/>
        </p:spPr>
        <p:txBody>
          <a:bodyPr wrap="square" lIns="0" tIns="0" rIns="0" bIns="0" rtlCol="0" anchor="ctr"/>
          <a:lstStyle/>
          <a:p>
            <a:pPr indent="0" marL="0">
              <a:buNone/>
            </a:pPr>
            <a:r>
              <a:rPr lang="en-US" sz="1400" b="1" dirty="0">
                <a:solidFill>
                  <a:srgbClr val="B3121B"/>
                </a:solidFill>
                <a:latin typeface="Arial" pitchFamily="34" charset="0"/>
                <a:ea typeface="Arial" pitchFamily="34" charset="-122"/>
                <a:cs typeface="Arial" pitchFamily="34" charset="-120"/>
              </a:rPr>
              <a:t>Breaking change</a:t>
            </a:r>
            <a:endParaRPr lang="en-US" sz="1400" dirty="0"/>
          </a:p>
        </p:txBody>
      </p:sp>
      <p:sp>
        <p:nvSpPr>
          <p:cNvPr id="21" name="Text 19"/>
          <p:cNvSpPr/>
          <p:nvPr/>
        </p:nvSpPr>
        <p:spPr>
          <a:xfrm>
            <a:off x="886968" y="5532120"/>
            <a:ext cx="4846320" cy="59436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Rename or remove a field and every old copy fails. You cannot patch them — they must update, and some never will.</a:t>
            </a:r>
            <a:endParaRPr lang="en-US" sz="1150" dirty="0"/>
          </a:p>
        </p:txBody>
      </p:sp>
      <p:sp>
        <p:nvSpPr>
          <p:cNvPr id="22" name="Shape 20"/>
          <p:cNvSpPr/>
          <p:nvPr/>
        </p:nvSpPr>
        <p:spPr>
          <a:xfrm>
            <a:off x="6217920" y="5029200"/>
            <a:ext cx="5349240" cy="1234440"/>
          </a:xfrm>
          <a:prstGeom prst="roundRect">
            <a:avLst>
              <a:gd name="adj" fmla="val 4444"/>
            </a:avLst>
          </a:prstGeom>
          <a:solidFill>
            <a:srgbClr val="F6F6FA"/>
          </a:solidFill>
          <a:ln w="9525">
            <a:solidFill>
              <a:srgbClr val="C9C7C2"/>
            </a:solidFill>
            <a:prstDash val="solid"/>
          </a:ln>
        </p:spPr>
      </p:sp>
      <p:sp>
        <p:nvSpPr>
          <p:cNvPr id="23" name="Text 21"/>
          <p:cNvSpPr/>
          <p:nvPr/>
        </p:nvSpPr>
        <p:spPr>
          <a:xfrm>
            <a:off x="6510528" y="5212080"/>
            <a:ext cx="4754880" cy="292608"/>
          </a:xfrm>
          <a:prstGeom prst="rect">
            <a:avLst/>
          </a:prstGeom>
          <a:noFill/>
          <a:ln/>
        </p:spPr>
        <p:txBody>
          <a:bodyPr wrap="square" lIns="0" tIns="0" rIns="0" bIns="0" rtlCol="0" anchor="ctr"/>
          <a:lstStyle/>
          <a:p>
            <a:pPr indent="0" marL="0">
              <a:buNone/>
            </a:pPr>
            <a:r>
              <a:rPr lang="en-US" sz="1400" b="1" dirty="0">
                <a:solidFill>
                  <a:srgbClr val="10069F"/>
                </a:solidFill>
                <a:latin typeface="Arial" pitchFamily="34" charset="0"/>
                <a:ea typeface="Arial" pitchFamily="34" charset="-122"/>
                <a:cs typeface="Arial" pitchFamily="34" charset="-120"/>
              </a:rPr>
              <a:t>Additive change</a:t>
            </a:r>
            <a:endParaRPr lang="en-US" sz="1400" dirty="0"/>
          </a:p>
        </p:txBody>
      </p:sp>
      <p:sp>
        <p:nvSpPr>
          <p:cNvPr id="24" name="Text 22"/>
          <p:cNvSpPr/>
          <p:nvPr/>
        </p:nvSpPr>
        <p:spPr>
          <a:xfrm>
            <a:off x="6510528" y="5532120"/>
            <a:ext cx="4754880" cy="59436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Add a field and nothing breaks at any point. Old clients ignore keys they do not recognise. On a public API: add freely, remove almost never.</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E-COMMERCE · YOUR SERVER BECOMES A CLIENT</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Where does your card number actually go?</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Four parties hold pieces of one transaction. Only one of them is yours, and it is the one that never touches the card.</a:t>
            </a:r>
            <a:endParaRPr lang="en-US" sz="1400" dirty="0"/>
          </a:p>
        </p:txBody>
      </p:sp>
      <p:sp>
        <p:nvSpPr>
          <p:cNvPr id="5" name="Shape 3"/>
          <p:cNvSpPr/>
          <p:nvPr/>
        </p:nvSpPr>
        <p:spPr>
          <a:xfrm>
            <a:off x="594360" y="2377440"/>
            <a:ext cx="2537460" cy="1417320"/>
          </a:xfrm>
          <a:prstGeom prst="roundRect">
            <a:avLst>
              <a:gd name="adj" fmla="val 3871"/>
            </a:avLst>
          </a:prstGeom>
          <a:solidFill>
            <a:srgbClr val="F6F6FA"/>
          </a:solidFill>
          <a:ln w="9525">
            <a:solidFill>
              <a:srgbClr val="C9C7C2"/>
            </a:solidFill>
            <a:prstDash val="solid"/>
          </a:ln>
        </p:spPr>
      </p:sp>
      <p:sp>
        <p:nvSpPr>
          <p:cNvPr id="6" name="Text 4"/>
          <p:cNvSpPr/>
          <p:nvPr/>
        </p:nvSpPr>
        <p:spPr>
          <a:xfrm>
            <a:off x="813816" y="2542032"/>
            <a:ext cx="2125980" cy="310896"/>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The browser</a:t>
            </a:r>
            <a:endParaRPr lang="en-US" sz="1350" dirty="0"/>
          </a:p>
        </p:txBody>
      </p:sp>
      <p:sp>
        <p:nvSpPr>
          <p:cNvPr id="7" name="Text 5"/>
          <p:cNvSpPr/>
          <p:nvPr/>
        </p:nvSpPr>
        <p:spPr>
          <a:xfrm>
            <a:off x="813816" y="2889504"/>
            <a:ext cx="2125980" cy="457200"/>
          </a:xfrm>
          <a:prstGeom prst="rect">
            <a:avLst/>
          </a:prstGeom>
          <a:noFill/>
          <a:ln/>
        </p:spPr>
        <p:txBody>
          <a:bodyPr wrap="square" lIns="0" tIns="0" rIns="0" bIns="0" rtlCol="0" anchor="ctr"/>
          <a:lstStyle/>
          <a:p>
            <a:pPr indent="0" marL="0">
              <a:lnSpc>
                <a:spcPts val="1300"/>
              </a:lnSpc>
              <a:buNone/>
            </a:pPr>
            <a:r>
              <a:rPr lang="en-US" sz="1050" dirty="0">
                <a:solidFill>
                  <a:srgbClr val="3F3F4D"/>
                </a:solidFill>
                <a:latin typeface="Arial" pitchFamily="34" charset="0"/>
                <a:ea typeface="Arial" pitchFamily="34" charset="-122"/>
                <a:cs typeface="Arial" pitchFamily="34" charset="-120"/>
              </a:rPr>
              <a:t>Shopper's own device</a:t>
            </a:r>
            <a:endParaRPr lang="en-US" sz="1050" dirty="0"/>
          </a:p>
        </p:txBody>
      </p:sp>
      <p:sp>
        <p:nvSpPr>
          <p:cNvPr id="8" name="Text 6"/>
          <p:cNvSpPr/>
          <p:nvPr/>
        </p:nvSpPr>
        <p:spPr>
          <a:xfrm>
            <a:off x="813816" y="3401568"/>
            <a:ext cx="2125980" cy="274320"/>
          </a:xfrm>
          <a:prstGeom prst="rect">
            <a:avLst/>
          </a:prstGeom>
          <a:noFill/>
          <a:ln/>
        </p:spPr>
        <p:txBody>
          <a:bodyPr wrap="square" lIns="0" tIns="0" rIns="0" bIns="0" rtlCol="0" anchor="ctr"/>
          <a:lstStyle/>
          <a:p>
            <a:pPr indent="0" marL="0">
              <a:buNone/>
            </a:pPr>
            <a:r>
              <a:rPr lang="en-US" sz="950" b="1" dirty="0">
                <a:solidFill>
                  <a:srgbClr val="B3121B"/>
                </a:solidFill>
                <a:latin typeface="Courier New" pitchFamily="34" charset="0"/>
                <a:ea typeface="Courier New" pitchFamily="34" charset="-122"/>
                <a:cs typeface="Courier New" pitchFamily="34" charset="-120"/>
              </a:rPr>
              <a:t>sees the card</a:t>
            </a:r>
            <a:endParaRPr lang="en-US" sz="950" dirty="0"/>
          </a:p>
        </p:txBody>
      </p:sp>
      <p:sp>
        <p:nvSpPr>
          <p:cNvPr id="9" name="Shape 7"/>
          <p:cNvSpPr/>
          <p:nvPr/>
        </p:nvSpPr>
        <p:spPr>
          <a:xfrm>
            <a:off x="3406140" y="2377440"/>
            <a:ext cx="2537460" cy="1417320"/>
          </a:xfrm>
          <a:prstGeom prst="roundRect">
            <a:avLst>
              <a:gd name="adj" fmla="val 3871"/>
            </a:avLst>
          </a:prstGeom>
          <a:solidFill>
            <a:srgbClr val="EFEFF5"/>
          </a:solidFill>
          <a:ln w="9525">
            <a:solidFill>
              <a:srgbClr val="C9C7C2"/>
            </a:solidFill>
            <a:prstDash val="solid"/>
          </a:ln>
        </p:spPr>
      </p:sp>
      <p:sp>
        <p:nvSpPr>
          <p:cNvPr id="10" name="Text 8"/>
          <p:cNvSpPr/>
          <p:nvPr/>
        </p:nvSpPr>
        <p:spPr>
          <a:xfrm>
            <a:off x="3625596" y="2542032"/>
            <a:ext cx="2125980" cy="310896"/>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Your API</a:t>
            </a:r>
            <a:endParaRPr lang="en-US" sz="1350" dirty="0"/>
          </a:p>
        </p:txBody>
      </p:sp>
      <p:sp>
        <p:nvSpPr>
          <p:cNvPr id="11" name="Text 9"/>
          <p:cNvSpPr/>
          <p:nvPr/>
        </p:nvSpPr>
        <p:spPr>
          <a:xfrm>
            <a:off x="3625596" y="2889504"/>
            <a:ext cx="2125980" cy="457200"/>
          </a:xfrm>
          <a:prstGeom prst="rect">
            <a:avLst/>
          </a:prstGeom>
          <a:noFill/>
          <a:ln/>
        </p:spPr>
        <p:txBody>
          <a:bodyPr wrap="square" lIns="0" tIns="0" rIns="0" bIns="0" rtlCol="0" anchor="ctr"/>
          <a:lstStyle/>
          <a:p>
            <a:pPr indent="0" marL="0">
              <a:lnSpc>
                <a:spcPts val="1300"/>
              </a:lnSpc>
              <a:buNone/>
            </a:pPr>
            <a:r>
              <a:rPr lang="en-US" sz="1050" dirty="0">
                <a:solidFill>
                  <a:srgbClr val="3F3F4D"/>
                </a:solidFill>
                <a:latin typeface="Arial" pitchFamily="34" charset="0"/>
                <a:ea typeface="Arial" pitchFamily="34" charset="-122"/>
                <a:cs typeface="Arial" pitchFamily="34" charset="-120"/>
              </a:rPr>
              <a:t>Your Django or Node process</a:t>
            </a:r>
            <a:endParaRPr lang="en-US" sz="1050" dirty="0"/>
          </a:p>
        </p:txBody>
      </p:sp>
      <p:sp>
        <p:nvSpPr>
          <p:cNvPr id="12" name="Text 10"/>
          <p:cNvSpPr/>
          <p:nvPr/>
        </p:nvSpPr>
        <p:spPr>
          <a:xfrm>
            <a:off x="3625596" y="3401568"/>
            <a:ext cx="2125980" cy="274320"/>
          </a:xfrm>
          <a:prstGeom prst="rect">
            <a:avLst/>
          </a:prstGeom>
          <a:noFill/>
          <a:ln/>
        </p:spPr>
        <p:txBody>
          <a:bodyPr wrap="square" lIns="0" tIns="0" rIns="0" bIns="0" rtlCol="0" anchor="ctr"/>
          <a:lstStyle/>
          <a:p>
            <a:pPr indent="0" marL="0">
              <a:buNone/>
            </a:pPr>
            <a:r>
              <a:rPr lang="en-US" sz="950" b="1" dirty="0">
                <a:solidFill>
                  <a:srgbClr val="10069F"/>
                </a:solidFill>
                <a:latin typeface="Courier New" pitchFamily="34" charset="0"/>
                <a:ea typeface="Courier New" pitchFamily="34" charset="-122"/>
                <a:cs typeface="Courier New" pitchFamily="34" charset="-120"/>
              </a:rPr>
              <a:t>never sees the card</a:t>
            </a:r>
            <a:endParaRPr lang="en-US" sz="950" dirty="0"/>
          </a:p>
        </p:txBody>
      </p:sp>
      <p:sp>
        <p:nvSpPr>
          <p:cNvPr id="13" name="Shape 11"/>
          <p:cNvSpPr/>
          <p:nvPr/>
        </p:nvSpPr>
        <p:spPr>
          <a:xfrm>
            <a:off x="6217920" y="2377440"/>
            <a:ext cx="2537460" cy="1417320"/>
          </a:xfrm>
          <a:prstGeom prst="roundRect">
            <a:avLst>
              <a:gd name="adj" fmla="val 3871"/>
            </a:avLst>
          </a:prstGeom>
          <a:solidFill>
            <a:srgbClr val="F6F6FA"/>
          </a:solidFill>
          <a:ln w="9525">
            <a:solidFill>
              <a:srgbClr val="C9C7C2"/>
            </a:solidFill>
            <a:prstDash val="solid"/>
          </a:ln>
        </p:spPr>
      </p:sp>
      <p:sp>
        <p:nvSpPr>
          <p:cNvPr id="14" name="Text 12"/>
          <p:cNvSpPr/>
          <p:nvPr/>
        </p:nvSpPr>
        <p:spPr>
          <a:xfrm>
            <a:off x="6437376" y="2542032"/>
            <a:ext cx="2125980" cy="310896"/>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Payment gateway</a:t>
            </a:r>
            <a:endParaRPr lang="en-US" sz="1350" dirty="0"/>
          </a:p>
        </p:txBody>
      </p:sp>
      <p:sp>
        <p:nvSpPr>
          <p:cNvPr id="15" name="Text 13"/>
          <p:cNvSpPr/>
          <p:nvPr/>
        </p:nvSpPr>
        <p:spPr>
          <a:xfrm>
            <a:off x="6437376" y="2889504"/>
            <a:ext cx="2125980" cy="457200"/>
          </a:xfrm>
          <a:prstGeom prst="rect">
            <a:avLst/>
          </a:prstGeom>
          <a:noFill/>
          <a:ln/>
        </p:spPr>
        <p:txBody>
          <a:bodyPr wrap="square" lIns="0" tIns="0" rIns="0" bIns="0" rtlCol="0" anchor="ctr"/>
          <a:lstStyle/>
          <a:p>
            <a:pPr indent="0" marL="0">
              <a:lnSpc>
                <a:spcPts val="1300"/>
              </a:lnSpc>
              <a:buNone/>
            </a:pPr>
            <a:r>
              <a:rPr lang="en-US" sz="1050" dirty="0">
                <a:solidFill>
                  <a:srgbClr val="3F3F4D"/>
                </a:solidFill>
                <a:latin typeface="Arial" pitchFamily="34" charset="0"/>
                <a:ea typeface="Arial" pitchFamily="34" charset="-122"/>
                <a:cs typeface="Arial" pitchFamily="34" charset="-120"/>
              </a:rPr>
              <a:t>PayMongo, Stripe, Xendit</a:t>
            </a:r>
            <a:endParaRPr lang="en-US" sz="1050" dirty="0"/>
          </a:p>
        </p:txBody>
      </p:sp>
      <p:sp>
        <p:nvSpPr>
          <p:cNvPr id="16" name="Text 14"/>
          <p:cNvSpPr/>
          <p:nvPr/>
        </p:nvSpPr>
        <p:spPr>
          <a:xfrm>
            <a:off x="6437376" y="3401568"/>
            <a:ext cx="2125980" cy="274320"/>
          </a:xfrm>
          <a:prstGeom prst="rect">
            <a:avLst/>
          </a:prstGeom>
          <a:noFill/>
          <a:ln/>
        </p:spPr>
        <p:txBody>
          <a:bodyPr wrap="square" lIns="0" tIns="0" rIns="0" bIns="0" rtlCol="0" anchor="ctr"/>
          <a:lstStyle/>
          <a:p>
            <a:pPr indent="0" marL="0">
              <a:buNone/>
            </a:pPr>
            <a:r>
              <a:rPr lang="en-US" sz="950" b="1" dirty="0">
                <a:solidFill>
                  <a:srgbClr val="B3121B"/>
                </a:solidFill>
                <a:latin typeface="Courier New" pitchFamily="34" charset="0"/>
                <a:ea typeface="Courier New" pitchFamily="34" charset="-122"/>
                <a:cs typeface="Courier New" pitchFamily="34" charset="-120"/>
              </a:rPr>
              <a:t>sees the card</a:t>
            </a:r>
            <a:endParaRPr lang="en-US" sz="950" dirty="0"/>
          </a:p>
        </p:txBody>
      </p:sp>
      <p:sp>
        <p:nvSpPr>
          <p:cNvPr id="17" name="Shape 15"/>
          <p:cNvSpPr/>
          <p:nvPr/>
        </p:nvSpPr>
        <p:spPr>
          <a:xfrm>
            <a:off x="9029700" y="2377440"/>
            <a:ext cx="2537460" cy="1417320"/>
          </a:xfrm>
          <a:prstGeom prst="roundRect">
            <a:avLst>
              <a:gd name="adj" fmla="val 3871"/>
            </a:avLst>
          </a:prstGeom>
          <a:solidFill>
            <a:srgbClr val="F6F6FA"/>
          </a:solidFill>
          <a:ln w="9525">
            <a:solidFill>
              <a:srgbClr val="C9C7C2"/>
            </a:solidFill>
            <a:prstDash val="solid"/>
          </a:ln>
        </p:spPr>
      </p:sp>
      <p:sp>
        <p:nvSpPr>
          <p:cNvPr id="18" name="Text 16"/>
          <p:cNvSpPr/>
          <p:nvPr/>
        </p:nvSpPr>
        <p:spPr>
          <a:xfrm>
            <a:off x="9249156" y="2542032"/>
            <a:ext cx="2125980" cy="310896"/>
          </a:xfrm>
          <a:prstGeom prst="rect">
            <a:avLst/>
          </a:prstGeom>
          <a:noFill/>
          <a:ln/>
        </p:spPr>
        <p:txBody>
          <a:bodyPr wrap="square" lIns="0" tIns="0" rIns="0" bIns="0" rtlCol="0" anchor="ctr"/>
          <a:lstStyle/>
          <a:p>
            <a:pPr indent="0" marL="0">
              <a:buNone/>
            </a:pPr>
            <a:r>
              <a:rPr lang="en-US" sz="1350" b="1" dirty="0">
                <a:solidFill>
                  <a:srgbClr val="0A0A14"/>
                </a:solidFill>
                <a:latin typeface="Arial" pitchFamily="34" charset="0"/>
                <a:ea typeface="Arial" pitchFamily="34" charset="-122"/>
                <a:cs typeface="Arial" pitchFamily="34" charset="-120"/>
              </a:rPr>
              <a:t>Bank / network</a:t>
            </a:r>
            <a:endParaRPr lang="en-US" sz="1350" dirty="0"/>
          </a:p>
        </p:txBody>
      </p:sp>
      <p:sp>
        <p:nvSpPr>
          <p:cNvPr id="19" name="Text 17"/>
          <p:cNvSpPr/>
          <p:nvPr/>
        </p:nvSpPr>
        <p:spPr>
          <a:xfrm>
            <a:off x="9249156" y="2889504"/>
            <a:ext cx="2125980" cy="457200"/>
          </a:xfrm>
          <a:prstGeom prst="rect">
            <a:avLst/>
          </a:prstGeom>
          <a:noFill/>
          <a:ln/>
        </p:spPr>
        <p:txBody>
          <a:bodyPr wrap="square" lIns="0" tIns="0" rIns="0" bIns="0" rtlCol="0" anchor="ctr"/>
          <a:lstStyle/>
          <a:p>
            <a:pPr indent="0" marL="0">
              <a:lnSpc>
                <a:spcPts val="1300"/>
              </a:lnSpc>
              <a:buNone/>
            </a:pPr>
            <a:r>
              <a:rPr lang="en-US" sz="1050" dirty="0">
                <a:solidFill>
                  <a:srgbClr val="3F3F4D"/>
                </a:solidFill>
                <a:latin typeface="Arial" pitchFamily="34" charset="0"/>
                <a:ea typeface="Arial" pitchFamily="34" charset="-122"/>
                <a:cs typeface="Arial" pitchFamily="34" charset="-120"/>
              </a:rPr>
              <a:t>Where money actually moves</a:t>
            </a:r>
            <a:endParaRPr lang="en-US" sz="1050" dirty="0"/>
          </a:p>
        </p:txBody>
      </p:sp>
      <p:sp>
        <p:nvSpPr>
          <p:cNvPr id="20" name="Text 18"/>
          <p:cNvSpPr/>
          <p:nvPr/>
        </p:nvSpPr>
        <p:spPr>
          <a:xfrm>
            <a:off x="9249156" y="3401568"/>
            <a:ext cx="2125980" cy="274320"/>
          </a:xfrm>
          <a:prstGeom prst="rect">
            <a:avLst/>
          </a:prstGeom>
          <a:noFill/>
          <a:ln/>
        </p:spPr>
        <p:txBody>
          <a:bodyPr wrap="square" lIns="0" tIns="0" rIns="0" bIns="0" rtlCol="0" anchor="ctr"/>
          <a:lstStyle/>
          <a:p>
            <a:pPr indent="0" marL="0">
              <a:buNone/>
            </a:pPr>
            <a:r>
              <a:rPr lang="en-US" sz="950" b="1" dirty="0">
                <a:solidFill>
                  <a:srgbClr val="B3121B"/>
                </a:solidFill>
                <a:latin typeface="Courier New" pitchFamily="34" charset="0"/>
                <a:ea typeface="Courier New" pitchFamily="34" charset="-122"/>
                <a:cs typeface="Courier New" pitchFamily="34" charset="-120"/>
              </a:rPr>
              <a:t>sees the card</a:t>
            </a:r>
            <a:endParaRPr lang="en-US" sz="950" dirty="0"/>
          </a:p>
        </p:txBody>
      </p:sp>
      <p:sp>
        <p:nvSpPr>
          <p:cNvPr id="21" name="Shape 19"/>
          <p:cNvSpPr/>
          <p:nvPr/>
        </p:nvSpPr>
        <p:spPr>
          <a:xfrm>
            <a:off x="640080" y="4160520"/>
            <a:ext cx="146304" cy="146304"/>
          </a:xfrm>
          <a:prstGeom prst="ellipse">
            <a:avLst/>
          </a:prstGeom>
          <a:solidFill>
            <a:srgbClr val="B3121B"/>
          </a:solidFill>
          <a:ln w="12700">
            <a:solidFill>
              <a:srgbClr val="B3121B"/>
            </a:solidFill>
            <a:prstDash val="solid"/>
          </a:ln>
        </p:spPr>
      </p:sp>
      <p:sp>
        <p:nvSpPr>
          <p:cNvPr id="22" name="Text 20"/>
          <p:cNvSpPr/>
          <p:nvPr/>
        </p:nvSpPr>
        <p:spPr>
          <a:xfrm>
            <a:off x="978408" y="4069080"/>
            <a:ext cx="2651760" cy="310896"/>
          </a:xfrm>
          <a:prstGeom prst="rect">
            <a:avLst/>
          </a:prstGeom>
          <a:noFill/>
          <a:ln/>
        </p:spPr>
        <p:txBody>
          <a:bodyPr wrap="square" lIns="0" tIns="0" rIns="0" bIns="0" rtlCol="0" anchor="ctr"/>
          <a:lstStyle/>
          <a:p>
            <a:pPr indent="0" marL="0">
              <a:buNone/>
            </a:pPr>
            <a:r>
              <a:rPr lang="en-US" sz="1100" dirty="0">
                <a:solidFill>
                  <a:srgbClr val="0A0A14"/>
                </a:solidFill>
                <a:latin typeface="Courier New" pitchFamily="34" charset="0"/>
                <a:ea typeface="Courier New" pitchFamily="34" charset="-122"/>
                <a:cs typeface="Courier New" pitchFamily="34" charset="-120"/>
              </a:rPr>
              <a:t>Browser → Gateway</a:t>
            </a:r>
            <a:endParaRPr lang="en-US" sz="1100" dirty="0"/>
          </a:p>
        </p:txBody>
      </p:sp>
      <p:sp>
        <p:nvSpPr>
          <p:cNvPr id="23" name="Text 21"/>
          <p:cNvSpPr/>
          <p:nvPr/>
        </p:nvSpPr>
        <p:spPr>
          <a:xfrm>
            <a:off x="3794760" y="4069080"/>
            <a:ext cx="7772400" cy="310896"/>
          </a:xfrm>
          <a:prstGeom prst="rect">
            <a:avLst/>
          </a:prstGeom>
          <a:noFill/>
          <a:ln/>
        </p:spPr>
        <p:txBody>
          <a:bodyPr wrap="square" lIns="0" tIns="0" rIns="0" bIns="0" rtlCol="0" anchor="ctr"/>
          <a:lstStyle/>
          <a:p>
            <a:pPr indent="0" marL="0">
              <a:buNone/>
            </a:pPr>
            <a:r>
              <a:rPr lang="en-US" sz="1200" dirty="0">
                <a:solidFill>
                  <a:srgbClr val="3F3F4D"/>
                </a:solidFill>
                <a:latin typeface="Arial" pitchFamily="34" charset="0"/>
                <a:ea typeface="Arial" pitchFamily="34" charset="-122"/>
                <a:cs typeface="Arial" pitchFamily="34" charset="-120"/>
              </a:rPr>
              <a:t>Card goes straight there. Your server is not in this conversation.</a:t>
            </a:r>
            <a:endParaRPr lang="en-US" sz="1200" dirty="0"/>
          </a:p>
        </p:txBody>
      </p:sp>
      <p:sp>
        <p:nvSpPr>
          <p:cNvPr id="24" name="Shape 22"/>
          <p:cNvSpPr/>
          <p:nvPr/>
        </p:nvSpPr>
        <p:spPr>
          <a:xfrm>
            <a:off x="640080" y="4617720"/>
            <a:ext cx="146304" cy="146304"/>
          </a:xfrm>
          <a:prstGeom prst="ellipse">
            <a:avLst/>
          </a:prstGeom>
          <a:solidFill>
            <a:srgbClr val="10069F"/>
          </a:solidFill>
          <a:ln w="12700">
            <a:solidFill>
              <a:srgbClr val="10069F"/>
            </a:solidFill>
            <a:prstDash val="solid"/>
          </a:ln>
        </p:spPr>
      </p:sp>
      <p:sp>
        <p:nvSpPr>
          <p:cNvPr id="25" name="Text 23"/>
          <p:cNvSpPr/>
          <p:nvPr/>
        </p:nvSpPr>
        <p:spPr>
          <a:xfrm>
            <a:off x="978408" y="4526280"/>
            <a:ext cx="2651760" cy="310896"/>
          </a:xfrm>
          <a:prstGeom prst="rect">
            <a:avLst/>
          </a:prstGeom>
          <a:noFill/>
          <a:ln/>
        </p:spPr>
        <p:txBody>
          <a:bodyPr wrap="square" lIns="0" tIns="0" rIns="0" bIns="0" rtlCol="0" anchor="ctr"/>
          <a:lstStyle/>
          <a:p>
            <a:pPr indent="0" marL="0">
              <a:buNone/>
            </a:pPr>
            <a:r>
              <a:rPr lang="en-US" sz="1100" dirty="0">
                <a:solidFill>
                  <a:srgbClr val="0A0A14"/>
                </a:solidFill>
                <a:latin typeface="Courier New" pitchFamily="34" charset="0"/>
                <a:ea typeface="Courier New" pitchFamily="34" charset="-122"/>
                <a:cs typeface="Courier New" pitchFamily="34" charset="-120"/>
              </a:rPr>
              <a:t>Gateway → Browser</a:t>
            </a:r>
            <a:endParaRPr lang="en-US" sz="1100" dirty="0"/>
          </a:p>
        </p:txBody>
      </p:sp>
      <p:sp>
        <p:nvSpPr>
          <p:cNvPr id="26" name="Text 24"/>
          <p:cNvSpPr/>
          <p:nvPr/>
        </p:nvSpPr>
        <p:spPr>
          <a:xfrm>
            <a:off x="3794760" y="4526280"/>
            <a:ext cx="7772400" cy="310896"/>
          </a:xfrm>
          <a:prstGeom prst="rect">
            <a:avLst/>
          </a:prstGeom>
          <a:noFill/>
          <a:ln/>
        </p:spPr>
        <p:txBody>
          <a:bodyPr wrap="square" lIns="0" tIns="0" rIns="0" bIns="0" rtlCol="0" anchor="ctr"/>
          <a:lstStyle/>
          <a:p>
            <a:pPr indent="0" marL="0">
              <a:buNone/>
            </a:pPr>
            <a:r>
              <a:rPr lang="en-US" sz="1200" dirty="0">
                <a:solidFill>
                  <a:srgbClr val="3F3F4D"/>
                </a:solidFill>
                <a:latin typeface="Arial" pitchFamily="34" charset="0"/>
                <a:ea typeface="Arial" pitchFamily="34" charset="-122"/>
                <a:cs typeface="Arial" pitchFamily="34" charset="-120"/>
              </a:rPr>
              <a:t>Returns tok_1a2b3c — an opaque handle, useless without your secret key.</a:t>
            </a:r>
            <a:endParaRPr lang="en-US" sz="1200" dirty="0"/>
          </a:p>
        </p:txBody>
      </p:sp>
      <p:sp>
        <p:nvSpPr>
          <p:cNvPr id="27" name="Shape 25"/>
          <p:cNvSpPr/>
          <p:nvPr/>
        </p:nvSpPr>
        <p:spPr>
          <a:xfrm>
            <a:off x="640080" y="5074920"/>
            <a:ext cx="146304" cy="146304"/>
          </a:xfrm>
          <a:prstGeom prst="ellipse">
            <a:avLst/>
          </a:prstGeom>
          <a:solidFill>
            <a:srgbClr val="10069F"/>
          </a:solidFill>
          <a:ln w="12700">
            <a:solidFill>
              <a:srgbClr val="10069F"/>
            </a:solidFill>
            <a:prstDash val="solid"/>
          </a:ln>
        </p:spPr>
      </p:sp>
      <p:sp>
        <p:nvSpPr>
          <p:cNvPr id="28" name="Text 26"/>
          <p:cNvSpPr/>
          <p:nvPr/>
        </p:nvSpPr>
        <p:spPr>
          <a:xfrm>
            <a:off x="978408" y="4983480"/>
            <a:ext cx="2651760" cy="310896"/>
          </a:xfrm>
          <a:prstGeom prst="rect">
            <a:avLst/>
          </a:prstGeom>
          <a:noFill/>
          <a:ln/>
        </p:spPr>
        <p:txBody>
          <a:bodyPr wrap="square" lIns="0" tIns="0" rIns="0" bIns="0" rtlCol="0" anchor="ctr"/>
          <a:lstStyle/>
          <a:p>
            <a:pPr indent="0" marL="0">
              <a:buNone/>
            </a:pPr>
            <a:r>
              <a:rPr lang="en-US" sz="1100" dirty="0">
                <a:solidFill>
                  <a:srgbClr val="0A0A14"/>
                </a:solidFill>
                <a:latin typeface="Courier New" pitchFamily="34" charset="0"/>
                <a:ea typeface="Courier New" pitchFamily="34" charset="-122"/>
                <a:cs typeface="Courier New" pitchFamily="34" charset="-120"/>
              </a:rPr>
              <a:t>Browser → Your API</a:t>
            </a:r>
            <a:endParaRPr lang="en-US" sz="1100" dirty="0"/>
          </a:p>
        </p:txBody>
      </p:sp>
      <p:sp>
        <p:nvSpPr>
          <p:cNvPr id="29" name="Text 27"/>
          <p:cNvSpPr/>
          <p:nvPr/>
        </p:nvSpPr>
        <p:spPr>
          <a:xfrm>
            <a:off x="3794760" y="4983480"/>
            <a:ext cx="7772400" cy="310896"/>
          </a:xfrm>
          <a:prstGeom prst="rect">
            <a:avLst/>
          </a:prstGeom>
          <a:noFill/>
          <a:ln/>
        </p:spPr>
        <p:txBody>
          <a:bodyPr wrap="square" lIns="0" tIns="0" rIns="0" bIns="0" rtlCol="0" anchor="ctr"/>
          <a:lstStyle/>
          <a:p>
            <a:pPr indent="0" marL="0">
              <a:buNone/>
            </a:pPr>
            <a:r>
              <a:rPr lang="en-US" sz="1200" dirty="0">
                <a:solidFill>
                  <a:srgbClr val="3F3F4D"/>
                </a:solidFill>
                <a:latin typeface="Arial" pitchFamily="34" charset="0"/>
                <a:ea typeface="Arial" pitchFamily="34" charset="-122"/>
                <a:cs typeface="Arial" pitchFamily="34" charset="-120"/>
              </a:rPr>
              <a:t>Sends the token, never the card, plus an Idempotency-Key.</a:t>
            </a:r>
            <a:endParaRPr lang="en-US" sz="1200" dirty="0"/>
          </a:p>
        </p:txBody>
      </p:sp>
      <p:sp>
        <p:nvSpPr>
          <p:cNvPr id="30" name="Shape 28"/>
          <p:cNvSpPr/>
          <p:nvPr/>
        </p:nvSpPr>
        <p:spPr>
          <a:xfrm>
            <a:off x="640080" y="5532120"/>
            <a:ext cx="146304" cy="146304"/>
          </a:xfrm>
          <a:prstGeom prst="ellipse">
            <a:avLst/>
          </a:prstGeom>
          <a:solidFill>
            <a:srgbClr val="C2410C"/>
          </a:solidFill>
          <a:ln w="12700">
            <a:solidFill>
              <a:srgbClr val="C2410C"/>
            </a:solidFill>
            <a:prstDash val="solid"/>
          </a:ln>
        </p:spPr>
      </p:sp>
      <p:sp>
        <p:nvSpPr>
          <p:cNvPr id="31" name="Text 29"/>
          <p:cNvSpPr/>
          <p:nvPr/>
        </p:nvSpPr>
        <p:spPr>
          <a:xfrm>
            <a:off x="978408" y="5440680"/>
            <a:ext cx="2651760" cy="310896"/>
          </a:xfrm>
          <a:prstGeom prst="rect">
            <a:avLst/>
          </a:prstGeom>
          <a:noFill/>
          <a:ln/>
        </p:spPr>
        <p:txBody>
          <a:bodyPr wrap="square" lIns="0" tIns="0" rIns="0" bIns="0" rtlCol="0" anchor="ctr"/>
          <a:lstStyle/>
          <a:p>
            <a:pPr indent="0" marL="0">
              <a:buNone/>
            </a:pPr>
            <a:r>
              <a:rPr lang="en-US" sz="1100" dirty="0">
                <a:solidFill>
                  <a:srgbClr val="0A0A14"/>
                </a:solidFill>
                <a:latin typeface="Courier New" pitchFamily="34" charset="0"/>
                <a:ea typeface="Courier New" pitchFamily="34" charset="-122"/>
                <a:cs typeface="Courier New" pitchFamily="34" charset="-120"/>
              </a:rPr>
              <a:t>Your API → Gateway</a:t>
            </a:r>
            <a:endParaRPr lang="en-US" sz="1100" dirty="0"/>
          </a:p>
        </p:txBody>
      </p:sp>
      <p:sp>
        <p:nvSpPr>
          <p:cNvPr id="32" name="Text 30"/>
          <p:cNvSpPr/>
          <p:nvPr/>
        </p:nvSpPr>
        <p:spPr>
          <a:xfrm>
            <a:off x="3794760" y="5440680"/>
            <a:ext cx="7772400" cy="310896"/>
          </a:xfrm>
          <a:prstGeom prst="rect">
            <a:avLst/>
          </a:prstGeom>
          <a:noFill/>
          <a:ln/>
        </p:spPr>
        <p:txBody>
          <a:bodyPr wrap="square" lIns="0" tIns="0" rIns="0" bIns="0" rtlCol="0" anchor="ctr"/>
          <a:lstStyle/>
          <a:p>
            <a:pPr indent="0" marL="0">
              <a:buNone/>
            </a:pPr>
            <a:r>
              <a:rPr lang="en-US" sz="1200" dirty="0">
                <a:solidFill>
                  <a:srgbClr val="3F3F4D"/>
                </a:solidFill>
                <a:latin typeface="Arial" pitchFamily="34" charset="0"/>
                <a:ea typeface="Arial" pitchFamily="34" charset="-122"/>
                <a:cs typeface="Arial" pitchFamily="34" charset="-120"/>
              </a:rPr>
              <a:t>Now you are the client. Same HTTP, same verbs, secret key server-side.</a:t>
            </a:r>
            <a:endParaRPr lang="en-US" sz="1200" dirty="0"/>
          </a:p>
        </p:txBody>
      </p:sp>
      <p:sp>
        <p:nvSpPr>
          <p:cNvPr id="33" name="Shape 31"/>
          <p:cNvSpPr/>
          <p:nvPr/>
        </p:nvSpPr>
        <p:spPr>
          <a:xfrm>
            <a:off x="640080" y="5989320"/>
            <a:ext cx="146304" cy="146304"/>
          </a:xfrm>
          <a:prstGeom prst="ellipse">
            <a:avLst/>
          </a:prstGeom>
          <a:solidFill>
            <a:srgbClr val="C2410C"/>
          </a:solidFill>
          <a:ln w="12700">
            <a:solidFill>
              <a:srgbClr val="C2410C"/>
            </a:solidFill>
            <a:prstDash val="solid"/>
          </a:ln>
        </p:spPr>
      </p:sp>
      <p:sp>
        <p:nvSpPr>
          <p:cNvPr id="34" name="Text 32"/>
          <p:cNvSpPr/>
          <p:nvPr/>
        </p:nvSpPr>
        <p:spPr>
          <a:xfrm>
            <a:off x="978408" y="5897880"/>
            <a:ext cx="2651760" cy="310896"/>
          </a:xfrm>
          <a:prstGeom prst="rect">
            <a:avLst/>
          </a:prstGeom>
          <a:noFill/>
          <a:ln/>
        </p:spPr>
        <p:txBody>
          <a:bodyPr wrap="square" lIns="0" tIns="0" rIns="0" bIns="0" rtlCol="0" anchor="ctr"/>
          <a:lstStyle/>
          <a:p>
            <a:pPr indent="0" marL="0">
              <a:buNone/>
            </a:pPr>
            <a:r>
              <a:rPr lang="en-US" sz="1100" dirty="0">
                <a:solidFill>
                  <a:srgbClr val="0A0A14"/>
                </a:solidFill>
                <a:latin typeface="Courier New" pitchFamily="34" charset="0"/>
                <a:ea typeface="Courier New" pitchFamily="34" charset="-122"/>
                <a:cs typeface="Courier New" pitchFamily="34" charset="-120"/>
              </a:rPr>
              <a:t>Gateway → Your API</a:t>
            </a:r>
            <a:endParaRPr lang="en-US" sz="1100" dirty="0"/>
          </a:p>
        </p:txBody>
      </p:sp>
      <p:sp>
        <p:nvSpPr>
          <p:cNvPr id="35" name="Text 33"/>
          <p:cNvSpPr/>
          <p:nvPr/>
        </p:nvSpPr>
        <p:spPr>
          <a:xfrm>
            <a:off x="3794760" y="5897880"/>
            <a:ext cx="7772400" cy="310896"/>
          </a:xfrm>
          <a:prstGeom prst="rect">
            <a:avLst/>
          </a:prstGeom>
          <a:noFill/>
          <a:ln/>
        </p:spPr>
        <p:txBody>
          <a:bodyPr wrap="square" lIns="0" tIns="0" rIns="0" bIns="0" rtlCol="0" anchor="ctr"/>
          <a:lstStyle/>
          <a:p>
            <a:pPr indent="0" marL="0">
              <a:buNone/>
            </a:pPr>
            <a:r>
              <a:rPr lang="en-US" sz="1200" dirty="0">
                <a:solidFill>
                  <a:srgbClr val="3F3F4D"/>
                </a:solidFill>
                <a:latin typeface="Arial" pitchFamily="34" charset="0"/>
                <a:ea typeface="Arial" pitchFamily="34" charset="-122"/>
                <a:cs typeface="Arial" pitchFamily="34" charset="-120"/>
              </a:rPr>
              <a:t>A webhook, later. Roles invert — verify the signature or anyone can mark orders paid.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PAYOFF FOR THE VERB TABLE</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The shopper pressed Pay three times</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Their connection stalled. Every click sent a valid, well-formed POST, and the server did exactly what it was told each time.</a:t>
            </a:r>
            <a:endParaRPr lang="en-US" sz="1400" dirty="0"/>
          </a:p>
        </p:txBody>
      </p:sp>
      <p:sp>
        <p:nvSpPr>
          <p:cNvPr id="5" name="Shape 3"/>
          <p:cNvSpPr/>
          <p:nvPr/>
        </p:nvSpPr>
        <p:spPr>
          <a:xfrm>
            <a:off x="594360" y="2514600"/>
            <a:ext cx="5394960" cy="2240280"/>
          </a:xfrm>
          <a:prstGeom prst="roundRect">
            <a:avLst>
              <a:gd name="adj" fmla="val 2449"/>
            </a:avLst>
          </a:prstGeom>
          <a:solidFill>
            <a:srgbClr val="F6F6FA"/>
          </a:solidFill>
          <a:ln w="9525">
            <a:solidFill>
              <a:srgbClr val="C9C7C2"/>
            </a:solidFill>
            <a:prstDash val="solid"/>
          </a:ln>
        </p:spPr>
      </p:sp>
      <p:sp>
        <p:nvSpPr>
          <p:cNvPr id="6" name="Text 4"/>
          <p:cNvSpPr/>
          <p:nvPr/>
        </p:nvSpPr>
        <p:spPr>
          <a:xfrm>
            <a:off x="914400" y="2724912"/>
            <a:ext cx="4754880" cy="310896"/>
          </a:xfrm>
          <a:prstGeom prst="rect">
            <a:avLst/>
          </a:prstGeom>
          <a:noFill/>
          <a:ln/>
        </p:spPr>
        <p:txBody>
          <a:bodyPr wrap="square" lIns="0" tIns="0" rIns="0" bIns="0" rtlCol="0" anchor="ctr"/>
          <a:lstStyle/>
          <a:p>
            <a:pPr indent="0" marL="0">
              <a:buNone/>
            </a:pPr>
            <a:r>
              <a:rPr lang="en-US" sz="1200" b="1" spc="120" kern="0" dirty="0">
                <a:solidFill>
                  <a:srgbClr val="B3121B"/>
                </a:solidFill>
                <a:latin typeface="Courier New" pitchFamily="34" charset="0"/>
                <a:ea typeface="Courier New" pitchFamily="34" charset="-122"/>
                <a:cs typeface="Courier New" pitchFamily="34" charset="-120"/>
              </a:rPr>
              <a:t>No Idempotency-Key</a:t>
            </a:r>
            <a:endParaRPr lang="en-US" sz="1200" dirty="0"/>
          </a:p>
        </p:txBody>
      </p:sp>
      <p:sp>
        <p:nvSpPr>
          <p:cNvPr id="7" name="Text 5"/>
          <p:cNvSpPr/>
          <p:nvPr/>
        </p:nvSpPr>
        <p:spPr>
          <a:xfrm>
            <a:off x="914400" y="3063240"/>
            <a:ext cx="4754880" cy="914400"/>
          </a:xfrm>
          <a:prstGeom prst="rect">
            <a:avLst/>
          </a:prstGeom>
          <a:noFill/>
          <a:ln/>
        </p:spPr>
        <p:txBody>
          <a:bodyPr wrap="square" lIns="0" tIns="0" rIns="0" bIns="0" rtlCol="0" anchor="b"/>
          <a:lstStyle/>
          <a:p>
            <a:pPr indent="0" marL="0">
              <a:buNone/>
            </a:pPr>
            <a:r>
              <a:rPr lang="en-US" sz="6000" b="1" dirty="0">
                <a:solidFill>
                  <a:srgbClr val="B3121B"/>
                </a:solidFill>
                <a:latin typeface="Arial" pitchFamily="34" charset="0"/>
                <a:ea typeface="Arial" pitchFamily="34" charset="-122"/>
                <a:cs typeface="Arial" pitchFamily="34" charset="-120"/>
              </a:rPr>
              <a:t>₱3,897</a:t>
            </a:r>
            <a:pPr indent="0" marL="0">
              <a:buNone/>
            </a:pPr>
            <a:r>
              <a:rPr lang="en-US" sz="1500" dirty="0">
                <a:solidFill>
                  <a:srgbClr val="3F3F4D"/>
                </a:solidFill>
                <a:latin typeface="Arial" pitchFamily="34" charset="0"/>
                <a:ea typeface="Arial" pitchFamily="34" charset="-122"/>
                <a:cs typeface="Arial" pitchFamily="34" charset="-120"/>
              </a:rPr>
              <a:t>   charged</a:t>
            </a:r>
            <a:endParaRPr lang="en-US" sz="6000" dirty="0"/>
          </a:p>
        </p:txBody>
      </p:sp>
      <p:sp>
        <p:nvSpPr>
          <p:cNvPr id="8" name="Text 6"/>
          <p:cNvSpPr/>
          <p:nvPr/>
        </p:nvSpPr>
        <p:spPr>
          <a:xfrm>
            <a:off x="914400" y="4069080"/>
            <a:ext cx="4754880" cy="548640"/>
          </a:xfrm>
          <a:prstGeom prst="rect">
            <a:avLst/>
          </a:prstGeom>
          <a:noFill/>
          <a:ln/>
        </p:spPr>
        <p:txBody>
          <a:bodyPr wrap="square" lIns="0" tIns="0" rIns="0" bIns="0" rtlCol="0" anchor="ctr"/>
          <a:lstStyle/>
          <a:p>
            <a:pPr indent="0" marL="0">
              <a:lnSpc>
                <a:spcPts val="1500"/>
              </a:lnSpc>
              <a:buNone/>
            </a:pPr>
            <a:r>
              <a:rPr lang="en-US" sz="1150" dirty="0">
                <a:solidFill>
                  <a:srgbClr val="63616F"/>
                </a:solidFill>
                <a:latin typeface="Arial" pitchFamily="34" charset="0"/>
                <a:ea typeface="Arial" pitchFamily="34" charset="-122"/>
                <a:cs typeface="Arial" pitchFamily="34" charset="-120"/>
              </a:rPr>
              <a:t>Three separate charges for one ₱1,299 pair of shoes. Nothing in your own code looks wrong.</a:t>
            </a:r>
            <a:endParaRPr lang="en-US" sz="1150" dirty="0"/>
          </a:p>
        </p:txBody>
      </p:sp>
      <p:sp>
        <p:nvSpPr>
          <p:cNvPr id="9" name="Shape 7"/>
          <p:cNvSpPr/>
          <p:nvPr/>
        </p:nvSpPr>
        <p:spPr>
          <a:xfrm>
            <a:off x="6217920" y="2514600"/>
            <a:ext cx="5349240" cy="2240280"/>
          </a:xfrm>
          <a:prstGeom prst="roundRect">
            <a:avLst>
              <a:gd name="adj" fmla="val 2449"/>
            </a:avLst>
          </a:prstGeom>
          <a:solidFill>
            <a:srgbClr val="F6F6FA"/>
          </a:solidFill>
          <a:ln w="9525">
            <a:solidFill>
              <a:srgbClr val="C9C7C2"/>
            </a:solidFill>
            <a:prstDash val="solid"/>
          </a:ln>
        </p:spPr>
      </p:sp>
      <p:sp>
        <p:nvSpPr>
          <p:cNvPr id="10" name="Text 8"/>
          <p:cNvSpPr/>
          <p:nvPr/>
        </p:nvSpPr>
        <p:spPr>
          <a:xfrm>
            <a:off x="6537960" y="2724912"/>
            <a:ext cx="4754880" cy="310896"/>
          </a:xfrm>
          <a:prstGeom prst="rect">
            <a:avLst/>
          </a:prstGeom>
          <a:noFill/>
          <a:ln/>
        </p:spPr>
        <p:txBody>
          <a:bodyPr wrap="square" lIns="0" tIns="0" rIns="0" bIns="0" rtlCol="0" anchor="ctr"/>
          <a:lstStyle/>
          <a:p>
            <a:pPr indent="0" marL="0">
              <a:buNone/>
            </a:pPr>
            <a:r>
              <a:rPr lang="en-US" sz="1200" b="1" spc="120" kern="0" dirty="0">
                <a:solidFill>
                  <a:srgbClr val="10069F"/>
                </a:solidFill>
                <a:latin typeface="Courier New" pitchFamily="34" charset="0"/>
                <a:ea typeface="Courier New" pitchFamily="34" charset="-122"/>
                <a:cs typeface="Courier New" pitchFamily="34" charset="-120"/>
              </a:rPr>
              <a:t>One Idempotency-Key, reused</a:t>
            </a:r>
            <a:endParaRPr lang="en-US" sz="1200" dirty="0"/>
          </a:p>
        </p:txBody>
      </p:sp>
      <p:sp>
        <p:nvSpPr>
          <p:cNvPr id="11" name="Text 9"/>
          <p:cNvSpPr/>
          <p:nvPr/>
        </p:nvSpPr>
        <p:spPr>
          <a:xfrm>
            <a:off x="6537960" y="3063240"/>
            <a:ext cx="4754880" cy="914400"/>
          </a:xfrm>
          <a:prstGeom prst="rect">
            <a:avLst/>
          </a:prstGeom>
          <a:noFill/>
          <a:ln/>
        </p:spPr>
        <p:txBody>
          <a:bodyPr wrap="square" lIns="0" tIns="0" rIns="0" bIns="0" rtlCol="0" anchor="b"/>
          <a:lstStyle/>
          <a:p>
            <a:pPr indent="0" marL="0">
              <a:buNone/>
            </a:pPr>
            <a:r>
              <a:rPr lang="en-US" sz="6000" b="1" dirty="0">
                <a:solidFill>
                  <a:srgbClr val="10069F"/>
                </a:solidFill>
                <a:latin typeface="Arial" pitchFamily="34" charset="0"/>
                <a:ea typeface="Arial" pitchFamily="34" charset="-122"/>
                <a:cs typeface="Arial" pitchFamily="34" charset="-120"/>
              </a:rPr>
              <a:t>₱1,299</a:t>
            </a:r>
            <a:pPr indent="0" marL="0">
              <a:buNone/>
            </a:pPr>
            <a:r>
              <a:rPr lang="en-US" sz="1500" dirty="0">
                <a:solidFill>
                  <a:srgbClr val="3F3F4D"/>
                </a:solidFill>
                <a:latin typeface="Arial" pitchFamily="34" charset="0"/>
                <a:ea typeface="Arial" pitchFamily="34" charset="-122"/>
                <a:cs typeface="Arial" pitchFamily="34" charset="-120"/>
              </a:rPr>
              <a:t>   charged</a:t>
            </a:r>
            <a:endParaRPr lang="en-US" sz="6000" dirty="0"/>
          </a:p>
        </p:txBody>
      </p:sp>
      <p:sp>
        <p:nvSpPr>
          <p:cNvPr id="12" name="Text 10"/>
          <p:cNvSpPr/>
          <p:nvPr/>
        </p:nvSpPr>
        <p:spPr>
          <a:xfrm>
            <a:off x="6537960" y="4069080"/>
            <a:ext cx="4754880" cy="548640"/>
          </a:xfrm>
          <a:prstGeom prst="rect">
            <a:avLst/>
          </a:prstGeom>
          <a:noFill/>
          <a:ln/>
        </p:spPr>
        <p:txBody>
          <a:bodyPr wrap="square" lIns="0" tIns="0" rIns="0" bIns="0" rtlCol="0" anchor="ctr"/>
          <a:lstStyle/>
          <a:p>
            <a:pPr indent="0" marL="0">
              <a:lnSpc>
                <a:spcPts val="1500"/>
              </a:lnSpc>
              <a:buNone/>
            </a:pPr>
            <a:r>
              <a:rPr lang="en-US" sz="1150" dirty="0">
                <a:solidFill>
                  <a:srgbClr val="63616F"/>
                </a:solidFill>
                <a:latin typeface="Arial" pitchFamily="34" charset="0"/>
                <a:ea typeface="Arial" pitchFamily="34" charset="-122"/>
                <a:cs typeface="Arial" pitchFamily="34" charset="-120"/>
              </a:rPr>
              <a:t>The gateway recognised the repeated key and returned the original charge instead of making a new one.</a:t>
            </a:r>
            <a:endParaRPr lang="en-US" sz="1150" dirty="0"/>
          </a:p>
        </p:txBody>
      </p:sp>
      <p:sp>
        <p:nvSpPr>
          <p:cNvPr id="13" name="Shape 11"/>
          <p:cNvSpPr/>
          <p:nvPr/>
        </p:nvSpPr>
        <p:spPr>
          <a:xfrm>
            <a:off x="594360" y="5029200"/>
            <a:ext cx="10972800" cy="1234440"/>
          </a:xfrm>
          <a:prstGeom prst="roundRect">
            <a:avLst>
              <a:gd name="adj" fmla="val 4444"/>
            </a:avLst>
          </a:prstGeom>
          <a:solidFill>
            <a:srgbClr val="EFEFF5"/>
          </a:solidFill>
          <a:ln w="9525">
            <a:solidFill>
              <a:srgbClr val="C9C7C2"/>
            </a:solidFill>
            <a:prstDash val="solid"/>
          </a:ln>
        </p:spPr>
      </p:sp>
      <p:sp>
        <p:nvSpPr>
          <p:cNvPr id="14" name="Text 12"/>
          <p:cNvSpPr/>
          <p:nvPr/>
        </p:nvSpPr>
        <p:spPr>
          <a:xfrm>
            <a:off x="914400" y="5230368"/>
            <a:ext cx="10424160" cy="329184"/>
          </a:xfrm>
          <a:prstGeom prst="rect">
            <a:avLst/>
          </a:prstGeom>
          <a:noFill/>
          <a:ln/>
        </p:spPr>
        <p:txBody>
          <a:bodyPr wrap="square" lIns="0" tIns="0" rIns="0" bIns="0" rtlCol="0" anchor="ctr"/>
          <a:lstStyle/>
          <a:p>
            <a:pPr indent="0" marL="0">
              <a:buNone/>
            </a:pPr>
            <a:r>
              <a:rPr lang="en-US" sz="1500" b="1" dirty="0">
                <a:solidFill>
                  <a:srgbClr val="C2410C"/>
                </a:solidFill>
                <a:latin typeface="Arial" pitchFamily="34" charset="0"/>
                <a:ea typeface="Arial" pitchFamily="34" charset="-122"/>
                <a:cs typeface="Arial" pitchFamily="34" charset="-120"/>
              </a:rPr>
              <a:t>One UUID, generated when the checkout page loads — not per click. That is the entire trick.</a:t>
            </a:r>
            <a:endParaRPr lang="en-US" sz="1500" dirty="0"/>
          </a:p>
        </p:txBody>
      </p:sp>
      <p:sp>
        <p:nvSpPr>
          <p:cNvPr id="15" name="Text 13"/>
          <p:cNvSpPr/>
          <p:nvPr/>
        </p:nvSpPr>
        <p:spPr>
          <a:xfrm>
            <a:off x="914400" y="5623560"/>
            <a:ext cx="10424160" cy="45720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This is why POST being neither safe nor idempotent is worth knowing rather than reciting. Every real payment API solves it this way.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BREAKOUT 2  ·  20 MINUTES</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Design the API</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Same groups, rotate roles. Whiteboard or text file. For every endpoint give the verb, the path, and the success status code.</a:t>
            </a:r>
            <a:endParaRPr lang="en-US" sz="1400" dirty="0"/>
          </a:p>
        </p:txBody>
      </p:sp>
      <p:sp>
        <p:nvSpPr>
          <p:cNvPr id="5" name="Text 3"/>
          <p:cNvSpPr/>
          <p:nvPr/>
        </p:nvSpPr>
        <p:spPr>
          <a:xfrm>
            <a:off x="731520" y="2514600"/>
            <a:ext cx="548640" cy="329184"/>
          </a:xfrm>
          <a:prstGeom prst="rect">
            <a:avLst/>
          </a:prstGeom>
          <a:noFill/>
          <a:ln/>
        </p:spPr>
        <p:txBody>
          <a:bodyPr wrap="square" lIns="0" tIns="0" rIns="0" bIns="0" rtlCol="0" anchor="ctr"/>
          <a:lstStyle/>
          <a:p>
            <a:pPr indent="0" marL="0">
              <a:buNone/>
            </a:pPr>
            <a:r>
              <a:rPr lang="en-US" sz="1200" b="1" dirty="0">
                <a:solidFill>
                  <a:srgbClr val="C2410C"/>
                </a:solidFill>
                <a:latin typeface="Courier New" pitchFamily="34" charset="0"/>
                <a:ea typeface="Courier New" pitchFamily="34" charset="-122"/>
                <a:cs typeface="Courier New" pitchFamily="34" charset="-120"/>
              </a:rPr>
              <a:t>01</a:t>
            </a:r>
            <a:endParaRPr lang="en-US" sz="1200" dirty="0"/>
          </a:p>
        </p:txBody>
      </p:sp>
      <p:sp>
        <p:nvSpPr>
          <p:cNvPr id="6" name="Text 4"/>
          <p:cNvSpPr/>
          <p:nvPr/>
        </p:nvSpPr>
        <p:spPr>
          <a:xfrm>
            <a:off x="1463040" y="2496312"/>
            <a:ext cx="9601200" cy="365760"/>
          </a:xfrm>
          <a:prstGeom prst="rect">
            <a:avLst/>
          </a:prstGeom>
          <a:noFill/>
          <a:ln/>
        </p:spPr>
        <p:txBody>
          <a:bodyPr wrap="square" lIns="0" tIns="0" rIns="0" bIns="0" rtlCol="0" anchor="ctr"/>
          <a:lstStyle/>
          <a:p>
            <a:pPr indent="0" marL="0">
              <a:buNone/>
            </a:pPr>
            <a:r>
              <a:rPr lang="en-US" sz="1500" dirty="0">
                <a:solidFill>
                  <a:srgbClr val="0A0A14"/>
                </a:solidFill>
                <a:latin typeface="Arial" pitchFamily="34" charset="0"/>
                <a:ea typeface="Arial" pitchFamily="34" charset="-122"/>
                <a:cs typeface="Arial" pitchFamily="34" charset="-120"/>
              </a:rPr>
              <a:t>Browse all courses, and view one course</a:t>
            </a:r>
            <a:endParaRPr lang="en-US" sz="1500" dirty="0"/>
          </a:p>
        </p:txBody>
      </p:sp>
      <p:sp>
        <p:nvSpPr>
          <p:cNvPr id="7" name="Text 5"/>
          <p:cNvSpPr/>
          <p:nvPr/>
        </p:nvSpPr>
        <p:spPr>
          <a:xfrm>
            <a:off x="731520" y="3136392"/>
            <a:ext cx="548640" cy="329184"/>
          </a:xfrm>
          <a:prstGeom prst="rect">
            <a:avLst/>
          </a:prstGeom>
          <a:noFill/>
          <a:ln/>
        </p:spPr>
        <p:txBody>
          <a:bodyPr wrap="square" lIns="0" tIns="0" rIns="0" bIns="0" rtlCol="0" anchor="ctr"/>
          <a:lstStyle/>
          <a:p>
            <a:pPr indent="0" marL="0">
              <a:buNone/>
            </a:pPr>
            <a:r>
              <a:rPr lang="en-US" sz="1200" b="1" dirty="0">
                <a:solidFill>
                  <a:srgbClr val="C2410C"/>
                </a:solidFill>
                <a:latin typeface="Courier New" pitchFamily="34" charset="0"/>
                <a:ea typeface="Courier New" pitchFamily="34" charset="-122"/>
                <a:cs typeface="Courier New" pitchFamily="34" charset="-120"/>
              </a:rPr>
              <a:t>02</a:t>
            </a:r>
            <a:endParaRPr lang="en-US" sz="1200" dirty="0"/>
          </a:p>
        </p:txBody>
      </p:sp>
      <p:sp>
        <p:nvSpPr>
          <p:cNvPr id="8" name="Text 6"/>
          <p:cNvSpPr/>
          <p:nvPr/>
        </p:nvSpPr>
        <p:spPr>
          <a:xfrm>
            <a:off x="1463040" y="3118104"/>
            <a:ext cx="9601200" cy="365760"/>
          </a:xfrm>
          <a:prstGeom prst="rect">
            <a:avLst/>
          </a:prstGeom>
          <a:noFill/>
          <a:ln/>
        </p:spPr>
        <p:txBody>
          <a:bodyPr wrap="square" lIns="0" tIns="0" rIns="0" bIns="0" rtlCol="0" anchor="ctr"/>
          <a:lstStyle/>
          <a:p>
            <a:pPr indent="0" marL="0">
              <a:buNone/>
            </a:pPr>
            <a:r>
              <a:rPr lang="en-US" sz="1500" dirty="0">
                <a:solidFill>
                  <a:srgbClr val="0A0A14"/>
                </a:solidFill>
                <a:latin typeface="Arial" pitchFamily="34" charset="0"/>
                <a:ea typeface="Arial" pitchFamily="34" charset="-122"/>
                <a:cs typeface="Arial" pitchFamily="34" charset="-120"/>
              </a:rPr>
              <a:t>Enroll a student, and drop an enrollment</a:t>
            </a:r>
            <a:endParaRPr lang="en-US" sz="1500" dirty="0"/>
          </a:p>
        </p:txBody>
      </p:sp>
      <p:sp>
        <p:nvSpPr>
          <p:cNvPr id="9" name="Text 7"/>
          <p:cNvSpPr/>
          <p:nvPr/>
        </p:nvSpPr>
        <p:spPr>
          <a:xfrm>
            <a:off x="731520" y="3758184"/>
            <a:ext cx="548640" cy="329184"/>
          </a:xfrm>
          <a:prstGeom prst="rect">
            <a:avLst/>
          </a:prstGeom>
          <a:noFill/>
          <a:ln/>
        </p:spPr>
        <p:txBody>
          <a:bodyPr wrap="square" lIns="0" tIns="0" rIns="0" bIns="0" rtlCol="0" anchor="ctr"/>
          <a:lstStyle/>
          <a:p>
            <a:pPr indent="0" marL="0">
              <a:buNone/>
            </a:pPr>
            <a:r>
              <a:rPr lang="en-US" sz="1200" b="1" dirty="0">
                <a:solidFill>
                  <a:srgbClr val="C2410C"/>
                </a:solidFill>
                <a:latin typeface="Courier New" pitchFamily="34" charset="0"/>
                <a:ea typeface="Courier New" pitchFamily="34" charset="-122"/>
                <a:cs typeface="Courier New" pitchFamily="34" charset="-120"/>
              </a:rPr>
              <a:t>03</a:t>
            </a:r>
            <a:endParaRPr lang="en-US" sz="1200" dirty="0"/>
          </a:p>
        </p:txBody>
      </p:sp>
      <p:sp>
        <p:nvSpPr>
          <p:cNvPr id="10" name="Text 8"/>
          <p:cNvSpPr/>
          <p:nvPr/>
        </p:nvSpPr>
        <p:spPr>
          <a:xfrm>
            <a:off x="1463040" y="3739896"/>
            <a:ext cx="9601200" cy="365760"/>
          </a:xfrm>
          <a:prstGeom prst="rect">
            <a:avLst/>
          </a:prstGeom>
          <a:noFill/>
          <a:ln/>
        </p:spPr>
        <p:txBody>
          <a:bodyPr wrap="square" lIns="0" tIns="0" rIns="0" bIns="0" rtlCol="0" anchor="ctr"/>
          <a:lstStyle/>
          <a:p>
            <a:pPr indent="0" marL="0">
              <a:buNone/>
            </a:pPr>
            <a:r>
              <a:rPr lang="en-US" sz="1500" dirty="0">
                <a:solidFill>
                  <a:srgbClr val="0A0A14"/>
                </a:solidFill>
                <a:latin typeface="Arial" pitchFamily="34" charset="0"/>
                <a:ea typeface="Arial" pitchFamily="34" charset="-122"/>
                <a:cs typeface="Arial" pitchFamily="34" charset="-120"/>
              </a:rPr>
              <a:t>List one student's enrollments</a:t>
            </a:r>
            <a:endParaRPr lang="en-US" sz="1500" dirty="0"/>
          </a:p>
        </p:txBody>
      </p:sp>
      <p:sp>
        <p:nvSpPr>
          <p:cNvPr id="11" name="Text 9"/>
          <p:cNvSpPr/>
          <p:nvPr/>
        </p:nvSpPr>
        <p:spPr>
          <a:xfrm>
            <a:off x="731520" y="4379976"/>
            <a:ext cx="548640" cy="329184"/>
          </a:xfrm>
          <a:prstGeom prst="rect">
            <a:avLst/>
          </a:prstGeom>
          <a:noFill/>
          <a:ln/>
        </p:spPr>
        <p:txBody>
          <a:bodyPr wrap="square" lIns="0" tIns="0" rIns="0" bIns="0" rtlCol="0" anchor="ctr"/>
          <a:lstStyle/>
          <a:p>
            <a:pPr indent="0" marL="0">
              <a:buNone/>
            </a:pPr>
            <a:r>
              <a:rPr lang="en-US" sz="1200" b="1" dirty="0">
                <a:solidFill>
                  <a:srgbClr val="C2410C"/>
                </a:solidFill>
                <a:latin typeface="Courier New" pitchFamily="34" charset="0"/>
                <a:ea typeface="Courier New" pitchFamily="34" charset="-122"/>
                <a:cs typeface="Courier New" pitchFamily="34" charset="-120"/>
              </a:rPr>
              <a:t>04</a:t>
            </a:r>
            <a:endParaRPr lang="en-US" sz="1200" dirty="0"/>
          </a:p>
        </p:txBody>
      </p:sp>
      <p:sp>
        <p:nvSpPr>
          <p:cNvPr id="12" name="Text 10"/>
          <p:cNvSpPr/>
          <p:nvPr/>
        </p:nvSpPr>
        <p:spPr>
          <a:xfrm>
            <a:off x="1463040" y="4361688"/>
            <a:ext cx="9601200" cy="365760"/>
          </a:xfrm>
          <a:prstGeom prst="rect">
            <a:avLst/>
          </a:prstGeom>
          <a:noFill/>
          <a:ln/>
        </p:spPr>
        <p:txBody>
          <a:bodyPr wrap="square" lIns="0" tIns="0" rIns="0" bIns="0" rtlCol="0" anchor="ctr"/>
          <a:lstStyle/>
          <a:p>
            <a:pPr indent="0" marL="0">
              <a:buNone/>
            </a:pPr>
            <a:r>
              <a:rPr lang="en-US" sz="1500" dirty="0">
                <a:solidFill>
                  <a:srgbClr val="0A0A14"/>
                </a:solidFill>
                <a:latin typeface="Arial" pitchFamily="34" charset="0"/>
                <a:ea typeface="Arial" pitchFamily="34" charset="-122"/>
                <a:cs typeface="Arial" pitchFamily="34" charset="-120"/>
              </a:rPr>
              <a:t>Fix a typo in a course title without touching its other fields</a:t>
            </a:r>
            <a:endParaRPr lang="en-US" sz="1500" dirty="0"/>
          </a:p>
        </p:txBody>
      </p:sp>
      <p:sp>
        <p:nvSpPr>
          <p:cNvPr id="13" name="Shape 11"/>
          <p:cNvSpPr/>
          <p:nvPr/>
        </p:nvSpPr>
        <p:spPr>
          <a:xfrm>
            <a:off x="594360" y="5120640"/>
            <a:ext cx="10972800" cy="960120"/>
          </a:xfrm>
          <a:prstGeom prst="roundRect">
            <a:avLst>
              <a:gd name="adj" fmla="val 5714"/>
            </a:avLst>
          </a:prstGeom>
          <a:solidFill>
            <a:srgbClr val="EFEFF5"/>
          </a:solidFill>
          <a:ln w="9525">
            <a:solidFill>
              <a:srgbClr val="C9C7C2"/>
            </a:solidFill>
            <a:prstDash val="solid"/>
          </a:ln>
        </p:spPr>
      </p:sp>
      <p:sp>
        <p:nvSpPr>
          <p:cNvPr id="14" name="Text 12"/>
          <p:cNvSpPr/>
          <p:nvPr/>
        </p:nvSpPr>
        <p:spPr>
          <a:xfrm>
            <a:off x="886968" y="5266944"/>
            <a:ext cx="2926080" cy="274320"/>
          </a:xfrm>
          <a:prstGeom prst="rect">
            <a:avLst/>
          </a:prstGeom>
          <a:noFill/>
          <a:ln/>
        </p:spPr>
        <p:txBody>
          <a:bodyPr wrap="square" lIns="0" tIns="0" rIns="0" bIns="0" rtlCol="0" anchor="ctr"/>
          <a:lstStyle/>
          <a:p>
            <a:pPr indent="0" marL="0">
              <a:buNone/>
            </a:pPr>
            <a:r>
              <a:rPr lang="en-US" sz="1050" spc="120" kern="0" dirty="0">
                <a:solidFill>
                  <a:srgbClr val="63616F"/>
                </a:solidFill>
                <a:latin typeface="Courier New" pitchFamily="34" charset="0"/>
                <a:ea typeface="Courier New" pitchFamily="34" charset="-122"/>
                <a:cs typeface="Courier New" pitchFamily="34" charset="-120"/>
              </a:rPr>
              <a:t>Then answer out loud:</a:t>
            </a:r>
            <a:endParaRPr lang="en-US" sz="1050" dirty="0"/>
          </a:p>
        </p:txBody>
      </p:sp>
      <p:sp>
        <p:nvSpPr>
          <p:cNvPr id="15" name="Text 13"/>
          <p:cNvSpPr/>
          <p:nvPr/>
        </p:nvSpPr>
        <p:spPr>
          <a:xfrm>
            <a:off x="886968" y="5541264"/>
            <a:ext cx="10241280" cy="365760"/>
          </a:xfrm>
          <a:prstGeom prst="rect">
            <a:avLst/>
          </a:prstGeom>
          <a:noFill/>
          <a:ln/>
        </p:spPr>
        <p:txBody>
          <a:bodyPr wrap="square" lIns="0" tIns="0" rIns="0" bIns="0" rtlCol="0" anchor="ctr"/>
          <a:lstStyle/>
          <a:p>
            <a:pPr indent="0" marL="0">
              <a:buNone/>
            </a:pPr>
            <a:r>
              <a:rPr lang="en-US" sz="1500" b="1" dirty="0">
                <a:solidFill>
                  <a:srgbClr val="C2410C"/>
                </a:solidFill>
                <a:latin typeface="Arial" pitchFamily="34" charset="0"/>
                <a:ea typeface="Arial" pitchFamily="34" charset="-122"/>
                <a:cs typeface="Arial" pitchFamily="34" charset="-120"/>
              </a:rPr>
              <a:t>If the enroll request is sent twice, what happens — and what would you do about it?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2377440"/>
            <a:ext cx="3657600" cy="365760"/>
          </a:xfrm>
          <a:prstGeom prst="rect">
            <a:avLst/>
          </a:prstGeom>
          <a:noFill/>
          <a:ln/>
        </p:spPr>
        <p:txBody>
          <a:bodyPr wrap="square" lIns="0" tIns="0" rIns="0" bIns="0" rtlCol="0" anchor="ctr"/>
          <a:lstStyle/>
          <a:p>
            <a:pPr indent="0" marL="0">
              <a:buNone/>
            </a:pPr>
            <a:r>
              <a:rPr lang="en-US" sz="1300" b="1" spc="260" kern="0" dirty="0">
                <a:solidFill>
                  <a:srgbClr val="C2410C"/>
                </a:solidFill>
                <a:latin typeface="Courier New" pitchFamily="34" charset="0"/>
                <a:ea typeface="Courier New" pitchFamily="34" charset="-122"/>
                <a:cs typeface="Courier New" pitchFamily="34" charset="-120"/>
              </a:rPr>
              <a:t>PART 4</a:t>
            </a:r>
            <a:endParaRPr lang="en-US" sz="1300" dirty="0"/>
          </a:p>
        </p:txBody>
      </p:sp>
      <p:sp>
        <p:nvSpPr>
          <p:cNvPr id="3" name="Text 1"/>
          <p:cNvSpPr/>
          <p:nvPr/>
        </p:nvSpPr>
        <p:spPr>
          <a:xfrm>
            <a:off x="594360" y="2788920"/>
            <a:ext cx="9144000" cy="914400"/>
          </a:xfrm>
          <a:prstGeom prst="rect">
            <a:avLst/>
          </a:prstGeom>
          <a:noFill/>
          <a:ln/>
        </p:spPr>
        <p:txBody>
          <a:bodyPr wrap="square" lIns="0" tIns="0" rIns="0" bIns="0" rtlCol="0" anchor="ctr"/>
          <a:lstStyle/>
          <a:p>
            <a:pPr indent="0" marL="0">
              <a:buNone/>
            </a:pPr>
            <a:r>
              <a:rPr lang="en-US" sz="4400" b="1" dirty="0">
                <a:solidFill>
                  <a:srgbClr val="0A0A14"/>
                </a:solidFill>
                <a:latin typeface="Arial" pitchFamily="34" charset="0"/>
                <a:ea typeface="Arial" pitchFamily="34" charset="-122"/>
                <a:cs typeface="Arial" pitchFamily="34" charset="-120"/>
              </a:rPr>
              <a:t>What it costs</a:t>
            </a:r>
            <a:endParaRPr lang="en-US" sz="4400" dirty="0"/>
          </a:p>
        </p:txBody>
      </p:sp>
      <p:sp>
        <p:nvSpPr>
          <p:cNvPr id="4" name="Text 2"/>
          <p:cNvSpPr/>
          <p:nvPr/>
        </p:nvSpPr>
        <p:spPr>
          <a:xfrm>
            <a:off x="594360" y="3794760"/>
            <a:ext cx="9144000" cy="365760"/>
          </a:xfrm>
          <a:prstGeom prst="rect">
            <a:avLst/>
          </a:prstGeom>
          <a:noFill/>
          <a:ln/>
        </p:spPr>
        <p:txBody>
          <a:bodyPr wrap="square" lIns="0" tIns="0" rIns="0" bIns="0" rtlCol="0" anchor="ctr"/>
          <a:lstStyle/>
          <a:p>
            <a:pPr indent="0" marL="0">
              <a:buNone/>
            </a:pPr>
            <a:r>
              <a:rPr lang="en-US" sz="1600" dirty="0">
                <a:solidFill>
                  <a:srgbClr val="3F3F4D"/>
                </a:solidFill>
                <a:latin typeface="Arial" pitchFamily="34" charset="0"/>
                <a:ea typeface="Arial" pitchFamily="34" charset="-122"/>
                <a:cs typeface="Arial" pitchFamily="34" charset="-120"/>
              </a:rPr>
              <a:t>A server is a queue, a pool of workers, and finite memory.</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ONLY FORMULA TODAY</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How many requests per second can one box serve?</a:t>
            </a:r>
            <a:endParaRPr lang="en-US" sz="3200" dirty="0"/>
          </a:p>
        </p:txBody>
      </p:sp>
      <p:sp>
        <p:nvSpPr>
          <p:cNvPr id="4" name="Shape 2"/>
          <p:cNvSpPr/>
          <p:nvPr/>
        </p:nvSpPr>
        <p:spPr>
          <a:xfrm>
            <a:off x="594360" y="2011680"/>
            <a:ext cx="10972800" cy="1325880"/>
          </a:xfrm>
          <a:prstGeom prst="roundRect">
            <a:avLst>
              <a:gd name="adj" fmla="val 4138"/>
            </a:avLst>
          </a:prstGeom>
          <a:solidFill>
            <a:srgbClr val="F6F6FA"/>
          </a:solidFill>
          <a:ln w="9525">
            <a:solidFill>
              <a:srgbClr val="C9C7C2"/>
            </a:solidFill>
            <a:prstDash val="solid"/>
          </a:ln>
        </p:spPr>
      </p:sp>
      <p:sp>
        <p:nvSpPr>
          <p:cNvPr id="5" name="Text 3"/>
          <p:cNvSpPr/>
          <p:nvPr/>
        </p:nvSpPr>
        <p:spPr>
          <a:xfrm>
            <a:off x="594360" y="2286000"/>
            <a:ext cx="10972800" cy="502920"/>
          </a:xfrm>
          <a:prstGeom prst="rect">
            <a:avLst/>
          </a:prstGeom>
          <a:noFill/>
          <a:ln/>
        </p:spPr>
        <p:txBody>
          <a:bodyPr wrap="square" lIns="0" tIns="0" rIns="0" bIns="0" rtlCol="0" anchor="ctr"/>
          <a:lstStyle/>
          <a:p>
            <a:pPr algn="ctr" indent="0" marL="0">
              <a:buNone/>
            </a:pPr>
            <a:r>
              <a:rPr lang="en-US" sz="2800" b="1" dirty="0">
                <a:solidFill>
                  <a:srgbClr val="C2410C"/>
                </a:solidFill>
                <a:latin typeface="Courier New" pitchFamily="34" charset="0"/>
                <a:ea typeface="Courier New" pitchFamily="34" charset="-122"/>
                <a:cs typeface="Courier New" pitchFamily="34" charset="-120"/>
              </a:rPr>
              <a:t>ceiling  =  workers  ÷  handler time</a:t>
            </a:r>
            <a:endParaRPr lang="en-US" sz="2800" dirty="0"/>
          </a:p>
        </p:txBody>
      </p:sp>
      <p:sp>
        <p:nvSpPr>
          <p:cNvPr id="6" name="Text 4"/>
          <p:cNvSpPr/>
          <p:nvPr/>
        </p:nvSpPr>
        <p:spPr>
          <a:xfrm>
            <a:off x="594360" y="2816352"/>
            <a:ext cx="10972800" cy="365760"/>
          </a:xfrm>
          <a:prstGeom prst="rect">
            <a:avLst/>
          </a:prstGeom>
          <a:noFill/>
          <a:ln/>
        </p:spPr>
        <p:txBody>
          <a:bodyPr wrap="square" lIns="0" tIns="0" rIns="0" bIns="0" rtlCol="0" anchor="ctr"/>
          <a:lstStyle/>
          <a:p>
            <a:pPr algn="ctr" indent="0" marL="0">
              <a:buNone/>
            </a:pPr>
            <a:r>
              <a:rPr lang="en-US" sz="1500" dirty="0">
                <a:solidFill>
                  <a:srgbClr val="3F3F4D"/>
                </a:solidFill>
                <a:latin typeface="Courier New" pitchFamily="34" charset="0"/>
                <a:ea typeface="Courier New" pitchFamily="34" charset="-122"/>
                <a:cs typeface="Courier New" pitchFamily="34" charset="-120"/>
              </a:rPr>
              <a:t>4 workers  ÷  0.050 s  =  80 requests per second</a:t>
            </a:r>
            <a:endParaRPr lang="en-US" sz="1500" dirty="0"/>
          </a:p>
        </p:txBody>
      </p:sp>
      <p:sp>
        <p:nvSpPr>
          <p:cNvPr id="7" name="Shape 5"/>
          <p:cNvSpPr/>
          <p:nvPr/>
        </p:nvSpPr>
        <p:spPr>
          <a:xfrm>
            <a:off x="594360" y="3703320"/>
            <a:ext cx="3474720" cy="1737360"/>
          </a:xfrm>
          <a:prstGeom prst="roundRect">
            <a:avLst>
              <a:gd name="adj" fmla="val 3158"/>
            </a:avLst>
          </a:prstGeom>
          <a:solidFill>
            <a:srgbClr val="F6F6FA"/>
          </a:solidFill>
          <a:ln w="9525">
            <a:solidFill>
              <a:srgbClr val="C9C7C2"/>
            </a:solidFill>
            <a:prstDash val="solid"/>
          </a:ln>
        </p:spPr>
      </p:sp>
      <p:sp>
        <p:nvSpPr>
          <p:cNvPr id="8" name="Shape 6"/>
          <p:cNvSpPr/>
          <p:nvPr/>
        </p:nvSpPr>
        <p:spPr>
          <a:xfrm>
            <a:off x="850392" y="3931920"/>
            <a:ext cx="182880" cy="182880"/>
          </a:xfrm>
          <a:prstGeom prst="ellipse">
            <a:avLst/>
          </a:prstGeom>
          <a:solidFill>
            <a:srgbClr val="B3121B"/>
          </a:solidFill>
          <a:ln w="12700">
            <a:solidFill>
              <a:srgbClr val="B3121B"/>
            </a:solidFill>
            <a:prstDash val="solid"/>
          </a:ln>
        </p:spPr>
      </p:sp>
      <p:sp>
        <p:nvSpPr>
          <p:cNvPr id="9" name="Text 7"/>
          <p:cNvSpPr/>
          <p:nvPr/>
        </p:nvSpPr>
        <p:spPr>
          <a:xfrm>
            <a:off x="1161288" y="3877056"/>
            <a:ext cx="265176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Past the ceiling</a:t>
            </a:r>
            <a:endParaRPr lang="en-US" sz="1400" dirty="0"/>
          </a:p>
        </p:txBody>
      </p:sp>
      <p:sp>
        <p:nvSpPr>
          <p:cNvPr id="10" name="Text 8"/>
          <p:cNvSpPr/>
          <p:nvPr/>
        </p:nvSpPr>
        <p:spPr>
          <a:xfrm>
            <a:off x="850392" y="4315968"/>
            <a:ext cx="2962656" cy="96012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The queue grows without bound. Latency rises forever while throughput stays flat.</a:t>
            </a:r>
            <a:endParaRPr lang="en-US" sz="1200" dirty="0"/>
          </a:p>
        </p:txBody>
      </p:sp>
      <p:sp>
        <p:nvSpPr>
          <p:cNvPr id="11" name="Shape 9"/>
          <p:cNvSpPr/>
          <p:nvPr/>
        </p:nvSpPr>
        <p:spPr>
          <a:xfrm>
            <a:off x="4343400" y="3703320"/>
            <a:ext cx="3474720" cy="1737360"/>
          </a:xfrm>
          <a:prstGeom prst="roundRect">
            <a:avLst>
              <a:gd name="adj" fmla="val 3158"/>
            </a:avLst>
          </a:prstGeom>
          <a:solidFill>
            <a:srgbClr val="F6F6FA"/>
          </a:solidFill>
          <a:ln w="9525">
            <a:solidFill>
              <a:srgbClr val="C9C7C2"/>
            </a:solidFill>
            <a:prstDash val="solid"/>
          </a:ln>
        </p:spPr>
      </p:sp>
      <p:sp>
        <p:nvSpPr>
          <p:cNvPr id="12" name="Shape 10"/>
          <p:cNvSpPr/>
          <p:nvPr/>
        </p:nvSpPr>
        <p:spPr>
          <a:xfrm>
            <a:off x="4599432" y="3931920"/>
            <a:ext cx="182880" cy="182880"/>
          </a:xfrm>
          <a:prstGeom prst="ellipse">
            <a:avLst/>
          </a:prstGeom>
          <a:solidFill>
            <a:srgbClr val="C2410C"/>
          </a:solidFill>
          <a:ln w="12700">
            <a:solidFill>
              <a:srgbClr val="C2410C"/>
            </a:solidFill>
            <a:prstDash val="solid"/>
          </a:ln>
        </p:spPr>
      </p:sp>
      <p:sp>
        <p:nvSpPr>
          <p:cNvPr id="13" name="Text 11"/>
          <p:cNvSpPr/>
          <p:nvPr/>
        </p:nvSpPr>
        <p:spPr>
          <a:xfrm>
            <a:off x="4910328" y="3877056"/>
            <a:ext cx="265176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Past 70%</a:t>
            </a:r>
            <a:endParaRPr lang="en-US" sz="1400" dirty="0"/>
          </a:p>
        </p:txBody>
      </p:sp>
      <p:sp>
        <p:nvSpPr>
          <p:cNvPr id="14" name="Text 12"/>
          <p:cNvSpPr/>
          <p:nvPr/>
        </p:nvSpPr>
        <p:spPr>
          <a:xfrm>
            <a:off x="4599432" y="4315968"/>
            <a:ext cx="2962656" cy="96012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Queueing delay becomes the main cost. This is why nobody sizes a box for 100%.</a:t>
            </a:r>
            <a:endParaRPr lang="en-US" sz="1200" dirty="0"/>
          </a:p>
        </p:txBody>
      </p:sp>
      <p:sp>
        <p:nvSpPr>
          <p:cNvPr id="15" name="Shape 13"/>
          <p:cNvSpPr/>
          <p:nvPr/>
        </p:nvSpPr>
        <p:spPr>
          <a:xfrm>
            <a:off x="8092440" y="3703320"/>
            <a:ext cx="3474720" cy="1737360"/>
          </a:xfrm>
          <a:prstGeom prst="roundRect">
            <a:avLst>
              <a:gd name="adj" fmla="val 3158"/>
            </a:avLst>
          </a:prstGeom>
          <a:solidFill>
            <a:srgbClr val="F6F6FA"/>
          </a:solidFill>
          <a:ln w="9525">
            <a:solidFill>
              <a:srgbClr val="C9C7C2"/>
            </a:solidFill>
            <a:prstDash val="solid"/>
          </a:ln>
        </p:spPr>
      </p:sp>
      <p:sp>
        <p:nvSpPr>
          <p:cNvPr id="16" name="Shape 14"/>
          <p:cNvSpPr/>
          <p:nvPr/>
        </p:nvSpPr>
        <p:spPr>
          <a:xfrm>
            <a:off x="8348472" y="3931920"/>
            <a:ext cx="182880" cy="182880"/>
          </a:xfrm>
          <a:prstGeom prst="ellipse">
            <a:avLst/>
          </a:prstGeom>
          <a:solidFill>
            <a:srgbClr val="10069F"/>
          </a:solidFill>
          <a:ln w="12700">
            <a:solidFill>
              <a:srgbClr val="10069F"/>
            </a:solidFill>
            <a:prstDash val="solid"/>
          </a:ln>
        </p:spPr>
      </p:sp>
      <p:sp>
        <p:nvSpPr>
          <p:cNvPr id="17" name="Text 15"/>
          <p:cNvSpPr/>
          <p:nvPr/>
        </p:nvSpPr>
        <p:spPr>
          <a:xfrm>
            <a:off x="8659368" y="3877056"/>
            <a:ext cx="265176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Every worker costs RAM</a:t>
            </a:r>
            <a:endParaRPr lang="en-US" sz="1400" dirty="0"/>
          </a:p>
        </p:txBody>
      </p:sp>
      <p:sp>
        <p:nvSpPr>
          <p:cNvPr id="18" name="Text 16"/>
          <p:cNvSpPr/>
          <p:nvPr/>
        </p:nvSpPr>
        <p:spPr>
          <a:xfrm>
            <a:off x="8348472" y="4315968"/>
            <a:ext cx="2962656" cy="96012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So “just add workers” has a hard stop, and it is memory, not CPU.</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WHY ARCHITECTURE IS A SEQUENCE, NOT A DECISION</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Fixing the bottleneck just moves it</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Serving 400 requests per second. Each fix works, and each one hands you a new constraint.</a:t>
            </a:r>
            <a:endParaRPr lang="en-US" sz="1400" dirty="0"/>
          </a:p>
        </p:txBody>
      </p:sp>
      <p:sp>
        <p:nvSpPr>
          <p:cNvPr id="5" name="Text 3"/>
          <p:cNvSpPr/>
          <p:nvPr/>
        </p:nvSpPr>
        <p:spPr>
          <a:xfrm>
            <a:off x="731520" y="2331720"/>
            <a:ext cx="27432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MOVE</a:t>
            </a:r>
            <a:endParaRPr lang="en-US" sz="950" dirty="0"/>
          </a:p>
        </p:txBody>
      </p:sp>
      <p:sp>
        <p:nvSpPr>
          <p:cNvPr id="6" name="Text 4"/>
          <p:cNvSpPr/>
          <p:nvPr/>
        </p:nvSpPr>
        <p:spPr>
          <a:xfrm>
            <a:off x="6263640" y="2331720"/>
            <a:ext cx="27432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CEILING</a:t>
            </a:r>
            <a:endParaRPr lang="en-US" sz="950" dirty="0"/>
          </a:p>
        </p:txBody>
      </p:sp>
      <p:sp>
        <p:nvSpPr>
          <p:cNvPr id="7" name="Text 5"/>
          <p:cNvSpPr/>
          <p:nvPr/>
        </p:nvSpPr>
        <p:spPr>
          <a:xfrm>
            <a:off x="8001000" y="2331720"/>
            <a:ext cx="274320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WHAT BREAKS NEXT</a:t>
            </a:r>
            <a:endParaRPr lang="en-US" sz="950" dirty="0"/>
          </a:p>
        </p:txBody>
      </p:sp>
      <p:sp>
        <p:nvSpPr>
          <p:cNvPr id="8" name="Shape 6"/>
          <p:cNvSpPr/>
          <p:nvPr/>
        </p:nvSpPr>
        <p:spPr>
          <a:xfrm>
            <a:off x="594360" y="2606040"/>
            <a:ext cx="10972800" cy="18288"/>
          </a:xfrm>
          <a:prstGeom prst="rect">
            <a:avLst/>
          </a:prstGeom>
          <a:solidFill>
            <a:srgbClr val="C9C7C2"/>
          </a:solidFill>
          <a:ln w="12700">
            <a:solidFill>
              <a:srgbClr val="C9C7C2"/>
            </a:solidFill>
            <a:prstDash val="solid"/>
          </a:ln>
        </p:spPr>
      </p:sp>
      <p:sp>
        <p:nvSpPr>
          <p:cNvPr id="9" name="Text 7"/>
          <p:cNvSpPr/>
          <p:nvPr/>
        </p:nvSpPr>
        <p:spPr>
          <a:xfrm>
            <a:off x="731520" y="2788920"/>
            <a:ext cx="5303520" cy="329184"/>
          </a:xfrm>
          <a:prstGeom prst="rect">
            <a:avLst/>
          </a:prstGeom>
          <a:noFill/>
          <a:ln/>
        </p:spPr>
        <p:txBody>
          <a:bodyPr wrap="square" lIns="0" tIns="0" rIns="0" bIns="0" rtlCol="0" anchor="ctr"/>
          <a:lstStyle/>
          <a:p>
            <a:pPr indent="0" marL="0">
              <a:buNone/>
            </a:pPr>
            <a:r>
              <a:rPr lang="en-US" sz="1400" dirty="0">
                <a:solidFill>
                  <a:srgbClr val="0A0A14"/>
                </a:solidFill>
                <a:latin typeface="Arial" pitchFamily="34" charset="0"/>
                <a:ea typeface="Arial" pitchFamily="34" charset="-122"/>
                <a:cs typeface="Arial" pitchFamily="34" charset="-120"/>
              </a:rPr>
              <a:t>1 instance</a:t>
            </a:r>
            <a:endParaRPr lang="en-US" sz="1400" dirty="0"/>
          </a:p>
        </p:txBody>
      </p:sp>
      <p:sp>
        <p:nvSpPr>
          <p:cNvPr id="10" name="Text 8"/>
          <p:cNvSpPr/>
          <p:nvPr/>
        </p:nvSpPr>
        <p:spPr>
          <a:xfrm>
            <a:off x="6263640" y="2788920"/>
            <a:ext cx="1554480" cy="329184"/>
          </a:xfrm>
          <a:prstGeom prst="rect">
            <a:avLst/>
          </a:prstGeom>
          <a:noFill/>
          <a:ln/>
        </p:spPr>
        <p:txBody>
          <a:bodyPr wrap="square" lIns="0" tIns="0" rIns="0" bIns="0" rtlCol="0" anchor="ctr"/>
          <a:lstStyle/>
          <a:p>
            <a:pPr indent="0" marL="0">
              <a:buNone/>
            </a:pPr>
            <a:r>
              <a:rPr lang="en-US" sz="1350" b="1" dirty="0">
                <a:solidFill>
                  <a:srgbClr val="10069F"/>
                </a:solidFill>
                <a:latin typeface="Courier New" pitchFamily="34" charset="0"/>
                <a:ea typeface="Courier New" pitchFamily="34" charset="-122"/>
                <a:cs typeface="Courier New" pitchFamily="34" charset="-120"/>
              </a:rPr>
              <a:t>80 rps</a:t>
            </a:r>
            <a:endParaRPr lang="en-US" sz="1350" dirty="0"/>
          </a:p>
        </p:txBody>
      </p:sp>
      <p:sp>
        <p:nvSpPr>
          <p:cNvPr id="11" name="Text 9"/>
          <p:cNvSpPr/>
          <p:nvPr/>
        </p:nvSpPr>
        <p:spPr>
          <a:xfrm>
            <a:off x="8001000" y="2788920"/>
            <a:ext cx="3657600" cy="329184"/>
          </a:xfrm>
          <a:prstGeom prst="rect">
            <a:avLst/>
          </a:prstGeom>
          <a:noFill/>
          <a:ln/>
        </p:spPr>
        <p:txBody>
          <a:bodyPr wrap="square" lIns="0" tIns="0" rIns="0" bIns="0" rtlCol="0" anchor="ctr"/>
          <a:lstStyle/>
          <a:p>
            <a:pPr indent="0" marL="0">
              <a:buNone/>
            </a:pPr>
            <a:r>
              <a:rPr lang="en-US" sz="1300" dirty="0">
                <a:solidFill>
                  <a:srgbClr val="B3121B"/>
                </a:solidFill>
                <a:latin typeface="Arial" pitchFamily="34" charset="0"/>
                <a:ea typeface="Arial" pitchFamily="34" charset="-122"/>
                <a:cs typeface="Arial" pitchFamily="34" charset="-120"/>
              </a:rPr>
              <a:t>Application tier</a:t>
            </a:r>
            <a:endParaRPr lang="en-US" sz="1300" dirty="0"/>
          </a:p>
        </p:txBody>
      </p:sp>
      <p:sp>
        <p:nvSpPr>
          <p:cNvPr id="12" name="Shape 10"/>
          <p:cNvSpPr/>
          <p:nvPr/>
        </p:nvSpPr>
        <p:spPr>
          <a:xfrm>
            <a:off x="594360" y="3246120"/>
            <a:ext cx="10972800" cy="9144"/>
          </a:xfrm>
          <a:prstGeom prst="rect">
            <a:avLst/>
          </a:prstGeom>
          <a:solidFill>
            <a:srgbClr val="24384A"/>
          </a:solidFill>
          <a:ln w="12700">
            <a:solidFill>
              <a:srgbClr val="24384A"/>
            </a:solidFill>
            <a:prstDash val="solid"/>
          </a:ln>
        </p:spPr>
      </p:sp>
      <p:sp>
        <p:nvSpPr>
          <p:cNvPr id="13" name="Text 11"/>
          <p:cNvSpPr/>
          <p:nvPr/>
        </p:nvSpPr>
        <p:spPr>
          <a:xfrm>
            <a:off x="731520" y="3392424"/>
            <a:ext cx="5303520" cy="329184"/>
          </a:xfrm>
          <a:prstGeom prst="rect">
            <a:avLst/>
          </a:prstGeom>
          <a:noFill/>
          <a:ln/>
        </p:spPr>
        <p:txBody>
          <a:bodyPr wrap="square" lIns="0" tIns="0" rIns="0" bIns="0" rtlCol="0" anchor="ctr"/>
          <a:lstStyle/>
          <a:p>
            <a:pPr indent="0" marL="0">
              <a:buNone/>
            </a:pPr>
            <a:r>
              <a:rPr lang="en-US" sz="1400" dirty="0">
                <a:solidFill>
                  <a:srgbClr val="0A0A14"/>
                </a:solidFill>
                <a:latin typeface="Arial" pitchFamily="34" charset="0"/>
                <a:ea typeface="Arial" pitchFamily="34" charset="-122"/>
                <a:cs typeface="Arial" pitchFamily="34" charset="-120"/>
              </a:rPr>
              <a:t>6 instances, no balancer</a:t>
            </a:r>
            <a:endParaRPr lang="en-US" sz="1400" dirty="0"/>
          </a:p>
        </p:txBody>
      </p:sp>
      <p:sp>
        <p:nvSpPr>
          <p:cNvPr id="14" name="Text 12"/>
          <p:cNvSpPr/>
          <p:nvPr/>
        </p:nvSpPr>
        <p:spPr>
          <a:xfrm>
            <a:off x="6263640" y="3392424"/>
            <a:ext cx="1554480" cy="329184"/>
          </a:xfrm>
          <a:prstGeom prst="rect">
            <a:avLst/>
          </a:prstGeom>
          <a:noFill/>
          <a:ln/>
        </p:spPr>
        <p:txBody>
          <a:bodyPr wrap="square" lIns="0" tIns="0" rIns="0" bIns="0" rtlCol="0" anchor="ctr"/>
          <a:lstStyle/>
          <a:p>
            <a:pPr indent="0" marL="0">
              <a:buNone/>
            </a:pPr>
            <a:r>
              <a:rPr lang="en-US" sz="1350" b="1" dirty="0">
                <a:solidFill>
                  <a:srgbClr val="10069F"/>
                </a:solidFill>
                <a:latin typeface="Courier New" pitchFamily="34" charset="0"/>
                <a:ea typeface="Courier New" pitchFamily="34" charset="-122"/>
                <a:cs typeface="Courier New" pitchFamily="34" charset="-120"/>
              </a:rPr>
              <a:t>80 rps</a:t>
            </a:r>
            <a:endParaRPr lang="en-US" sz="1350" dirty="0"/>
          </a:p>
        </p:txBody>
      </p:sp>
      <p:sp>
        <p:nvSpPr>
          <p:cNvPr id="15" name="Text 13"/>
          <p:cNvSpPr/>
          <p:nvPr/>
        </p:nvSpPr>
        <p:spPr>
          <a:xfrm>
            <a:off x="8001000" y="3392424"/>
            <a:ext cx="3657600" cy="329184"/>
          </a:xfrm>
          <a:prstGeom prst="rect">
            <a:avLst/>
          </a:prstGeom>
          <a:noFill/>
          <a:ln/>
        </p:spPr>
        <p:txBody>
          <a:bodyPr wrap="square" lIns="0" tIns="0" rIns="0" bIns="0" rtlCol="0" anchor="ctr"/>
          <a:lstStyle/>
          <a:p>
            <a:pPr indent="0" marL="0">
              <a:buNone/>
            </a:pPr>
            <a:r>
              <a:rPr lang="en-US" sz="1300" dirty="0">
                <a:solidFill>
                  <a:srgbClr val="B3121B"/>
                </a:solidFill>
                <a:latin typeface="Arial" pitchFamily="34" charset="0"/>
                <a:ea typeface="Arial" pitchFamily="34" charset="-122"/>
                <a:cs typeface="Arial" pitchFamily="34" charset="-120"/>
              </a:rPr>
              <a:t>Five boxes sat idle</a:t>
            </a:r>
            <a:endParaRPr lang="en-US" sz="1300" dirty="0"/>
          </a:p>
        </p:txBody>
      </p:sp>
      <p:sp>
        <p:nvSpPr>
          <p:cNvPr id="16" name="Shape 14"/>
          <p:cNvSpPr/>
          <p:nvPr/>
        </p:nvSpPr>
        <p:spPr>
          <a:xfrm>
            <a:off x="594360" y="3849624"/>
            <a:ext cx="10972800" cy="9144"/>
          </a:xfrm>
          <a:prstGeom prst="rect">
            <a:avLst/>
          </a:prstGeom>
          <a:solidFill>
            <a:srgbClr val="24384A"/>
          </a:solidFill>
          <a:ln w="12700">
            <a:solidFill>
              <a:srgbClr val="24384A"/>
            </a:solidFill>
            <a:prstDash val="solid"/>
          </a:ln>
        </p:spPr>
      </p:sp>
      <p:sp>
        <p:nvSpPr>
          <p:cNvPr id="17" name="Text 15"/>
          <p:cNvSpPr/>
          <p:nvPr/>
        </p:nvSpPr>
        <p:spPr>
          <a:xfrm>
            <a:off x="731520" y="3995928"/>
            <a:ext cx="5303520" cy="329184"/>
          </a:xfrm>
          <a:prstGeom prst="rect">
            <a:avLst/>
          </a:prstGeom>
          <a:noFill/>
          <a:ln/>
        </p:spPr>
        <p:txBody>
          <a:bodyPr wrap="square" lIns="0" tIns="0" rIns="0" bIns="0" rtlCol="0" anchor="ctr"/>
          <a:lstStyle/>
          <a:p>
            <a:pPr indent="0" marL="0">
              <a:buNone/>
            </a:pPr>
            <a:r>
              <a:rPr lang="en-US" sz="1400" dirty="0">
                <a:solidFill>
                  <a:srgbClr val="0A0A14"/>
                </a:solidFill>
                <a:latin typeface="Arial" pitchFamily="34" charset="0"/>
                <a:ea typeface="Arial" pitchFamily="34" charset="-122"/>
                <a:cs typeface="Arial" pitchFamily="34" charset="-120"/>
              </a:rPr>
              <a:t>+ load balancer</a:t>
            </a:r>
            <a:endParaRPr lang="en-US" sz="1400" dirty="0"/>
          </a:p>
        </p:txBody>
      </p:sp>
      <p:sp>
        <p:nvSpPr>
          <p:cNvPr id="18" name="Text 16"/>
          <p:cNvSpPr/>
          <p:nvPr/>
        </p:nvSpPr>
        <p:spPr>
          <a:xfrm>
            <a:off x="6263640" y="3995928"/>
            <a:ext cx="1554480" cy="329184"/>
          </a:xfrm>
          <a:prstGeom prst="rect">
            <a:avLst/>
          </a:prstGeom>
          <a:noFill/>
          <a:ln/>
        </p:spPr>
        <p:txBody>
          <a:bodyPr wrap="square" lIns="0" tIns="0" rIns="0" bIns="0" rtlCol="0" anchor="ctr"/>
          <a:lstStyle/>
          <a:p>
            <a:pPr indent="0" marL="0">
              <a:buNone/>
            </a:pPr>
            <a:r>
              <a:rPr lang="en-US" sz="1350" b="1" dirty="0">
                <a:solidFill>
                  <a:srgbClr val="10069F"/>
                </a:solidFill>
                <a:latin typeface="Courier New" pitchFamily="34" charset="0"/>
                <a:ea typeface="Courier New" pitchFamily="34" charset="-122"/>
                <a:cs typeface="Courier New" pitchFamily="34" charset="-120"/>
              </a:rPr>
              <a:t>100 rps</a:t>
            </a:r>
            <a:endParaRPr lang="en-US" sz="1350" dirty="0"/>
          </a:p>
        </p:txBody>
      </p:sp>
      <p:sp>
        <p:nvSpPr>
          <p:cNvPr id="19" name="Text 17"/>
          <p:cNvSpPr/>
          <p:nvPr/>
        </p:nvSpPr>
        <p:spPr>
          <a:xfrm>
            <a:off x="8001000" y="3995928"/>
            <a:ext cx="3657600" cy="329184"/>
          </a:xfrm>
          <a:prstGeom prst="rect">
            <a:avLst/>
          </a:prstGeom>
          <a:noFill/>
          <a:ln/>
        </p:spPr>
        <p:txBody>
          <a:bodyPr wrap="square" lIns="0" tIns="0" rIns="0" bIns="0" rtlCol="0" anchor="ctr"/>
          <a:lstStyle/>
          <a:p>
            <a:pPr indent="0" marL="0">
              <a:buNone/>
            </a:pPr>
            <a:r>
              <a:rPr lang="en-US" sz="1300" dirty="0">
                <a:solidFill>
                  <a:srgbClr val="C2410C"/>
                </a:solidFill>
                <a:latin typeface="Arial" pitchFamily="34" charset="0"/>
                <a:ea typeface="Arial" pitchFamily="34" charset="-122"/>
                <a:cs typeface="Arial" pitchFamily="34" charset="-120"/>
              </a:rPr>
              <a:t>The database</a:t>
            </a:r>
            <a:endParaRPr lang="en-US" sz="1300" dirty="0"/>
          </a:p>
        </p:txBody>
      </p:sp>
      <p:sp>
        <p:nvSpPr>
          <p:cNvPr id="20" name="Shape 18"/>
          <p:cNvSpPr/>
          <p:nvPr/>
        </p:nvSpPr>
        <p:spPr>
          <a:xfrm>
            <a:off x="594360" y="4453128"/>
            <a:ext cx="10972800" cy="9144"/>
          </a:xfrm>
          <a:prstGeom prst="rect">
            <a:avLst/>
          </a:prstGeom>
          <a:solidFill>
            <a:srgbClr val="24384A"/>
          </a:solidFill>
          <a:ln w="12700">
            <a:solidFill>
              <a:srgbClr val="24384A"/>
            </a:solidFill>
            <a:prstDash val="solid"/>
          </a:ln>
        </p:spPr>
      </p:sp>
      <p:sp>
        <p:nvSpPr>
          <p:cNvPr id="21" name="Text 19"/>
          <p:cNvSpPr/>
          <p:nvPr/>
        </p:nvSpPr>
        <p:spPr>
          <a:xfrm>
            <a:off x="731520" y="4599432"/>
            <a:ext cx="5303520" cy="329184"/>
          </a:xfrm>
          <a:prstGeom prst="rect">
            <a:avLst/>
          </a:prstGeom>
          <a:noFill/>
          <a:ln/>
        </p:spPr>
        <p:txBody>
          <a:bodyPr wrap="square" lIns="0" tIns="0" rIns="0" bIns="0" rtlCol="0" anchor="ctr"/>
          <a:lstStyle/>
          <a:p>
            <a:pPr indent="0" marL="0">
              <a:buNone/>
            </a:pPr>
            <a:r>
              <a:rPr lang="en-US" sz="1400" dirty="0">
                <a:solidFill>
                  <a:srgbClr val="0A0A14"/>
                </a:solidFill>
                <a:latin typeface="Arial" pitchFamily="34" charset="0"/>
                <a:ea typeface="Arial" pitchFamily="34" charset="-122"/>
                <a:cs typeface="Arial" pitchFamily="34" charset="-120"/>
              </a:rPr>
              <a:t>+ cache</a:t>
            </a:r>
            <a:endParaRPr lang="en-US" sz="1400" dirty="0"/>
          </a:p>
        </p:txBody>
      </p:sp>
      <p:sp>
        <p:nvSpPr>
          <p:cNvPr id="22" name="Text 20"/>
          <p:cNvSpPr/>
          <p:nvPr/>
        </p:nvSpPr>
        <p:spPr>
          <a:xfrm>
            <a:off x="6263640" y="4599432"/>
            <a:ext cx="1554480" cy="329184"/>
          </a:xfrm>
          <a:prstGeom prst="rect">
            <a:avLst/>
          </a:prstGeom>
          <a:noFill/>
          <a:ln/>
        </p:spPr>
        <p:txBody>
          <a:bodyPr wrap="square" lIns="0" tIns="0" rIns="0" bIns="0" rtlCol="0" anchor="ctr"/>
          <a:lstStyle/>
          <a:p>
            <a:pPr indent="0" marL="0">
              <a:buNone/>
            </a:pPr>
            <a:r>
              <a:rPr lang="en-US" sz="1350" b="1" dirty="0">
                <a:solidFill>
                  <a:srgbClr val="10069F"/>
                </a:solidFill>
                <a:latin typeface="Courier New" pitchFamily="34" charset="0"/>
                <a:ea typeface="Courier New" pitchFamily="34" charset="-122"/>
                <a:cs typeface="Courier New" pitchFamily="34" charset="-120"/>
              </a:rPr>
              <a:t>333 rps</a:t>
            </a:r>
            <a:endParaRPr lang="en-US" sz="1350" dirty="0"/>
          </a:p>
        </p:txBody>
      </p:sp>
      <p:sp>
        <p:nvSpPr>
          <p:cNvPr id="23" name="Text 21"/>
          <p:cNvSpPr/>
          <p:nvPr/>
        </p:nvSpPr>
        <p:spPr>
          <a:xfrm>
            <a:off x="8001000" y="4599432"/>
            <a:ext cx="3657600" cy="329184"/>
          </a:xfrm>
          <a:prstGeom prst="rect">
            <a:avLst/>
          </a:prstGeom>
          <a:noFill/>
          <a:ln/>
        </p:spPr>
        <p:txBody>
          <a:bodyPr wrap="square" lIns="0" tIns="0" rIns="0" bIns="0" rtlCol="0" anchor="ctr"/>
          <a:lstStyle/>
          <a:p>
            <a:pPr indent="0" marL="0">
              <a:buNone/>
            </a:pPr>
            <a:r>
              <a:rPr lang="en-US" sz="1300" dirty="0">
                <a:solidFill>
                  <a:srgbClr val="C2410C"/>
                </a:solidFill>
                <a:latin typeface="Arial" pitchFamily="34" charset="0"/>
                <a:ea typeface="Arial" pitchFamily="34" charset="-122"/>
                <a:cs typeface="Arial" pitchFamily="34" charset="-120"/>
              </a:rPr>
              <a:t>The database, still</a:t>
            </a:r>
            <a:endParaRPr lang="en-US" sz="1300" dirty="0"/>
          </a:p>
        </p:txBody>
      </p:sp>
      <p:sp>
        <p:nvSpPr>
          <p:cNvPr id="24" name="Shape 22"/>
          <p:cNvSpPr/>
          <p:nvPr/>
        </p:nvSpPr>
        <p:spPr>
          <a:xfrm>
            <a:off x="594360" y="5056632"/>
            <a:ext cx="10972800" cy="9144"/>
          </a:xfrm>
          <a:prstGeom prst="rect">
            <a:avLst/>
          </a:prstGeom>
          <a:solidFill>
            <a:srgbClr val="24384A"/>
          </a:solidFill>
          <a:ln w="12700">
            <a:solidFill>
              <a:srgbClr val="24384A"/>
            </a:solidFill>
            <a:prstDash val="solid"/>
          </a:ln>
        </p:spPr>
      </p:sp>
      <p:sp>
        <p:nvSpPr>
          <p:cNvPr id="25" name="Text 23"/>
          <p:cNvSpPr/>
          <p:nvPr/>
        </p:nvSpPr>
        <p:spPr>
          <a:xfrm>
            <a:off x="731520" y="5202936"/>
            <a:ext cx="5303520" cy="329184"/>
          </a:xfrm>
          <a:prstGeom prst="rect">
            <a:avLst/>
          </a:prstGeom>
          <a:noFill/>
          <a:ln/>
        </p:spPr>
        <p:txBody>
          <a:bodyPr wrap="square" lIns="0" tIns="0" rIns="0" bIns="0" rtlCol="0" anchor="ctr"/>
          <a:lstStyle/>
          <a:p>
            <a:pPr indent="0" marL="0">
              <a:buNone/>
            </a:pPr>
            <a:r>
              <a:rPr lang="en-US" sz="1400" dirty="0">
                <a:solidFill>
                  <a:srgbClr val="0A0A14"/>
                </a:solidFill>
                <a:latin typeface="Arial" pitchFamily="34" charset="0"/>
                <a:ea typeface="Arial" pitchFamily="34" charset="-122"/>
                <a:cs typeface="Arial" pitchFamily="34" charset="-120"/>
              </a:rPr>
              <a:t>+ 3 read replicas</a:t>
            </a:r>
            <a:endParaRPr lang="en-US" sz="1400" dirty="0"/>
          </a:p>
        </p:txBody>
      </p:sp>
      <p:sp>
        <p:nvSpPr>
          <p:cNvPr id="26" name="Text 24"/>
          <p:cNvSpPr/>
          <p:nvPr/>
        </p:nvSpPr>
        <p:spPr>
          <a:xfrm>
            <a:off x="6263640" y="5202936"/>
            <a:ext cx="1554480" cy="329184"/>
          </a:xfrm>
          <a:prstGeom prst="rect">
            <a:avLst/>
          </a:prstGeom>
          <a:noFill/>
          <a:ln/>
        </p:spPr>
        <p:txBody>
          <a:bodyPr wrap="square" lIns="0" tIns="0" rIns="0" bIns="0" rtlCol="0" anchor="ctr"/>
          <a:lstStyle/>
          <a:p>
            <a:pPr indent="0" marL="0">
              <a:buNone/>
            </a:pPr>
            <a:r>
              <a:rPr lang="en-US" sz="1350" b="1" dirty="0">
                <a:solidFill>
                  <a:srgbClr val="10069F"/>
                </a:solidFill>
                <a:latin typeface="Courier New" pitchFamily="34" charset="0"/>
                <a:ea typeface="Courier New" pitchFamily="34" charset="-122"/>
                <a:cs typeface="Courier New" pitchFamily="34" charset="-120"/>
              </a:rPr>
              <a:t>480 rps</a:t>
            </a:r>
            <a:endParaRPr lang="en-US" sz="1350" dirty="0"/>
          </a:p>
        </p:txBody>
      </p:sp>
      <p:sp>
        <p:nvSpPr>
          <p:cNvPr id="27" name="Text 25"/>
          <p:cNvSpPr/>
          <p:nvPr/>
        </p:nvSpPr>
        <p:spPr>
          <a:xfrm>
            <a:off x="8001000" y="5202936"/>
            <a:ext cx="3657600" cy="329184"/>
          </a:xfrm>
          <a:prstGeom prst="rect">
            <a:avLst/>
          </a:prstGeom>
          <a:noFill/>
          <a:ln/>
        </p:spPr>
        <p:txBody>
          <a:bodyPr wrap="square" lIns="0" tIns="0" rIns="0" bIns="0" rtlCol="0" anchor="ctr"/>
          <a:lstStyle/>
          <a:p>
            <a:pPr indent="0" marL="0">
              <a:buNone/>
            </a:pPr>
            <a:r>
              <a:rPr lang="en-US" sz="1300" dirty="0">
                <a:solidFill>
                  <a:srgbClr val="10069F"/>
                </a:solidFill>
                <a:latin typeface="Arial" pitchFamily="34" charset="0"/>
                <a:ea typeface="Arial" pitchFamily="34" charset="-122"/>
                <a:cs typeface="Arial" pitchFamily="34" charset="-120"/>
              </a:rPr>
              <a:t>Application tier again</a:t>
            </a:r>
            <a:endParaRPr lang="en-US" sz="1300" dirty="0"/>
          </a:p>
        </p:txBody>
      </p:sp>
      <p:sp>
        <p:nvSpPr>
          <p:cNvPr id="28" name="Shape 26"/>
          <p:cNvSpPr/>
          <p:nvPr/>
        </p:nvSpPr>
        <p:spPr>
          <a:xfrm>
            <a:off x="594360" y="5660136"/>
            <a:ext cx="10972800" cy="9144"/>
          </a:xfrm>
          <a:prstGeom prst="rect">
            <a:avLst/>
          </a:prstGeom>
          <a:solidFill>
            <a:srgbClr val="24384A"/>
          </a:solidFill>
          <a:ln w="12700">
            <a:solidFill>
              <a:srgbClr val="24384A"/>
            </a:solidFill>
            <a:prstDash val="solid"/>
          </a:ln>
        </p:spPr>
      </p:sp>
      <p:sp>
        <p:nvSpPr>
          <p:cNvPr id="29" name="Text 27"/>
          <p:cNvSpPr/>
          <p:nvPr/>
        </p:nvSpPr>
        <p:spPr>
          <a:xfrm>
            <a:off x="594360" y="5943600"/>
            <a:ext cx="10972800" cy="365760"/>
          </a:xfrm>
          <a:prstGeom prst="rect">
            <a:avLst/>
          </a:prstGeom>
          <a:noFill/>
          <a:ln/>
        </p:spPr>
        <p:txBody>
          <a:bodyPr wrap="square" lIns="0" tIns="0" rIns="0" bIns="0" rtlCol="0" anchor="ctr"/>
          <a:lstStyle/>
          <a:p>
            <a:pPr indent="0" marL="0">
              <a:buNone/>
            </a:pPr>
            <a:r>
              <a:rPr lang="en-US" sz="1350" i="1" dirty="0">
                <a:solidFill>
                  <a:srgbClr val="C2410C"/>
                </a:solidFill>
                <a:latin typeface="Arial" pitchFamily="34" charset="0"/>
                <a:ea typeface="Arial" pitchFamily="34" charset="-122"/>
                <a:cs typeface="Arial" pitchFamily="34" charset="-120"/>
              </a:rPr>
              <a:t>Adding instances fixed the app tier and handed the problem to a tier nobody touched.</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ONE THAT PAYS FOR ITSELF</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One line of Django, twenty-five times the capacity</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A page lists a student's 50 enrollments. The template reads e.course.title inside the loop. Nobody wrote select_related().</a:t>
            </a:r>
            <a:endParaRPr lang="en-US" sz="1400" dirty="0"/>
          </a:p>
        </p:txBody>
      </p:sp>
      <p:sp>
        <p:nvSpPr>
          <p:cNvPr id="5" name="Shape 3"/>
          <p:cNvSpPr/>
          <p:nvPr/>
        </p:nvSpPr>
        <p:spPr>
          <a:xfrm>
            <a:off x="594360" y="2514600"/>
            <a:ext cx="5394960" cy="2286000"/>
          </a:xfrm>
          <a:prstGeom prst="roundRect">
            <a:avLst>
              <a:gd name="adj" fmla="val 2400"/>
            </a:avLst>
          </a:prstGeom>
          <a:solidFill>
            <a:srgbClr val="F6F6FA"/>
          </a:solidFill>
          <a:ln w="9525">
            <a:solidFill>
              <a:srgbClr val="C9C7C2"/>
            </a:solidFill>
            <a:prstDash val="solid"/>
          </a:ln>
        </p:spPr>
      </p:sp>
      <p:sp>
        <p:nvSpPr>
          <p:cNvPr id="6" name="Text 4"/>
          <p:cNvSpPr/>
          <p:nvPr/>
        </p:nvSpPr>
        <p:spPr>
          <a:xfrm>
            <a:off x="914400" y="2724912"/>
            <a:ext cx="4754880" cy="310896"/>
          </a:xfrm>
          <a:prstGeom prst="rect">
            <a:avLst/>
          </a:prstGeom>
          <a:noFill/>
          <a:ln/>
        </p:spPr>
        <p:txBody>
          <a:bodyPr wrap="square" lIns="0" tIns="0" rIns="0" bIns="0" rtlCol="0" anchor="ctr"/>
          <a:lstStyle/>
          <a:p>
            <a:pPr indent="0" marL="0">
              <a:buNone/>
            </a:pPr>
            <a:r>
              <a:rPr lang="en-US" sz="1200" b="1" spc="120" kern="0" dirty="0">
                <a:solidFill>
                  <a:srgbClr val="B3121B"/>
                </a:solidFill>
                <a:latin typeface="Courier New" pitchFamily="34" charset="0"/>
                <a:ea typeface="Courier New" pitchFamily="34" charset="-122"/>
                <a:cs typeface="Courier New" pitchFamily="34" charset="-120"/>
              </a:rPr>
              <a:t>51 queries per request</a:t>
            </a:r>
            <a:endParaRPr lang="en-US" sz="1200" dirty="0"/>
          </a:p>
        </p:txBody>
      </p:sp>
      <p:sp>
        <p:nvSpPr>
          <p:cNvPr id="7" name="Text 5"/>
          <p:cNvSpPr/>
          <p:nvPr/>
        </p:nvSpPr>
        <p:spPr>
          <a:xfrm>
            <a:off x="914400" y="3054096"/>
            <a:ext cx="4754880" cy="1005840"/>
          </a:xfrm>
          <a:prstGeom prst="rect">
            <a:avLst/>
          </a:prstGeom>
          <a:noFill/>
          <a:ln/>
        </p:spPr>
        <p:txBody>
          <a:bodyPr wrap="square" lIns="0" tIns="0" rIns="0" bIns="0" rtlCol="0" anchor="b"/>
          <a:lstStyle/>
          <a:p>
            <a:pPr indent="0" marL="0">
              <a:buNone/>
            </a:pPr>
            <a:r>
              <a:rPr lang="en-US" sz="7400" b="1" dirty="0">
                <a:solidFill>
                  <a:srgbClr val="B3121B"/>
                </a:solidFill>
                <a:latin typeface="Arial" pitchFamily="34" charset="0"/>
                <a:ea typeface="Arial" pitchFamily="34" charset="-122"/>
                <a:cs typeface="Arial" pitchFamily="34" charset="-120"/>
              </a:rPr>
              <a:t>6</a:t>
            </a:r>
            <a:pPr indent="0" marL="0">
              <a:buNone/>
            </a:pPr>
            <a:r>
              <a:rPr lang="en-US" sz="1600" dirty="0">
                <a:solidFill>
                  <a:srgbClr val="3F3F4D"/>
                </a:solidFill>
                <a:latin typeface="Arial" pitchFamily="34" charset="0"/>
                <a:ea typeface="Arial" pitchFamily="34" charset="-122"/>
                <a:cs typeface="Arial" pitchFamily="34" charset="-120"/>
              </a:rPr>
              <a:t>  rps ceiling</a:t>
            </a:r>
            <a:endParaRPr lang="en-US" sz="7400" dirty="0"/>
          </a:p>
        </p:txBody>
      </p:sp>
      <p:sp>
        <p:nvSpPr>
          <p:cNvPr id="8" name="Text 6"/>
          <p:cNvSpPr/>
          <p:nvPr/>
        </p:nvSpPr>
        <p:spPr>
          <a:xfrm>
            <a:off x="914400" y="4160520"/>
            <a:ext cx="4754880" cy="411480"/>
          </a:xfrm>
          <a:prstGeom prst="rect">
            <a:avLst/>
          </a:prstGeom>
          <a:noFill/>
          <a:ln/>
        </p:spPr>
        <p:txBody>
          <a:bodyPr wrap="square" lIns="0" tIns="0" rIns="0" bIns="0" rtlCol="0" anchor="ctr"/>
          <a:lstStyle/>
          <a:p>
            <a:pPr indent="0" marL="0">
              <a:buNone/>
            </a:pPr>
            <a:r>
              <a:rPr lang="en-US" sz="1200" dirty="0">
                <a:solidFill>
                  <a:srgbClr val="63616F"/>
                </a:solidFill>
                <a:latin typeface="Arial" pitchFamily="34" charset="0"/>
                <a:ea typeface="Arial" pitchFamily="34" charset="-122"/>
                <a:cs typeface="Arial" pitchFamily="34" charset="-120"/>
              </a:rPr>
              <a:t>One query for the list, then one more for every row.</a:t>
            </a:r>
            <a:endParaRPr lang="en-US" sz="1200" dirty="0"/>
          </a:p>
        </p:txBody>
      </p:sp>
      <p:sp>
        <p:nvSpPr>
          <p:cNvPr id="9" name="Shape 7"/>
          <p:cNvSpPr/>
          <p:nvPr/>
        </p:nvSpPr>
        <p:spPr>
          <a:xfrm>
            <a:off x="6217920" y="2514600"/>
            <a:ext cx="5349240" cy="2286000"/>
          </a:xfrm>
          <a:prstGeom prst="roundRect">
            <a:avLst>
              <a:gd name="adj" fmla="val 2400"/>
            </a:avLst>
          </a:prstGeom>
          <a:solidFill>
            <a:srgbClr val="F6F6FA"/>
          </a:solidFill>
          <a:ln w="9525">
            <a:solidFill>
              <a:srgbClr val="C9C7C2"/>
            </a:solidFill>
            <a:prstDash val="solid"/>
          </a:ln>
        </p:spPr>
      </p:sp>
      <p:sp>
        <p:nvSpPr>
          <p:cNvPr id="10" name="Text 8"/>
          <p:cNvSpPr/>
          <p:nvPr/>
        </p:nvSpPr>
        <p:spPr>
          <a:xfrm>
            <a:off x="6537960" y="2724912"/>
            <a:ext cx="4754880" cy="310896"/>
          </a:xfrm>
          <a:prstGeom prst="rect">
            <a:avLst/>
          </a:prstGeom>
          <a:noFill/>
          <a:ln/>
        </p:spPr>
        <p:txBody>
          <a:bodyPr wrap="square" lIns="0" tIns="0" rIns="0" bIns="0" rtlCol="0" anchor="ctr"/>
          <a:lstStyle/>
          <a:p>
            <a:pPr indent="0" marL="0">
              <a:buNone/>
            </a:pPr>
            <a:r>
              <a:rPr lang="en-US" sz="1200" b="1" spc="120" kern="0" dirty="0">
                <a:solidFill>
                  <a:srgbClr val="10069F"/>
                </a:solidFill>
                <a:latin typeface="Courier New" pitchFamily="34" charset="0"/>
                <a:ea typeface="Courier New" pitchFamily="34" charset="-122"/>
                <a:cs typeface="Courier New" pitchFamily="34" charset="-120"/>
              </a:rPr>
              <a:t>2 queries per request</a:t>
            </a:r>
            <a:endParaRPr lang="en-US" sz="1200" dirty="0"/>
          </a:p>
        </p:txBody>
      </p:sp>
      <p:sp>
        <p:nvSpPr>
          <p:cNvPr id="11" name="Text 9"/>
          <p:cNvSpPr/>
          <p:nvPr/>
        </p:nvSpPr>
        <p:spPr>
          <a:xfrm>
            <a:off x="6537960" y="3054096"/>
            <a:ext cx="4754880" cy="1005840"/>
          </a:xfrm>
          <a:prstGeom prst="rect">
            <a:avLst/>
          </a:prstGeom>
          <a:noFill/>
          <a:ln/>
        </p:spPr>
        <p:txBody>
          <a:bodyPr wrap="square" lIns="0" tIns="0" rIns="0" bIns="0" rtlCol="0" anchor="b"/>
          <a:lstStyle/>
          <a:p>
            <a:pPr indent="0" marL="0">
              <a:buNone/>
            </a:pPr>
            <a:r>
              <a:rPr lang="en-US" sz="7400" b="1" dirty="0">
                <a:solidFill>
                  <a:srgbClr val="10069F"/>
                </a:solidFill>
                <a:latin typeface="Arial" pitchFamily="34" charset="0"/>
                <a:ea typeface="Arial" pitchFamily="34" charset="-122"/>
                <a:cs typeface="Arial" pitchFamily="34" charset="-120"/>
              </a:rPr>
              <a:t>150</a:t>
            </a:r>
            <a:pPr indent="0" marL="0">
              <a:buNone/>
            </a:pPr>
            <a:r>
              <a:rPr lang="en-US" sz="1600" dirty="0">
                <a:solidFill>
                  <a:srgbClr val="3F3F4D"/>
                </a:solidFill>
                <a:latin typeface="Arial" pitchFamily="34" charset="0"/>
                <a:ea typeface="Arial" pitchFamily="34" charset="-122"/>
                <a:cs typeface="Arial" pitchFamily="34" charset="-120"/>
              </a:rPr>
              <a:t>  rps ceiling</a:t>
            </a:r>
            <a:endParaRPr lang="en-US" sz="7400" dirty="0"/>
          </a:p>
        </p:txBody>
      </p:sp>
      <p:sp>
        <p:nvSpPr>
          <p:cNvPr id="12" name="Text 10"/>
          <p:cNvSpPr/>
          <p:nvPr/>
        </p:nvSpPr>
        <p:spPr>
          <a:xfrm>
            <a:off x="6537960" y="4160520"/>
            <a:ext cx="4754880" cy="411480"/>
          </a:xfrm>
          <a:prstGeom prst="rect">
            <a:avLst/>
          </a:prstGeom>
          <a:noFill/>
          <a:ln/>
        </p:spPr>
        <p:txBody>
          <a:bodyPr wrap="square" lIns="0" tIns="0" rIns="0" bIns="0" rtlCol="0" anchor="ctr"/>
          <a:lstStyle/>
          <a:p>
            <a:pPr indent="0" marL="0">
              <a:buNone/>
            </a:pPr>
            <a:r>
              <a:rPr lang="en-US" sz="1150" dirty="0">
                <a:solidFill>
                  <a:srgbClr val="63616F"/>
                </a:solidFill>
                <a:latin typeface="Courier New" pitchFamily="34" charset="0"/>
                <a:ea typeface="Courier New" pitchFamily="34" charset="-122"/>
                <a:cs typeface="Courier New" pitchFamily="34" charset="-120"/>
              </a:rPr>
              <a:t>.select_related("course")   —  one line, one join.</a:t>
            </a:r>
            <a:endParaRPr lang="en-US" sz="1150" dirty="0"/>
          </a:p>
        </p:txBody>
      </p:sp>
      <p:sp>
        <p:nvSpPr>
          <p:cNvPr id="13" name="Shape 11"/>
          <p:cNvSpPr/>
          <p:nvPr/>
        </p:nvSpPr>
        <p:spPr>
          <a:xfrm>
            <a:off x="594360" y="5074920"/>
            <a:ext cx="10972800" cy="1005840"/>
          </a:xfrm>
          <a:prstGeom prst="roundRect">
            <a:avLst>
              <a:gd name="adj" fmla="val 5455"/>
            </a:avLst>
          </a:prstGeom>
          <a:solidFill>
            <a:srgbClr val="EFEFF5"/>
          </a:solidFill>
          <a:ln w="9525">
            <a:solidFill>
              <a:srgbClr val="C9C7C2"/>
            </a:solidFill>
            <a:prstDash val="solid"/>
          </a:ln>
        </p:spPr>
      </p:sp>
      <p:sp>
        <p:nvSpPr>
          <p:cNvPr id="14" name="Text 12"/>
          <p:cNvSpPr/>
          <p:nvPr/>
        </p:nvSpPr>
        <p:spPr>
          <a:xfrm>
            <a:off x="914400" y="5285232"/>
            <a:ext cx="10424160" cy="548640"/>
          </a:xfrm>
          <a:prstGeom prst="rect">
            <a:avLst/>
          </a:prstGeom>
          <a:noFill/>
          <a:ln/>
        </p:spPr>
        <p:txBody>
          <a:bodyPr wrap="square" lIns="0" tIns="0" rIns="0" bIns="0" rtlCol="0" anchor="ctr"/>
          <a:lstStyle/>
          <a:p>
            <a:pPr indent="0" marL="0">
              <a:buNone/>
            </a:pPr>
            <a:r>
              <a:rPr lang="en-US" sz="1500" b="1" dirty="0">
                <a:solidFill>
                  <a:srgbClr val="C2410C"/>
                </a:solidFill>
                <a:latin typeface="Arial" pitchFamily="34" charset="0"/>
                <a:ea typeface="Arial" pitchFamily="34" charset="-122"/>
                <a:cs typeface="Arial" pitchFamily="34" charset="-120"/>
              </a:rPr>
              <a:t>Ask yourself: what would that line have cost in servers instead — and how would you have noticed?</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CASE STUDY · YOU HAVE ALL LIVED THIS</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Enlistment day, and why the cloud did not fix it</a:t>
            </a:r>
            <a:endParaRPr lang="en-US" sz="3200" dirty="0"/>
          </a:p>
        </p:txBody>
      </p:sp>
      <p:sp>
        <p:nvSpPr>
          <p:cNvPr id="4" name="Text 2"/>
          <p:cNvSpPr/>
          <p:nvPr/>
        </p:nvSpPr>
        <p:spPr>
          <a:xfrm>
            <a:off x="594360" y="1591056"/>
            <a:ext cx="1097280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the enlistment system — the student information system</a:t>
            </a:r>
            <a:endParaRPr lang="en-US" sz="1300" dirty="0"/>
          </a:p>
        </p:txBody>
      </p:sp>
      <p:sp>
        <p:nvSpPr>
          <p:cNvPr id="5" name="Shape 3"/>
          <p:cNvSpPr/>
          <p:nvPr/>
        </p:nvSpPr>
        <p:spPr>
          <a:xfrm>
            <a:off x="594360" y="2103120"/>
            <a:ext cx="5394960" cy="2011680"/>
          </a:xfrm>
          <a:prstGeom prst="roundRect">
            <a:avLst>
              <a:gd name="adj" fmla="val 2727"/>
            </a:avLst>
          </a:prstGeom>
          <a:solidFill>
            <a:srgbClr val="F6F6FA"/>
          </a:solidFill>
          <a:ln w="9525">
            <a:solidFill>
              <a:srgbClr val="C9C7C2"/>
            </a:solidFill>
            <a:prstDash val="solid"/>
          </a:ln>
        </p:spPr>
      </p:sp>
      <p:sp>
        <p:nvSpPr>
          <p:cNvPr id="6" name="Text 4"/>
          <p:cNvSpPr/>
          <p:nvPr/>
        </p:nvSpPr>
        <p:spPr>
          <a:xfrm>
            <a:off x="914400" y="2313432"/>
            <a:ext cx="4754880" cy="274320"/>
          </a:xfrm>
          <a:prstGeom prst="rect">
            <a:avLst/>
          </a:prstGeom>
          <a:noFill/>
          <a:ln/>
        </p:spPr>
        <p:txBody>
          <a:bodyPr wrap="square" lIns="0" tIns="0" rIns="0" bIns="0" rtlCol="0" anchor="ctr"/>
          <a:lstStyle/>
          <a:p>
            <a:pPr indent="0" marL="0">
              <a:buNone/>
            </a:pPr>
            <a:r>
              <a:rPr lang="en-US" sz="1050" b="1" spc="140" kern="0" dirty="0">
                <a:solidFill>
                  <a:srgbClr val="63616F"/>
                </a:solidFill>
                <a:latin typeface="Courier New" pitchFamily="34" charset="0"/>
                <a:ea typeface="Courier New" pitchFamily="34" charset="-122"/>
                <a:cs typeface="Courier New" pitchFamily="34" charset="-120"/>
              </a:rPr>
              <a:t>THEN · ON-PREMISE</a:t>
            </a:r>
            <a:endParaRPr lang="en-US" sz="1050" dirty="0"/>
          </a:p>
        </p:txBody>
      </p:sp>
      <p:sp>
        <p:nvSpPr>
          <p:cNvPr id="7" name="Text 5"/>
          <p:cNvSpPr/>
          <p:nvPr/>
        </p:nvSpPr>
        <p:spPr>
          <a:xfrm>
            <a:off x="914400" y="2624328"/>
            <a:ext cx="4754880" cy="365760"/>
          </a:xfrm>
          <a:prstGeom prst="rect">
            <a:avLst/>
          </a:prstGeom>
          <a:noFill/>
          <a:ln/>
        </p:spPr>
        <p:txBody>
          <a:bodyPr wrap="square" lIns="0" tIns="0" rIns="0" bIns="0" rtlCol="0" anchor="ctr"/>
          <a:lstStyle/>
          <a:p>
            <a:pPr indent="0" marL="0">
              <a:buNone/>
            </a:pPr>
            <a:r>
              <a:rPr lang="en-US" sz="1700" b="1" dirty="0">
                <a:solidFill>
                  <a:srgbClr val="0A0A14"/>
                </a:solidFill>
                <a:latin typeface="Arial" pitchFamily="34" charset="0"/>
                <a:ea typeface="Arial" pitchFamily="34" charset="-122"/>
                <a:cs typeface="Arial" pitchFamily="34" charset="-120"/>
              </a:rPr>
              <a:t>7 web servers  ·  1 relational database</a:t>
            </a:r>
            <a:endParaRPr lang="en-US" sz="1700" dirty="0"/>
          </a:p>
        </p:txBody>
      </p:sp>
      <p:sp>
        <p:nvSpPr>
          <p:cNvPr id="8" name="Text 6"/>
          <p:cNvSpPr/>
          <p:nvPr/>
        </p:nvSpPr>
        <p:spPr>
          <a:xfrm>
            <a:off x="914400" y="3044952"/>
            <a:ext cx="4754880" cy="86868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Fixed hardware. More capacity meant buying and racking a machine, so the web tier had a ceiling nobody could move on enlistment morning.</a:t>
            </a:r>
            <a:endParaRPr lang="en-US" sz="1150" dirty="0"/>
          </a:p>
        </p:txBody>
      </p:sp>
      <p:sp>
        <p:nvSpPr>
          <p:cNvPr id="9" name="Shape 7"/>
          <p:cNvSpPr/>
          <p:nvPr/>
        </p:nvSpPr>
        <p:spPr>
          <a:xfrm>
            <a:off x="6217920" y="2103120"/>
            <a:ext cx="5349240" cy="2011680"/>
          </a:xfrm>
          <a:prstGeom prst="roundRect">
            <a:avLst>
              <a:gd name="adj" fmla="val 2727"/>
            </a:avLst>
          </a:prstGeom>
          <a:solidFill>
            <a:srgbClr val="F6F6FA"/>
          </a:solidFill>
          <a:ln w="9525">
            <a:solidFill>
              <a:srgbClr val="C9C7C2"/>
            </a:solidFill>
            <a:prstDash val="solid"/>
          </a:ln>
        </p:spPr>
      </p:sp>
      <p:sp>
        <p:nvSpPr>
          <p:cNvPr id="10" name="Text 8"/>
          <p:cNvSpPr/>
          <p:nvPr/>
        </p:nvSpPr>
        <p:spPr>
          <a:xfrm>
            <a:off x="6537960" y="2313432"/>
            <a:ext cx="4754880" cy="274320"/>
          </a:xfrm>
          <a:prstGeom prst="rect">
            <a:avLst/>
          </a:prstGeom>
          <a:noFill/>
          <a:ln/>
        </p:spPr>
        <p:txBody>
          <a:bodyPr wrap="square" lIns="0" tIns="0" rIns="0" bIns="0" rtlCol="0" anchor="ctr"/>
          <a:lstStyle/>
          <a:p>
            <a:pPr indent="0" marL="0">
              <a:buNone/>
            </a:pPr>
            <a:r>
              <a:rPr lang="en-US" sz="1050" b="1" spc="140" kern="0" dirty="0">
                <a:solidFill>
                  <a:srgbClr val="10069F"/>
                </a:solidFill>
                <a:latin typeface="Courier New" pitchFamily="34" charset="0"/>
                <a:ea typeface="Courier New" pitchFamily="34" charset="-122"/>
                <a:cs typeface="Courier New" pitchFamily="34" charset="-120"/>
              </a:rPr>
              <a:t>NOW · CLOUD</a:t>
            </a:r>
            <a:endParaRPr lang="en-US" sz="1050" dirty="0"/>
          </a:p>
        </p:txBody>
      </p:sp>
      <p:sp>
        <p:nvSpPr>
          <p:cNvPr id="11" name="Text 9"/>
          <p:cNvSpPr/>
          <p:nvPr/>
        </p:nvSpPr>
        <p:spPr>
          <a:xfrm>
            <a:off x="6537960" y="2624328"/>
            <a:ext cx="4754880" cy="365760"/>
          </a:xfrm>
          <a:prstGeom prst="rect">
            <a:avLst/>
          </a:prstGeom>
          <a:noFill/>
          <a:ln/>
        </p:spPr>
        <p:txBody>
          <a:bodyPr wrap="square" lIns="0" tIns="0" rIns="0" bIns="0" rtlCol="0" anchor="ctr"/>
          <a:lstStyle/>
          <a:p>
            <a:pPr indent="0" marL="0">
              <a:buNone/>
            </a:pPr>
            <a:r>
              <a:rPr lang="en-US" sz="1700" b="1" dirty="0">
                <a:solidFill>
                  <a:srgbClr val="0A0A14"/>
                </a:solidFill>
                <a:latin typeface="Arial" pitchFamily="34" charset="0"/>
                <a:ea typeface="Arial" pitchFamily="34" charset="-122"/>
                <a:cs typeface="Arial" pitchFamily="34" charset="-120"/>
              </a:rPr>
              <a:t>Autoscaling web tier  ·  1 primary database</a:t>
            </a:r>
            <a:endParaRPr lang="en-US" sz="1700" dirty="0"/>
          </a:p>
        </p:txBody>
      </p:sp>
      <p:sp>
        <p:nvSpPr>
          <p:cNvPr id="12" name="Text 10"/>
          <p:cNvSpPr/>
          <p:nvPr/>
        </p:nvSpPr>
        <p:spPr>
          <a:xfrm>
            <a:off x="6537960" y="3044952"/>
            <a:ext cx="4754880" cy="86868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The web tier grows on demand. The database is still one primary accepting writes, because seat reservation has to be correct, not merely fast.</a:t>
            </a:r>
            <a:endParaRPr lang="en-US" sz="1150" dirty="0"/>
          </a:p>
        </p:txBody>
      </p:sp>
      <p:sp>
        <p:nvSpPr>
          <p:cNvPr id="13" name="Text 11"/>
          <p:cNvSpPr/>
          <p:nvPr/>
        </p:nvSpPr>
        <p:spPr>
          <a:xfrm>
            <a:off x="594360" y="4251960"/>
            <a:ext cx="3108960" cy="274320"/>
          </a:xfrm>
          <a:prstGeom prst="rect">
            <a:avLst/>
          </a:prstGeom>
          <a:noFill/>
          <a:ln/>
        </p:spPr>
        <p:txBody>
          <a:bodyPr wrap="square" lIns="0" tIns="0" rIns="0" bIns="0" rtlCol="0" anchor="ctr"/>
          <a:lstStyle/>
          <a:p>
            <a:pPr indent="0" marL="0">
              <a:buNone/>
            </a:pPr>
            <a:r>
              <a:rPr lang="en-US" sz="1250" dirty="0">
                <a:solidFill>
                  <a:srgbClr val="3F3F4D"/>
                </a:solidFill>
                <a:latin typeface="Arial" pitchFamily="34" charset="0"/>
                <a:ea typeface="Arial" pitchFamily="34" charset="-122"/>
                <a:cs typeface="Arial" pitchFamily="34" charset="-120"/>
              </a:rPr>
              <a:t>Web tier ceiling, then</a:t>
            </a:r>
            <a:endParaRPr lang="en-US" sz="1250" dirty="0"/>
          </a:p>
        </p:txBody>
      </p:sp>
      <p:sp>
        <p:nvSpPr>
          <p:cNvPr id="14" name="Shape 12"/>
          <p:cNvSpPr/>
          <p:nvPr/>
        </p:nvSpPr>
        <p:spPr>
          <a:xfrm>
            <a:off x="3794760" y="4315968"/>
            <a:ext cx="6035040" cy="155448"/>
          </a:xfrm>
          <a:prstGeom prst="rect">
            <a:avLst/>
          </a:prstGeom>
          <a:solidFill>
            <a:srgbClr val="F6F6FA"/>
          </a:solidFill>
          <a:ln w="6350">
            <a:solidFill>
              <a:srgbClr val="C9C7C2"/>
            </a:solidFill>
            <a:prstDash val="solid"/>
          </a:ln>
        </p:spPr>
      </p:sp>
      <p:sp>
        <p:nvSpPr>
          <p:cNvPr id="15" name="Shape 13"/>
          <p:cNvSpPr/>
          <p:nvPr/>
        </p:nvSpPr>
        <p:spPr>
          <a:xfrm>
            <a:off x="3794760" y="4315968"/>
            <a:ext cx="1056132" cy="155448"/>
          </a:xfrm>
          <a:prstGeom prst="rect">
            <a:avLst/>
          </a:prstGeom>
          <a:solidFill>
            <a:srgbClr val="10069F"/>
          </a:solidFill>
          <a:ln w="6350">
            <a:solidFill>
              <a:srgbClr val="10069F"/>
            </a:solidFill>
            <a:prstDash val="solid"/>
          </a:ln>
        </p:spPr>
      </p:sp>
      <p:sp>
        <p:nvSpPr>
          <p:cNvPr id="16" name="Text 14"/>
          <p:cNvSpPr/>
          <p:nvPr/>
        </p:nvSpPr>
        <p:spPr>
          <a:xfrm>
            <a:off x="10012680" y="4251960"/>
            <a:ext cx="1554480" cy="274320"/>
          </a:xfrm>
          <a:prstGeom prst="rect">
            <a:avLst/>
          </a:prstGeom>
          <a:noFill/>
          <a:ln/>
        </p:spPr>
        <p:txBody>
          <a:bodyPr wrap="square" lIns="0" tIns="0" rIns="0" bIns="0" rtlCol="0" anchor="ctr"/>
          <a:lstStyle/>
          <a:p>
            <a:pPr indent="0" marL="0">
              <a:buNone/>
            </a:pPr>
            <a:r>
              <a:rPr lang="en-US" sz="1200" b="1" dirty="0">
                <a:solidFill>
                  <a:srgbClr val="10069F"/>
                </a:solidFill>
                <a:latin typeface="Courier New" pitchFamily="34" charset="0"/>
                <a:ea typeface="Courier New" pitchFamily="34" charset="-122"/>
                <a:cs typeface="Courier New" pitchFamily="34" charset="-120"/>
              </a:rPr>
              <a:t>700 rps</a:t>
            </a:r>
            <a:endParaRPr lang="en-US" sz="1200" dirty="0"/>
          </a:p>
        </p:txBody>
      </p:sp>
      <p:sp>
        <p:nvSpPr>
          <p:cNvPr id="17" name="Text 15"/>
          <p:cNvSpPr/>
          <p:nvPr/>
        </p:nvSpPr>
        <p:spPr>
          <a:xfrm>
            <a:off x="594360" y="4709160"/>
            <a:ext cx="3108960" cy="274320"/>
          </a:xfrm>
          <a:prstGeom prst="rect">
            <a:avLst/>
          </a:prstGeom>
          <a:noFill/>
          <a:ln/>
        </p:spPr>
        <p:txBody>
          <a:bodyPr wrap="square" lIns="0" tIns="0" rIns="0" bIns="0" rtlCol="0" anchor="ctr"/>
          <a:lstStyle/>
          <a:p>
            <a:pPr indent="0" marL="0">
              <a:buNone/>
            </a:pPr>
            <a:r>
              <a:rPr lang="en-US" sz="1250" dirty="0">
                <a:solidFill>
                  <a:srgbClr val="3F3F4D"/>
                </a:solidFill>
                <a:latin typeface="Arial" pitchFamily="34" charset="0"/>
                <a:ea typeface="Arial" pitchFamily="34" charset="-122"/>
                <a:cs typeface="Arial" pitchFamily="34" charset="-120"/>
              </a:rPr>
              <a:t>Web tier ceiling, now</a:t>
            </a:r>
            <a:endParaRPr lang="en-US" sz="1250" dirty="0"/>
          </a:p>
        </p:txBody>
      </p:sp>
      <p:sp>
        <p:nvSpPr>
          <p:cNvPr id="18" name="Shape 16"/>
          <p:cNvSpPr/>
          <p:nvPr/>
        </p:nvSpPr>
        <p:spPr>
          <a:xfrm>
            <a:off x="3794760" y="4773168"/>
            <a:ext cx="6035040" cy="155448"/>
          </a:xfrm>
          <a:prstGeom prst="rect">
            <a:avLst/>
          </a:prstGeom>
          <a:solidFill>
            <a:srgbClr val="F6F6FA"/>
          </a:solidFill>
          <a:ln w="6350">
            <a:solidFill>
              <a:srgbClr val="C9C7C2"/>
            </a:solidFill>
            <a:prstDash val="solid"/>
          </a:ln>
        </p:spPr>
      </p:sp>
      <p:sp>
        <p:nvSpPr>
          <p:cNvPr id="19" name="Shape 17"/>
          <p:cNvSpPr/>
          <p:nvPr/>
        </p:nvSpPr>
        <p:spPr>
          <a:xfrm>
            <a:off x="3794760" y="4773168"/>
            <a:ext cx="6035040" cy="155448"/>
          </a:xfrm>
          <a:prstGeom prst="rect">
            <a:avLst/>
          </a:prstGeom>
          <a:solidFill>
            <a:srgbClr val="10069F"/>
          </a:solidFill>
          <a:ln w="6350">
            <a:solidFill>
              <a:srgbClr val="10069F"/>
            </a:solidFill>
            <a:prstDash val="solid"/>
          </a:ln>
        </p:spPr>
      </p:sp>
      <p:sp>
        <p:nvSpPr>
          <p:cNvPr id="20" name="Text 18"/>
          <p:cNvSpPr/>
          <p:nvPr/>
        </p:nvSpPr>
        <p:spPr>
          <a:xfrm>
            <a:off x="10012680" y="4709160"/>
            <a:ext cx="1554480" cy="274320"/>
          </a:xfrm>
          <a:prstGeom prst="rect">
            <a:avLst/>
          </a:prstGeom>
          <a:noFill/>
          <a:ln/>
        </p:spPr>
        <p:txBody>
          <a:bodyPr wrap="square" lIns="0" tIns="0" rIns="0" bIns="0" rtlCol="0" anchor="ctr"/>
          <a:lstStyle/>
          <a:p>
            <a:pPr indent="0" marL="0">
              <a:buNone/>
            </a:pPr>
            <a:r>
              <a:rPr lang="en-US" sz="1200" b="1" dirty="0">
                <a:solidFill>
                  <a:srgbClr val="10069F"/>
                </a:solidFill>
                <a:latin typeface="Courier New" pitchFamily="34" charset="0"/>
                <a:ea typeface="Courier New" pitchFamily="34" charset="-122"/>
                <a:cs typeface="Courier New" pitchFamily="34" charset="-120"/>
              </a:rPr>
              <a:t>4,000 rps</a:t>
            </a:r>
            <a:endParaRPr lang="en-US" sz="1200" dirty="0"/>
          </a:p>
        </p:txBody>
      </p:sp>
      <p:sp>
        <p:nvSpPr>
          <p:cNvPr id="21" name="Text 19"/>
          <p:cNvSpPr/>
          <p:nvPr/>
        </p:nvSpPr>
        <p:spPr>
          <a:xfrm>
            <a:off x="594360" y="5166360"/>
            <a:ext cx="3108960" cy="274320"/>
          </a:xfrm>
          <a:prstGeom prst="rect">
            <a:avLst/>
          </a:prstGeom>
          <a:noFill/>
          <a:ln/>
        </p:spPr>
        <p:txBody>
          <a:bodyPr wrap="square" lIns="0" tIns="0" rIns="0" bIns="0" rtlCol="0" anchor="ctr"/>
          <a:lstStyle/>
          <a:p>
            <a:pPr indent="0" marL="0">
              <a:buNone/>
            </a:pPr>
            <a:r>
              <a:rPr lang="en-US" sz="1250" dirty="0">
                <a:solidFill>
                  <a:srgbClr val="3F3F4D"/>
                </a:solidFill>
                <a:latin typeface="Arial" pitchFamily="34" charset="0"/>
                <a:ea typeface="Arial" pitchFamily="34" charset="-122"/>
                <a:cs typeface="Arial" pitchFamily="34" charset="-120"/>
              </a:rPr>
              <a:t>Database ceiling, then</a:t>
            </a:r>
            <a:endParaRPr lang="en-US" sz="1250" dirty="0"/>
          </a:p>
        </p:txBody>
      </p:sp>
      <p:sp>
        <p:nvSpPr>
          <p:cNvPr id="22" name="Shape 20"/>
          <p:cNvSpPr/>
          <p:nvPr/>
        </p:nvSpPr>
        <p:spPr>
          <a:xfrm>
            <a:off x="3794760" y="5230368"/>
            <a:ext cx="6035040" cy="155448"/>
          </a:xfrm>
          <a:prstGeom prst="rect">
            <a:avLst/>
          </a:prstGeom>
          <a:solidFill>
            <a:srgbClr val="F6F6FA"/>
          </a:solidFill>
          <a:ln w="6350">
            <a:solidFill>
              <a:srgbClr val="C9C7C2"/>
            </a:solidFill>
            <a:prstDash val="solid"/>
          </a:ln>
        </p:spPr>
      </p:sp>
      <p:sp>
        <p:nvSpPr>
          <p:cNvPr id="23" name="Shape 21"/>
          <p:cNvSpPr/>
          <p:nvPr/>
        </p:nvSpPr>
        <p:spPr>
          <a:xfrm>
            <a:off x="3794760" y="5230368"/>
            <a:ext cx="603504" cy="155448"/>
          </a:xfrm>
          <a:prstGeom prst="rect">
            <a:avLst/>
          </a:prstGeom>
          <a:solidFill>
            <a:srgbClr val="C2410C"/>
          </a:solidFill>
          <a:ln w="6350">
            <a:solidFill>
              <a:srgbClr val="C2410C"/>
            </a:solidFill>
            <a:prstDash val="solid"/>
          </a:ln>
        </p:spPr>
      </p:sp>
      <p:sp>
        <p:nvSpPr>
          <p:cNvPr id="24" name="Text 22"/>
          <p:cNvSpPr/>
          <p:nvPr/>
        </p:nvSpPr>
        <p:spPr>
          <a:xfrm>
            <a:off x="10012680" y="5166360"/>
            <a:ext cx="1554480" cy="274320"/>
          </a:xfrm>
          <a:prstGeom prst="rect">
            <a:avLst/>
          </a:prstGeom>
          <a:noFill/>
          <a:ln/>
        </p:spPr>
        <p:txBody>
          <a:bodyPr wrap="square" lIns="0" tIns="0" rIns="0" bIns="0" rtlCol="0" anchor="ctr"/>
          <a:lstStyle/>
          <a:p>
            <a:pPr indent="0" marL="0">
              <a:buNone/>
            </a:pPr>
            <a:r>
              <a:rPr lang="en-US" sz="1200" b="1" dirty="0">
                <a:solidFill>
                  <a:srgbClr val="C2410C"/>
                </a:solidFill>
                <a:latin typeface="Courier New" pitchFamily="34" charset="0"/>
                <a:ea typeface="Courier New" pitchFamily="34" charset="-122"/>
                <a:cs typeface="Courier New" pitchFamily="34" charset="-120"/>
              </a:rPr>
              <a:t>400 ops/s</a:t>
            </a:r>
            <a:endParaRPr lang="en-US" sz="1200" dirty="0"/>
          </a:p>
        </p:txBody>
      </p:sp>
      <p:sp>
        <p:nvSpPr>
          <p:cNvPr id="25" name="Text 23"/>
          <p:cNvSpPr/>
          <p:nvPr/>
        </p:nvSpPr>
        <p:spPr>
          <a:xfrm>
            <a:off x="594360" y="5623560"/>
            <a:ext cx="3108960" cy="274320"/>
          </a:xfrm>
          <a:prstGeom prst="rect">
            <a:avLst/>
          </a:prstGeom>
          <a:noFill/>
          <a:ln/>
        </p:spPr>
        <p:txBody>
          <a:bodyPr wrap="square" lIns="0" tIns="0" rIns="0" bIns="0" rtlCol="0" anchor="ctr"/>
          <a:lstStyle/>
          <a:p>
            <a:pPr indent="0" marL="0">
              <a:buNone/>
            </a:pPr>
            <a:r>
              <a:rPr lang="en-US" sz="1250" dirty="0">
                <a:solidFill>
                  <a:srgbClr val="3F3F4D"/>
                </a:solidFill>
                <a:latin typeface="Arial" pitchFamily="34" charset="0"/>
                <a:ea typeface="Arial" pitchFamily="34" charset="-122"/>
                <a:cs typeface="Arial" pitchFamily="34" charset="-120"/>
              </a:rPr>
              <a:t>Database ceiling, now</a:t>
            </a:r>
            <a:endParaRPr lang="en-US" sz="1250" dirty="0"/>
          </a:p>
        </p:txBody>
      </p:sp>
      <p:sp>
        <p:nvSpPr>
          <p:cNvPr id="26" name="Shape 24"/>
          <p:cNvSpPr/>
          <p:nvPr/>
        </p:nvSpPr>
        <p:spPr>
          <a:xfrm>
            <a:off x="3794760" y="5687568"/>
            <a:ext cx="6035040" cy="155448"/>
          </a:xfrm>
          <a:prstGeom prst="rect">
            <a:avLst/>
          </a:prstGeom>
          <a:solidFill>
            <a:srgbClr val="F6F6FA"/>
          </a:solidFill>
          <a:ln w="6350">
            <a:solidFill>
              <a:srgbClr val="C9C7C2"/>
            </a:solidFill>
            <a:prstDash val="solid"/>
          </a:ln>
        </p:spPr>
      </p:sp>
      <p:sp>
        <p:nvSpPr>
          <p:cNvPr id="27" name="Shape 25"/>
          <p:cNvSpPr/>
          <p:nvPr/>
        </p:nvSpPr>
        <p:spPr>
          <a:xfrm>
            <a:off x="3794760" y="5687568"/>
            <a:ext cx="603504" cy="155448"/>
          </a:xfrm>
          <a:prstGeom prst="rect">
            <a:avLst/>
          </a:prstGeom>
          <a:solidFill>
            <a:srgbClr val="C2410C"/>
          </a:solidFill>
          <a:ln w="6350">
            <a:solidFill>
              <a:srgbClr val="C2410C"/>
            </a:solidFill>
            <a:prstDash val="solid"/>
          </a:ln>
        </p:spPr>
      </p:sp>
      <p:sp>
        <p:nvSpPr>
          <p:cNvPr id="28" name="Text 26"/>
          <p:cNvSpPr/>
          <p:nvPr/>
        </p:nvSpPr>
        <p:spPr>
          <a:xfrm>
            <a:off x="10012680" y="5623560"/>
            <a:ext cx="1554480" cy="274320"/>
          </a:xfrm>
          <a:prstGeom prst="rect">
            <a:avLst/>
          </a:prstGeom>
          <a:noFill/>
          <a:ln/>
        </p:spPr>
        <p:txBody>
          <a:bodyPr wrap="square" lIns="0" tIns="0" rIns="0" bIns="0" rtlCol="0" anchor="ctr"/>
          <a:lstStyle/>
          <a:p>
            <a:pPr indent="0" marL="0">
              <a:buNone/>
            </a:pPr>
            <a:r>
              <a:rPr lang="en-US" sz="1200" b="1" dirty="0">
                <a:solidFill>
                  <a:srgbClr val="C2410C"/>
                </a:solidFill>
                <a:latin typeface="Courier New" pitchFamily="34" charset="0"/>
                <a:ea typeface="Courier New" pitchFamily="34" charset="-122"/>
                <a:cs typeface="Courier New" pitchFamily="34" charset="-120"/>
              </a:rPr>
              <a:t>400 ops/s</a:t>
            </a:r>
            <a:endParaRPr lang="en-US" sz="1200" dirty="0"/>
          </a:p>
        </p:txBody>
      </p:sp>
      <p:sp>
        <p:nvSpPr>
          <p:cNvPr id="29" name="Text 27"/>
          <p:cNvSpPr/>
          <p:nvPr/>
        </p:nvSpPr>
        <p:spPr>
          <a:xfrm>
            <a:off x="594360" y="6172200"/>
            <a:ext cx="10972800" cy="365760"/>
          </a:xfrm>
          <a:prstGeom prst="rect">
            <a:avLst/>
          </a:prstGeom>
          <a:noFill/>
          <a:ln/>
        </p:spPr>
        <p:txBody>
          <a:bodyPr wrap="square" lIns="0" tIns="0" rIns="0" bIns="0" rtlCol="0" anchor="ctr"/>
          <a:lstStyle/>
          <a:p>
            <a:pPr indent="0" marL="0">
              <a:buNone/>
            </a:pPr>
            <a:r>
              <a:rPr lang="en-US" sz="1350" i="1" dirty="0">
                <a:solidFill>
                  <a:srgbClr val="C2410C"/>
                </a:solidFill>
                <a:latin typeface="Arial" pitchFamily="34" charset="0"/>
                <a:ea typeface="Arial" pitchFamily="34" charset="-122"/>
                <a:cs typeface="Arial" pitchFamily="34" charset="-120"/>
              </a:rPr>
              <a:t>The migration multiplied the web tier by six. The database ceiling did not move one request.</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PART THAT MONEY DOES NOT FIX</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Two workloads wearing one coat</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The enlistment system does two very different jobs on enlistment morning. Only one of them can be scaled the easy way.</a:t>
            </a:r>
            <a:endParaRPr lang="en-US" sz="1400" dirty="0"/>
          </a:p>
        </p:txBody>
      </p:sp>
      <p:sp>
        <p:nvSpPr>
          <p:cNvPr id="5" name="Shape 3"/>
          <p:cNvSpPr/>
          <p:nvPr/>
        </p:nvSpPr>
        <p:spPr>
          <a:xfrm>
            <a:off x="594360" y="2331720"/>
            <a:ext cx="5394960" cy="2148840"/>
          </a:xfrm>
          <a:prstGeom prst="roundRect">
            <a:avLst>
              <a:gd name="adj" fmla="val 2553"/>
            </a:avLst>
          </a:prstGeom>
          <a:solidFill>
            <a:srgbClr val="F6F6FA"/>
          </a:solidFill>
          <a:ln w="9525">
            <a:solidFill>
              <a:srgbClr val="C9C7C2"/>
            </a:solidFill>
            <a:prstDash val="solid"/>
          </a:ln>
        </p:spPr>
      </p:sp>
      <p:sp>
        <p:nvSpPr>
          <p:cNvPr id="6" name="Text 4"/>
          <p:cNvSpPr/>
          <p:nvPr/>
        </p:nvSpPr>
        <p:spPr>
          <a:xfrm>
            <a:off x="914400" y="2542032"/>
            <a:ext cx="4754880" cy="329184"/>
          </a:xfrm>
          <a:prstGeom prst="rect">
            <a:avLst/>
          </a:prstGeom>
          <a:noFill/>
          <a:ln/>
        </p:spPr>
        <p:txBody>
          <a:bodyPr wrap="square" lIns="0" tIns="0" rIns="0" bIns="0" rtlCol="0" anchor="ctr"/>
          <a:lstStyle/>
          <a:p>
            <a:pPr indent="0" marL="0">
              <a:buNone/>
            </a:pPr>
            <a:r>
              <a:rPr lang="en-US" sz="1700" b="1" dirty="0">
                <a:solidFill>
                  <a:srgbClr val="10069F"/>
                </a:solidFill>
                <a:latin typeface="Arial" pitchFamily="34" charset="0"/>
                <a:ea typeface="Arial" pitchFamily="34" charset="-122"/>
                <a:cs typeface="Arial" pitchFamily="34" charset="-120"/>
              </a:rPr>
              <a:t>Browsing the catalog</a:t>
            </a:r>
            <a:endParaRPr lang="en-US" sz="1700" dirty="0"/>
          </a:p>
        </p:txBody>
      </p:sp>
      <p:sp>
        <p:nvSpPr>
          <p:cNvPr id="7" name="Text 5"/>
          <p:cNvSpPr/>
          <p:nvPr/>
        </p:nvSpPr>
        <p:spPr>
          <a:xfrm>
            <a:off x="914400" y="2944368"/>
            <a:ext cx="4754880" cy="64008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Reading schedules, checking slots, searching subjects. Everyone wants the same few pages.</a:t>
            </a:r>
            <a:endParaRPr lang="en-US" sz="1200" dirty="0"/>
          </a:p>
        </p:txBody>
      </p:sp>
      <p:sp>
        <p:nvSpPr>
          <p:cNvPr id="8" name="Text 6"/>
          <p:cNvSpPr/>
          <p:nvPr/>
        </p:nvSpPr>
        <p:spPr>
          <a:xfrm>
            <a:off x="914400" y="3703320"/>
            <a:ext cx="4754880" cy="310896"/>
          </a:xfrm>
          <a:prstGeom prst="rect">
            <a:avLst/>
          </a:prstGeom>
          <a:noFill/>
          <a:ln/>
        </p:spPr>
        <p:txBody>
          <a:bodyPr wrap="square" lIns="0" tIns="0" rIns="0" bIns="0" rtlCol="0" anchor="ctr"/>
          <a:lstStyle/>
          <a:p>
            <a:pPr indent="0" marL="0">
              <a:buNone/>
            </a:pPr>
            <a:r>
              <a:rPr lang="en-US" sz="1100" dirty="0">
                <a:solidFill>
                  <a:srgbClr val="10069F"/>
                </a:solidFill>
                <a:latin typeface="Courier New" pitchFamily="34" charset="0"/>
                <a:ea typeface="Courier New" pitchFamily="34" charset="-122"/>
                <a:cs typeface="Courier New" pitchFamily="34" charset="-120"/>
              </a:rPr>
              <a:t>read-heavy      cacheable      replicates fine</a:t>
            </a:r>
            <a:endParaRPr lang="en-US" sz="1100" dirty="0"/>
          </a:p>
        </p:txBody>
      </p:sp>
      <p:sp>
        <p:nvSpPr>
          <p:cNvPr id="9" name="Text 7"/>
          <p:cNvSpPr/>
          <p:nvPr/>
        </p:nvSpPr>
        <p:spPr>
          <a:xfrm>
            <a:off x="914400" y="4041648"/>
            <a:ext cx="4754880" cy="310896"/>
          </a:xfrm>
          <a:prstGeom prst="rect">
            <a:avLst/>
          </a:prstGeom>
          <a:noFill/>
          <a:ln/>
        </p:spPr>
        <p:txBody>
          <a:bodyPr wrap="square" lIns="0" tIns="0" rIns="0" bIns="0" rtlCol="0" anchor="ctr"/>
          <a:lstStyle/>
          <a:p>
            <a:pPr indent="0" marL="0">
              <a:buNone/>
            </a:pPr>
            <a:r>
              <a:rPr lang="en-US" sz="1150" i="1" dirty="0">
                <a:solidFill>
                  <a:srgbClr val="63616F"/>
                </a:solidFill>
                <a:latin typeface="Arial" pitchFamily="34" charset="0"/>
                <a:ea typeface="Arial" pitchFamily="34" charset="-122"/>
                <a:cs typeface="Arial" pitchFamily="34" charset="-120"/>
              </a:rPr>
              <a:t>Throw money at this and it goes away.</a:t>
            </a:r>
            <a:endParaRPr lang="en-US" sz="1150" dirty="0"/>
          </a:p>
        </p:txBody>
      </p:sp>
      <p:sp>
        <p:nvSpPr>
          <p:cNvPr id="10" name="Shape 8"/>
          <p:cNvSpPr/>
          <p:nvPr/>
        </p:nvSpPr>
        <p:spPr>
          <a:xfrm>
            <a:off x="6217920" y="2331720"/>
            <a:ext cx="5349240" cy="2148840"/>
          </a:xfrm>
          <a:prstGeom prst="roundRect">
            <a:avLst>
              <a:gd name="adj" fmla="val 2553"/>
            </a:avLst>
          </a:prstGeom>
          <a:solidFill>
            <a:srgbClr val="F6F6FA"/>
          </a:solidFill>
          <a:ln w="9525">
            <a:solidFill>
              <a:srgbClr val="C9C7C2"/>
            </a:solidFill>
            <a:prstDash val="solid"/>
          </a:ln>
        </p:spPr>
      </p:sp>
      <p:sp>
        <p:nvSpPr>
          <p:cNvPr id="11" name="Text 9"/>
          <p:cNvSpPr/>
          <p:nvPr/>
        </p:nvSpPr>
        <p:spPr>
          <a:xfrm>
            <a:off x="6537960" y="2542032"/>
            <a:ext cx="4754880" cy="329184"/>
          </a:xfrm>
          <a:prstGeom prst="rect">
            <a:avLst/>
          </a:prstGeom>
          <a:noFill/>
          <a:ln/>
        </p:spPr>
        <p:txBody>
          <a:bodyPr wrap="square" lIns="0" tIns="0" rIns="0" bIns="0" rtlCol="0" anchor="ctr"/>
          <a:lstStyle/>
          <a:p>
            <a:pPr indent="0" marL="0">
              <a:buNone/>
            </a:pPr>
            <a:r>
              <a:rPr lang="en-US" sz="1700" b="1" dirty="0">
                <a:solidFill>
                  <a:srgbClr val="B3121B"/>
                </a:solidFill>
                <a:latin typeface="Arial" pitchFamily="34" charset="0"/>
                <a:ea typeface="Arial" pitchFamily="34" charset="-122"/>
                <a:cs typeface="Arial" pitchFamily="34" charset="-120"/>
              </a:rPr>
              <a:t>Reserving a seat</a:t>
            </a:r>
            <a:endParaRPr lang="en-US" sz="1700" dirty="0"/>
          </a:p>
        </p:txBody>
      </p:sp>
      <p:sp>
        <p:nvSpPr>
          <p:cNvPr id="12" name="Text 10"/>
          <p:cNvSpPr/>
          <p:nvPr/>
        </p:nvSpPr>
        <p:spPr>
          <a:xfrm>
            <a:off x="6537960" y="2944368"/>
            <a:ext cx="4754880" cy="64008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Taking one of 40 slots in a popular section. Two students must never get the same last seat.</a:t>
            </a:r>
            <a:endParaRPr lang="en-US" sz="1200" dirty="0"/>
          </a:p>
        </p:txBody>
      </p:sp>
      <p:sp>
        <p:nvSpPr>
          <p:cNvPr id="13" name="Text 11"/>
          <p:cNvSpPr/>
          <p:nvPr/>
        </p:nvSpPr>
        <p:spPr>
          <a:xfrm>
            <a:off x="6537960" y="3703320"/>
            <a:ext cx="4754880" cy="310896"/>
          </a:xfrm>
          <a:prstGeom prst="rect">
            <a:avLst/>
          </a:prstGeom>
          <a:noFill/>
          <a:ln/>
        </p:spPr>
        <p:txBody>
          <a:bodyPr wrap="square" lIns="0" tIns="0" rIns="0" bIns="0" rtlCol="0" anchor="ctr"/>
          <a:lstStyle/>
          <a:p>
            <a:pPr indent="0" marL="0">
              <a:buNone/>
            </a:pPr>
            <a:r>
              <a:rPr lang="en-US" sz="1100" dirty="0">
                <a:solidFill>
                  <a:srgbClr val="B3121B"/>
                </a:solidFill>
                <a:latin typeface="Courier New" pitchFamily="34" charset="0"/>
                <a:ea typeface="Courier New" pitchFamily="34" charset="-122"/>
                <a:cs typeface="Courier New" pitchFamily="34" charset="-120"/>
              </a:rPr>
              <a:t>write      not cacheable      serialises on the row</a:t>
            </a:r>
            <a:endParaRPr lang="en-US" sz="1100" dirty="0"/>
          </a:p>
        </p:txBody>
      </p:sp>
      <p:sp>
        <p:nvSpPr>
          <p:cNvPr id="14" name="Text 12"/>
          <p:cNvSpPr/>
          <p:nvPr/>
        </p:nvSpPr>
        <p:spPr>
          <a:xfrm>
            <a:off x="6537960" y="4041648"/>
            <a:ext cx="4754880" cy="310896"/>
          </a:xfrm>
          <a:prstGeom prst="rect">
            <a:avLst/>
          </a:prstGeom>
          <a:noFill/>
          <a:ln/>
        </p:spPr>
        <p:txBody>
          <a:bodyPr wrap="square" lIns="0" tIns="0" rIns="0" bIns="0" rtlCol="0" anchor="ctr"/>
          <a:lstStyle/>
          <a:p>
            <a:pPr indent="0" marL="0">
              <a:buNone/>
            </a:pPr>
            <a:r>
              <a:rPr lang="en-US" sz="1150" i="1" dirty="0">
                <a:solidFill>
                  <a:srgbClr val="63616F"/>
                </a:solidFill>
                <a:latin typeface="Arial" pitchFamily="34" charset="0"/>
                <a:ea typeface="Arial" pitchFamily="34" charset="-122"/>
                <a:cs typeface="Arial" pitchFamily="34" charset="-120"/>
              </a:rPr>
              <a:t>No amount of servers makes this parallel.</a:t>
            </a:r>
            <a:endParaRPr lang="en-US" sz="1150" dirty="0"/>
          </a:p>
        </p:txBody>
      </p:sp>
      <p:sp>
        <p:nvSpPr>
          <p:cNvPr id="15" name="Shape 13"/>
          <p:cNvSpPr/>
          <p:nvPr/>
        </p:nvSpPr>
        <p:spPr>
          <a:xfrm>
            <a:off x="594360" y="4709160"/>
            <a:ext cx="3474720" cy="1371600"/>
          </a:xfrm>
          <a:prstGeom prst="roundRect">
            <a:avLst>
              <a:gd name="adj" fmla="val 4000"/>
            </a:avLst>
          </a:prstGeom>
          <a:solidFill>
            <a:srgbClr val="EFEFF5"/>
          </a:solidFill>
          <a:ln w="9525">
            <a:solidFill>
              <a:srgbClr val="C9C7C2"/>
            </a:solidFill>
            <a:prstDash val="solid"/>
          </a:ln>
        </p:spPr>
      </p:sp>
      <p:sp>
        <p:nvSpPr>
          <p:cNvPr id="16" name="Shape 14"/>
          <p:cNvSpPr/>
          <p:nvPr/>
        </p:nvSpPr>
        <p:spPr>
          <a:xfrm>
            <a:off x="850392" y="4919472"/>
            <a:ext cx="164592" cy="164592"/>
          </a:xfrm>
          <a:prstGeom prst="ellipse">
            <a:avLst/>
          </a:prstGeom>
          <a:solidFill>
            <a:srgbClr val="10069F"/>
          </a:solidFill>
          <a:ln w="12700">
            <a:solidFill>
              <a:srgbClr val="10069F"/>
            </a:solidFill>
            <a:prstDash val="solid"/>
          </a:ln>
        </p:spPr>
      </p:sp>
      <p:sp>
        <p:nvSpPr>
          <p:cNvPr id="17" name="Text 15"/>
          <p:cNvSpPr/>
          <p:nvPr/>
        </p:nvSpPr>
        <p:spPr>
          <a:xfrm>
            <a:off x="1124712" y="4864608"/>
            <a:ext cx="2697480" cy="292608"/>
          </a:xfrm>
          <a:prstGeom prst="rect">
            <a:avLst/>
          </a:prstGeom>
          <a:noFill/>
          <a:ln/>
        </p:spPr>
        <p:txBody>
          <a:bodyPr wrap="square" lIns="0" tIns="0" rIns="0" bIns="0" rtlCol="0" anchor="ctr"/>
          <a:lstStyle/>
          <a:p>
            <a:pPr indent="0" marL="0">
              <a:buNone/>
            </a:pPr>
            <a:r>
              <a:rPr lang="en-US" sz="1300" b="1" dirty="0">
                <a:solidFill>
                  <a:srgbClr val="0A0A14"/>
                </a:solidFill>
                <a:latin typeface="Arial" pitchFamily="34" charset="0"/>
                <a:ea typeface="Arial" pitchFamily="34" charset="-122"/>
                <a:cs typeface="Arial" pitchFamily="34" charset="-120"/>
              </a:rPr>
              <a:t>Stagger by year level</a:t>
            </a:r>
            <a:endParaRPr lang="en-US" sz="1300" dirty="0"/>
          </a:p>
        </p:txBody>
      </p:sp>
      <p:sp>
        <p:nvSpPr>
          <p:cNvPr id="18" name="Text 16"/>
          <p:cNvSpPr/>
          <p:nvPr/>
        </p:nvSpPr>
        <p:spPr>
          <a:xfrm>
            <a:off x="850392" y="5248656"/>
            <a:ext cx="2962656" cy="73152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Flattens the 8:00:00 spike. Costs no hardware at all.</a:t>
            </a:r>
            <a:endParaRPr lang="en-US" sz="1150" dirty="0"/>
          </a:p>
        </p:txBody>
      </p:sp>
      <p:sp>
        <p:nvSpPr>
          <p:cNvPr id="19" name="Shape 17"/>
          <p:cNvSpPr/>
          <p:nvPr/>
        </p:nvSpPr>
        <p:spPr>
          <a:xfrm>
            <a:off x="4343400" y="4709160"/>
            <a:ext cx="3474720" cy="1371600"/>
          </a:xfrm>
          <a:prstGeom prst="roundRect">
            <a:avLst>
              <a:gd name="adj" fmla="val 4000"/>
            </a:avLst>
          </a:prstGeom>
          <a:solidFill>
            <a:srgbClr val="EFEFF5"/>
          </a:solidFill>
          <a:ln w="9525">
            <a:solidFill>
              <a:srgbClr val="C9C7C2"/>
            </a:solidFill>
            <a:prstDash val="solid"/>
          </a:ln>
        </p:spPr>
      </p:sp>
      <p:sp>
        <p:nvSpPr>
          <p:cNvPr id="20" name="Shape 18"/>
          <p:cNvSpPr/>
          <p:nvPr/>
        </p:nvSpPr>
        <p:spPr>
          <a:xfrm>
            <a:off x="4599432" y="4919472"/>
            <a:ext cx="164592" cy="164592"/>
          </a:xfrm>
          <a:prstGeom prst="ellipse">
            <a:avLst/>
          </a:prstGeom>
          <a:solidFill>
            <a:srgbClr val="10069F"/>
          </a:solidFill>
          <a:ln w="12700">
            <a:solidFill>
              <a:srgbClr val="10069F"/>
            </a:solidFill>
            <a:prstDash val="solid"/>
          </a:ln>
        </p:spPr>
      </p:sp>
      <p:sp>
        <p:nvSpPr>
          <p:cNvPr id="21" name="Text 19"/>
          <p:cNvSpPr/>
          <p:nvPr/>
        </p:nvSpPr>
        <p:spPr>
          <a:xfrm>
            <a:off x="4873752" y="4864608"/>
            <a:ext cx="2697480" cy="292608"/>
          </a:xfrm>
          <a:prstGeom prst="rect">
            <a:avLst/>
          </a:prstGeom>
          <a:noFill/>
          <a:ln/>
        </p:spPr>
        <p:txBody>
          <a:bodyPr wrap="square" lIns="0" tIns="0" rIns="0" bIns="0" rtlCol="0" anchor="ctr"/>
          <a:lstStyle/>
          <a:p>
            <a:pPr indent="0" marL="0">
              <a:buNone/>
            </a:pPr>
            <a:r>
              <a:rPr lang="en-US" sz="1300" b="1" dirty="0">
                <a:solidFill>
                  <a:srgbClr val="0A0A14"/>
                </a:solidFill>
                <a:latin typeface="Arial" pitchFamily="34" charset="0"/>
                <a:ea typeface="Arial" pitchFamily="34" charset="-122"/>
                <a:cs typeface="Arial" pitchFamily="34" charset="-120"/>
              </a:rPr>
              <a:t>Split reads from writes</a:t>
            </a:r>
            <a:endParaRPr lang="en-US" sz="1300" dirty="0"/>
          </a:p>
        </p:txBody>
      </p:sp>
      <p:sp>
        <p:nvSpPr>
          <p:cNvPr id="22" name="Text 20"/>
          <p:cNvSpPr/>
          <p:nvPr/>
        </p:nvSpPr>
        <p:spPr>
          <a:xfrm>
            <a:off x="4599432" y="5248656"/>
            <a:ext cx="2962656" cy="73152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Catalog goes to replicas and cache. The primary does only what needs a lock.</a:t>
            </a:r>
            <a:endParaRPr lang="en-US" sz="1150" dirty="0"/>
          </a:p>
        </p:txBody>
      </p:sp>
      <p:sp>
        <p:nvSpPr>
          <p:cNvPr id="23" name="Shape 21"/>
          <p:cNvSpPr/>
          <p:nvPr/>
        </p:nvSpPr>
        <p:spPr>
          <a:xfrm>
            <a:off x="8092440" y="4709160"/>
            <a:ext cx="3474720" cy="1371600"/>
          </a:xfrm>
          <a:prstGeom prst="roundRect">
            <a:avLst>
              <a:gd name="adj" fmla="val 4000"/>
            </a:avLst>
          </a:prstGeom>
          <a:solidFill>
            <a:srgbClr val="EFEFF5"/>
          </a:solidFill>
          <a:ln w="9525">
            <a:solidFill>
              <a:srgbClr val="C9C7C2"/>
            </a:solidFill>
            <a:prstDash val="solid"/>
          </a:ln>
        </p:spPr>
      </p:sp>
      <p:sp>
        <p:nvSpPr>
          <p:cNvPr id="24" name="Shape 22"/>
          <p:cNvSpPr/>
          <p:nvPr/>
        </p:nvSpPr>
        <p:spPr>
          <a:xfrm>
            <a:off x="8348472" y="4919472"/>
            <a:ext cx="164592" cy="164592"/>
          </a:xfrm>
          <a:prstGeom prst="ellipse">
            <a:avLst/>
          </a:prstGeom>
          <a:solidFill>
            <a:srgbClr val="10069F"/>
          </a:solidFill>
          <a:ln w="12700">
            <a:solidFill>
              <a:srgbClr val="10069F"/>
            </a:solidFill>
            <a:prstDash val="solid"/>
          </a:ln>
        </p:spPr>
      </p:sp>
      <p:sp>
        <p:nvSpPr>
          <p:cNvPr id="25" name="Text 23"/>
          <p:cNvSpPr/>
          <p:nvPr/>
        </p:nvSpPr>
        <p:spPr>
          <a:xfrm>
            <a:off x="8622792" y="4864608"/>
            <a:ext cx="2697480" cy="292608"/>
          </a:xfrm>
          <a:prstGeom prst="rect">
            <a:avLst/>
          </a:prstGeom>
          <a:noFill/>
          <a:ln/>
        </p:spPr>
        <p:txBody>
          <a:bodyPr wrap="square" lIns="0" tIns="0" rIns="0" bIns="0" rtlCol="0" anchor="ctr"/>
          <a:lstStyle/>
          <a:p>
            <a:pPr indent="0" marL="0">
              <a:buNone/>
            </a:pPr>
            <a:r>
              <a:rPr lang="en-US" sz="1300" b="1" dirty="0">
                <a:solidFill>
                  <a:srgbClr val="0A0A14"/>
                </a:solidFill>
                <a:latin typeface="Arial" pitchFamily="34" charset="0"/>
                <a:ea typeface="Arial" pitchFamily="34" charset="-122"/>
                <a:cs typeface="Arial" pitchFamily="34" charset="-120"/>
              </a:rPr>
              <a:t>Waitlist instead of race</a:t>
            </a:r>
            <a:endParaRPr lang="en-US" sz="1300" dirty="0"/>
          </a:p>
        </p:txBody>
      </p:sp>
      <p:sp>
        <p:nvSpPr>
          <p:cNvPr id="26" name="Text 24"/>
          <p:cNvSpPr/>
          <p:nvPr/>
        </p:nvSpPr>
        <p:spPr>
          <a:xfrm>
            <a:off x="8348472" y="5248656"/>
            <a:ext cx="2962656" cy="731520"/>
          </a:xfrm>
          <a:prstGeom prst="rect">
            <a:avLst/>
          </a:prstGeom>
          <a:noFill/>
          <a:ln/>
        </p:spPr>
        <p:txBody>
          <a:bodyPr wrap="square" lIns="0" tIns="0" rIns="0" bIns="0" rtlCol="0" anchor="ctr"/>
          <a:lstStyle/>
          <a:p>
            <a:pPr indent="0" marL="0">
              <a:lnSpc>
                <a:spcPts val="1500"/>
              </a:lnSpc>
              <a:buNone/>
            </a:pPr>
            <a:r>
              <a:rPr lang="en-US" sz="1150" dirty="0">
                <a:solidFill>
                  <a:srgbClr val="3F3F4D"/>
                </a:solidFill>
                <a:latin typeface="Arial" pitchFamily="34" charset="0"/>
                <a:ea typeface="Arial" pitchFamily="34" charset="-122"/>
                <a:cs typeface="Arial" pitchFamily="34" charset="-120"/>
              </a:rPr>
              <a:t>Turns a contended write into a queued job. Nobody refreshes at 8:00:01.</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WHAT YOU ACTUALLY PRACTISED TODAY</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Every layer was a promise not to think about something</a:t>
            </a:r>
            <a:endParaRPr lang="en-US" sz="3200" dirty="0"/>
          </a:p>
        </p:txBody>
      </p:sp>
      <p:sp>
        <p:nvSpPr>
          <p:cNvPr id="4" name="Text 2"/>
          <p:cNvSpPr/>
          <p:nvPr/>
        </p:nvSpPr>
        <p:spPr>
          <a:xfrm>
            <a:off x="594360" y="1627632"/>
            <a:ext cx="10972800" cy="457200"/>
          </a:xfrm>
          <a:prstGeom prst="rect">
            <a:avLst/>
          </a:prstGeom>
          <a:noFill/>
          <a:ln/>
        </p:spPr>
        <p:txBody>
          <a:bodyPr wrap="square" lIns="0" tIns="0" rIns="0" bIns="0" rtlCol="0" anchor="ctr"/>
          <a:lstStyle/>
          <a:p>
            <a:pPr indent="0" marL="0">
              <a:lnSpc>
                <a:spcPts val="2000"/>
              </a:lnSpc>
              <a:buNone/>
            </a:pPr>
            <a:r>
              <a:rPr lang="en-US" sz="1400" dirty="0">
                <a:solidFill>
                  <a:srgbClr val="3F3F4D"/>
                </a:solidFill>
                <a:latin typeface="Arial" pitchFamily="34" charset="0"/>
                <a:ea typeface="Arial" pitchFamily="34" charset="-122"/>
                <a:cs typeface="Arial" pitchFamily="34" charset="-120"/>
              </a:rPr>
              <a:t>That promise is what makes software possible. Knowing where each one stops being true is what makes you useful.</a:t>
            </a:r>
            <a:endParaRPr lang="en-US" sz="1400" dirty="0"/>
          </a:p>
        </p:txBody>
      </p:sp>
      <p:sp>
        <p:nvSpPr>
          <p:cNvPr id="5" name="Text 3"/>
          <p:cNvSpPr/>
          <p:nvPr/>
        </p:nvSpPr>
        <p:spPr>
          <a:xfrm>
            <a:off x="731520" y="2377440"/>
            <a:ext cx="310896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THE LAYER</a:t>
            </a:r>
            <a:endParaRPr lang="en-US" sz="950" dirty="0"/>
          </a:p>
        </p:txBody>
      </p:sp>
      <p:sp>
        <p:nvSpPr>
          <p:cNvPr id="6" name="Text 4"/>
          <p:cNvSpPr/>
          <p:nvPr/>
        </p:nvSpPr>
        <p:spPr>
          <a:xfrm>
            <a:off x="3794760" y="2377440"/>
            <a:ext cx="310896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LETS YOU NOT THINK ABOUT</a:t>
            </a:r>
            <a:endParaRPr lang="en-US" sz="950" dirty="0"/>
          </a:p>
        </p:txBody>
      </p:sp>
      <p:sp>
        <p:nvSpPr>
          <p:cNvPr id="7" name="Text 5"/>
          <p:cNvSpPr/>
          <p:nvPr/>
        </p:nvSpPr>
        <p:spPr>
          <a:xfrm>
            <a:off x="7360920" y="2377440"/>
            <a:ext cx="3108960" cy="237744"/>
          </a:xfrm>
          <a:prstGeom prst="rect">
            <a:avLst/>
          </a:prstGeom>
          <a:noFill/>
          <a:ln/>
        </p:spPr>
        <p:txBody>
          <a:bodyPr wrap="square" lIns="0" tIns="0" rIns="0" bIns="0" rtlCol="0" anchor="ctr"/>
          <a:lstStyle/>
          <a:p>
            <a:pPr indent="0" marL="0">
              <a:buNone/>
            </a:pPr>
            <a:r>
              <a:rPr lang="en-US" sz="950" b="1" spc="160" kern="0" dirty="0">
                <a:solidFill>
                  <a:srgbClr val="63616F"/>
                </a:solidFill>
                <a:latin typeface="Courier New" pitchFamily="34" charset="0"/>
                <a:ea typeface="Courier New" pitchFamily="34" charset="-122"/>
                <a:cs typeface="Courier New" pitchFamily="34" charset="-120"/>
              </a:rPr>
              <a:t>WHERE IT LEAKED TODAY</a:t>
            </a:r>
            <a:endParaRPr lang="en-US" sz="950" dirty="0"/>
          </a:p>
        </p:txBody>
      </p:sp>
      <p:sp>
        <p:nvSpPr>
          <p:cNvPr id="8" name="Shape 6"/>
          <p:cNvSpPr/>
          <p:nvPr/>
        </p:nvSpPr>
        <p:spPr>
          <a:xfrm>
            <a:off x="594360" y="2651760"/>
            <a:ext cx="10972800" cy="18288"/>
          </a:xfrm>
          <a:prstGeom prst="rect">
            <a:avLst/>
          </a:prstGeom>
          <a:solidFill>
            <a:srgbClr val="C9C7C2"/>
          </a:solidFill>
          <a:ln w="12700">
            <a:solidFill>
              <a:srgbClr val="C9C7C2"/>
            </a:solidFill>
            <a:prstDash val="solid"/>
          </a:ln>
        </p:spPr>
      </p:sp>
      <p:sp>
        <p:nvSpPr>
          <p:cNvPr id="9" name="Text 7"/>
          <p:cNvSpPr/>
          <p:nvPr/>
        </p:nvSpPr>
        <p:spPr>
          <a:xfrm>
            <a:off x="731520" y="2834640"/>
            <a:ext cx="292608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The ORM</a:t>
            </a:r>
            <a:endParaRPr lang="en-US" sz="1400" dirty="0"/>
          </a:p>
        </p:txBody>
      </p:sp>
      <p:sp>
        <p:nvSpPr>
          <p:cNvPr id="10" name="Text 8"/>
          <p:cNvSpPr/>
          <p:nvPr/>
        </p:nvSpPr>
        <p:spPr>
          <a:xfrm>
            <a:off x="3794760" y="2834640"/>
            <a:ext cx="347472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Writing SQL</a:t>
            </a:r>
            <a:endParaRPr lang="en-US" sz="1300" dirty="0"/>
          </a:p>
        </p:txBody>
      </p:sp>
      <p:sp>
        <p:nvSpPr>
          <p:cNvPr id="11" name="Text 9"/>
          <p:cNvSpPr/>
          <p:nvPr/>
        </p:nvSpPr>
        <p:spPr>
          <a:xfrm>
            <a:off x="7360920" y="2834640"/>
            <a:ext cx="4297680" cy="310896"/>
          </a:xfrm>
          <a:prstGeom prst="rect">
            <a:avLst/>
          </a:prstGeom>
          <a:noFill/>
          <a:ln/>
        </p:spPr>
        <p:txBody>
          <a:bodyPr wrap="square" lIns="0" tIns="0" rIns="0" bIns="0" rtlCol="0" anchor="ctr"/>
          <a:lstStyle/>
          <a:p>
            <a:pPr indent="0" marL="0">
              <a:buNone/>
            </a:pPr>
            <a:r>
              <a:rPr lang="en-US" sz="1300" dirty="0">
                <a:solidFill>
                  <a:srgbClr val="B3121B"/>
                </a:solidFill>
                <a:latin typeface="Arial" pitchFamily="34" charset="0"/>
                <a:ea typeface="Arial" pitchFamily="34" charset="-122"/>
                <a:cs typeface="Arial" pitchFamily="34" charset="-120"/>
              </a:rPr>
              <a:t>51 queries instead of 2. 6 rps.</a:t>
            </a:r>
            <a:endParaRPr lang="en-US" sz="1300" dirty="0"/>
          </a:p>
        </p:txBody>
      </p:sp>
      <p:sp>
        <p:nvSpPr>
          <p:cNvPr id="12" name="Shape 10"/>
          <p:cNvSpPr/>
          <p:nvPr/>
        </p:nvSpPr>
        <p:spPr>
          <a:xfrm>
            <a:off x="594360" y="3273552"/>
            <a:ext cx="10972800" cy="9144"/>
          </a:xfrm>
          <a:prstGeom prst="rect">
            <a:avLst/>
          </a:prstGeom>
          <a:solidFill>
            <a:srgbClr val="24384A"/>
          </a:solidFill>
          <a:ln w="12700">
            <a:solidFill>
              <a:srgbClr val="24384A"/>
            </a:solidFill>
            <a:prstDash val="solid"/>
          </a:ln>
        </p:spPr>
      </p:sp>
      <p:sp>
        <p:nvSpPr>
          <p:cNvPr id="13" name="Text 11"/>
          <p:cNvSpPr/>
          <p:nvPr/>
        </p:nvSpPr>
        <p:spPr>
          <a:xfrm>
            <a:off x="731520" y="3438144"/>
            <a:ext cx="292608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Autoscaling</a:t>
            </a:r>
            <a:endParaRPr lang="en-US" sz="1400" dirty="0"/>
          </a:p>
        </p:txBody>
      </p:sp>
      <p:sp>
        <p:nvSpPr>
          <p:cNvPr id="14" name="Text 12"/>
          <p:cNvSpPr/>
          <p:nvPr/>
        </p:nvSpPr>
        <p:spPr>
          <a:xfrm>
            <a:off x="3794760" y="3438144"/>
            <a:ext cx="347472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Running out of servers</a:t>
            </a:r>
            <a:endParaRPr lang="en-US" sz="1300" dirty="0"/>
          </a:p>
        </p:txBody>
      </p:sp>
      <p:sp>
        <p:nvSpPr>
          <p:cNvPr id="15" name="Text 13"/>
          <p:cNvSpPr/>
          <p:nvPr/>
        </p:nvSpPr>
        <p:spPr>
          <a:xfrm>
            <a:off x="7360920" y="3438144"/>
            <a:ext cx="4297680" cy="310896"/>
          </a:xfrm>
          <a:prstGeom prst="rect">
            <a:avLst/>
          </a:prstGeom>
          <a:noFill/>
          <a:ln/>
        </p:spPr>
        <p:txBody>
          <a:bodyPr wrap="square" lIns="0" tIns="0" rIns="0" bIns="0" rtlCol="0" anchor="ctr"/>
          <a:lstStyle/>
          <a:p>
            <a:pPr indent="0" marL="0">
              <a:buNone/>
            </a:pPr>
            <a:r>
              <a:rPr lang="en-US" sz="1300" dirty="0">
                <a:solidFill>
                  <a:srgbClr val="B3121B"/>
                </a:solidFill>
                <a:latin typeface="Arial" pitchFamily="34" charset="0"/>
                <a:ea typeface="Arial" pitchFamily="34" charset="-122"/>
                <a:cs typeface="Arial" pitchFamily="34" charset="-120"/>
              </a:rPr>
              <a:t>The database ceiling never moved.</a:t>
            </a:r>
            <a:endParaRPr lang="en-US" sz="1300" dirty="0"/>
          </a:p>
        </p:txBody>
      </p:sp>
      <p:sp>
        <p:nvSpPr>
          <p:cNvPr id="16" name="Shape 14"/>
          <p:cNvSpPr/>
          <p:nvPr/>
        </p:nvSpPr>
        <p:spPr>
          <a:xfrm>
            <a:off x="594360" y="3877056"/>
            <a:ext cx="10972800" cy="9144"/>
          </a:xfrm>
          <a:prstGeom prst="rect">
            <a:avLst/>
          </a:prstGeom>
          <a:solidFill>
            <a:srgbClr val="24384A"/>
          </a:solidFill>
          <a:ln w="12700">
            <a:solidFill>
              <a:srgbClr val="24384A"/>
            </a:solidFill>
            <a:prstDash val="solid"/>
          </a:ln>
        </p:spPr>
      </p:sp>
      <p:sp>
        <p:nvSpPr>
          <p:cNvPr id="17" name="Text 15"/>
          <p:cNvSpPr/>
          <p:nvPr/>
        </p:nvSpPr>
        <p:spPr>
          <a:xfrm>
            <a:off x="731520" y="4041648"/>
            <a:ext cx="292608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HTTP</a:t>
            </a:r>
            <a:endParaRPr lang="en-US" sz="1400" dirty="0"/>
          </a:p>
        </p:txBody>
      </p:sp>
      <p:sp>
        <p:nvSpPr>
          <p:cNvPr id="18" name="Text 16"/>
          <p:cNvSpPr/>
          <p:nvPr/>
        </p:nvSpPr>
        <p:spPr>
          <a:xfrm>
            <a:off x="3794760" y="4041648"/>
            <a:ext cx="347472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Packets, routing, retries</a:t>
            </a:r>
            <a:endParaRPr lang="en-US" sz="1300" dirty="0"/>
          </a:p>
        </p:txBody>
      </p:sp>
      <p:sp>
        <p:nvSpPr>
          <p:cNvPr id="19" name="Text 17"/>
          <p:cNvSpPr/>
          <p:nvPr/>
        </p:nvSpPr>
        <p:spPr>
          <a:xfrm>
            <a:off x="7360920" y="4041648"/>
            <a:ext cx="4297680" cy="310896"/>
          </a:xfrm>
          <a:prstGeom prst="rect">
            <a:avLst/>
          </a:prstGeom>
          <a:noFill/>
          <a:ln/>
        </p:spPr>
        <p:txBody>
          <a:bodyPr wrap="square" lIns="0" tIns="0" rIns="0" bIns="0" rtlCol="0" anchor="ctr"/>
          <a:lstStyle/>
          <a:p>
            <a:pPr indent="0" marL="0">
              <a:buNone/>
            </a:pPr>
            <a:r>
              <a:rPr lang="en-US" sz="1300" dirty="0">
                <a:solidFill>
                  <a:srgbClr val="C2410C"/>
                </a:solidFill>
                <a:latin typeface="Arial" pitchFamily="34" charset="0"/>
                <a:ea typeface="Arial" pitchFamily="34" charset="-122"/>
                <a:cs typeface="Arial" pitchFamily="34" charset="-120"/>
              </a:rPr>
              <a:t>Five round trips before your code runs.</a:t>
            </a:r>
            <a:endParaRPr lang="en-US" sz="1300" dirty="0"/>
          </a:p>
        </p:txBody>
      </p:sp>
      <p:sp>
        <p:nvSpPr>
          <p:cNvPr id="20" name="Shape 18"/>
          <p:cNvSpPr/>
          <p:nvPr/>
        </p:nvSpPr>
        <p:spPr>
          <a:xfrm>
            <a:off x="594360" y="4480560"/>
            <a:ext cx="10972800" cy="9144"/>
          </a:xfrm>
          <a:prstGeom prst="rect">
            <a:avLst/>
          </a:prstGeom>
          <a:solidFill>
            <a:srgbClr val="24384A"/>
          </a:solidFill>
          <a:ln w="12700">
            <a:solidFill>
              <a:srgbClr val="24384A"/>
            </a:solidFill>
            <a:prstDash val="solid"/>
          </a:ln>
        </p:spPr>
      </p:sp>
      <p:sp>
        <p:nvSpPr>
          <p:cNvPr id="21" name="Text 19"/>
          <p:cNvSpPr/>
          <p:nvPr/>
        </p:nvSpPr>
        <p:spPr>
          <a:xfrm>
            <a:off x="731520" y="4645152"/>
            <a:ext cx="292608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REST and JSON</a:t>
            </a:r>
            <a:endParaRPr lang="en-US" sz="1400" dirty="0"/>
          </a:p>
        </p:txBody>
      </p:sp>
      <p:sp>
        <p:nvSpPr>
          <p:cNvPr id="22" name="Text 20"/>
          <p:cNvSpPr/>
          <p:nvPr/>
        </p:nvSpPr>
        <p:spPr>
          <a:xfrm>
            <a:off x="3794760" y="4645152"/>
            <a:ext cx="347472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Which client is calling</a:t>
            </a:r>
            <a:endParaRPr lang="en-US" sz="1300" dirty="0"/>
          </a:p>
        </p:txBody>
      </p:sp>
      <p:sp>
        <p:nvSpPr>
          <p:cNvPr id="23" name="Text 21"/>
          <p:cNvSpPr/>
          <p:nvPr/>
        </p:nvSpPr>
        <p:spPr>
          <a:xfrm>
            <a:off x="7360920" y="4645152"/>
            <a:ext cx="4297680" cy="310896"/>
          </a:xfrm>
          <a:prstGeom prst="rect">
            <a:avLst/>
          </a:prstGeom>
          <a:noFill/>
          <a:ln/>
        </p:spPr>
        <p:txBody>
          <a:bodyPr wrap="square" lIns="0" tIns="0" rIns="0" bIns="0" rtlCol="0" anchor="ctr"/>
          <a:lstStyle/>
          <a:p>
            <a:pPr indent="0" marL="0">
              <a:buNone/>
            </a:pPr>
            <a:r>
              <a:rPr lang="en-US" sz="1300" dirty="0">
                <a:solidFill>
                  <a:srgbClr val="C2410C"/>
                </a:solidFill>
                <a:latin typeface="Arial" pitchFamily="34" charset="0"/>
                <a:ea typeface="Arial" pitchFamily="34" charset="-122"/>
                <a:cs typeface="Arial" pitchFamily="34" charset="-120"/>
              </a:rPr>
              <a:t>Old app versions, calling you forever.</a:t>
            </a:r>
            <a:endParaRPr lang="en-US" sz="1300" dirty="0"/>
          </a:p>
        </p:txBody>
      </p:sp>
      <p:sp>
        <p:nvSpPr>
          <p:cNvPr id="24" name="Shape 22"/>
          <p:cNvSpPr/>
          <p:nvPr/>
        </p:nvSpPr>
        <p:spPr>
          <a:xfrm>
            <a:off x="594360" y="5084064"/>
            <a:ext cx="10972800" cy="9144"/>
          </a:xfrm>
          <a:prstGeom prst="rect">
            <a:avLst/>
          </a:prstGeom>
          <a:solidFill>
            <a:srgbClr val="24384A"/>
          </a:solidFill>
          <a:ln w="12700">
            <a:solidFill>
              <a:srgbClr val="24384A"/>
            </a:solidFill>
            <a:prstDash val="solid"/>
          </a:ln>
        </p:spPr>
      </p:sp>
      <p:sp>
        <p:nvSpPr>
          <p:cNvPr id="25" name="Text 23"/>
          <p:cNvSpPr/>
          <p:nvPr/>
        </p:nvSpPr>
        <p:spPr>
          <a:xfrm>
            <a:off x="731520" y="5248656"/>
            <a:ext cx="2926080" cy="310896"/>
          </a:xfrm>
          <a:prstGeom prst="rect">
            <a:avLst/>
          </a:prstGeom>
          <a:noFill/>
          <a:ln/>
        </p:spPr>
        <p:txBody>
          <a:bodyPr wrap="square" lIns="0" tIns="0" rIns="0" bIns="0" rtlCol="0" anchor="ctr"/>
          <a:lstStyle/>
          <a:p>
            <a:pPr indent="0" marL="0">
              <a:buNone/>
            </a:pPr>
            <a:r>
              <a:rPr lang="en-US" sz="1400" b="1" dirty="0">
                <a:solidFill>
                  <a:srgbClr val="0A0A14"/>
                </a:solidFill>
                <a:latin typeface="Arial" pitchFamily="34" charset="0"/>
                <a:ea typeface="Arial" pitchFamily="34" charset="-122"/>
                <a:cs typeface="Arial" pitchFamily="34" charset="-120"/>
              </a:rPr>
              <a:t>The payment gateway</a:t>
            </a:r>
            <a:endParaRPr lang="en-US" sz="1400" dirty="0"/>
          </a:p>
        </p:txBody>
      </p:sp>
      <p:sp>
        <p:nvSpPr>
          <p:cNvPr id="26" name="Text 24"/>
          <p:cNvSpPr/>
          <p:nvPr/>
        </p:nvSpPr>
        <p:spPr>
          <a:xfrm>
            <a:off x="3794760" y="5248656"/>
            <a:ext cx="3474720" cy="310896"/>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Card security</a:t>
            </a:r>
            <a:endParaRPr lang="en-US" sz="1300" dirty="0"/>
          </a:p>
        </p:txBody>
      </p:sp>
      <p:sp>
        <p:nvSpPr>
          <p:cNvPr id="27" name="Text 25"/>
          <p:cNvSpPr/>
          <p:nvPr/>
        </p:nvSpPr>
        <p:spPr>
          <a:xfrm>
            <a:off x="7360920" y="5248656"/>
            <a:ext cx="4297680" cy="310896"/>
          </a:xfrm>
          <a:prstGeom prst="rect">
            <a:avLst/>
          </a:prstGeom>
          <a:noFill/>
          <a:ln/>
        </p:spPr>
        <p:txBody>
          <a:bodyPr wrap="square" lIns="0" tIns="0" rIns="0" bIns="0" rtlCol="0" anchor="ctr"/>
          <a:lstStyle/>
          <a:p>
            <a:pPr indent="0" marL="0">
              <a:buNone/>
            </a:pPr>
            <a:r>
              <a:rPr lang="en-US" sz="1300" dirty="0">
                <a:solidFill>
                  <a:srgbClr val="C2410C"/>
                </a:solidFill>
                <a:latin typeface="Arial" pitchFamily="34" charset="0"/>
                <a:ea typeface="Arial" pitchFamily="34" charset="-122"/>
                <a:cs typeface="Arial" pitchFamily="34" charset="-120"/>
              </a:rPr>
              <a:t>Your handler now waits 800 ms on them.</a:t>
            </a:r>
            <a:endParaRPr lang="en-US" sz="1300" dirty="0"/>
          </a:p>
        </p:txBody>
      </p:sp>
      <p:sp>
        <p:nvSpPr>
          <p:cNvPr id="28" name="Shape 26"/>
          <p:cNvSpPr/>
          <p:nvPr/>
        </p:nvSpPr>
        <p:spPr>
          <a:xfrm>
            <a:off x="594360" y="5687568"/>
            <a:ext cx="10972800" cy="9144"/>
          </a:xfrm>
          <a:prstGeom prst="rect">
            <a:avLst/>
          </a:prstGeom>
          <a:solidFill>
            <a:srgbClr val="24384A"/>
          </a:solidFill>
          <a:ln w="12700">
            <a:solidFill>
              <a:srgbClr val="24384A"/>
            </a:solidFill>
            <a:prstDash val="solid"/>
          </a:ln>
        </p:spPr>
      </p:sp>
      <p:sp>
        <p:nvSpPr>
          <p:cNvPr id="29" name="Text 27"/>
          <p:cNvSpPr/>
          <p:nvPr/>
        </p:nvSpPr>
        <p:spPr>
          <a:xfrm>
            <a:off x="594360" y="6035040"/>
            <a:ext cx="10972800" cy="365760"/>
          </a:xfrm>
          <a:prstGeom prst="rect">
            <a:avLst/>
          </a:prstGeom>
          <a:noFill/>
          <a:ln/>
        </p:spPr>
        <p:txBody>
          <a:bodyPr wrap="square" lIns="0" tIns="0" rIns="0" bIns="0" rtlCol="0" anchor="ctr"/>
          <a:lstStyle/>
          <a:p>
            <a:pPr indent="0" marL="0">
              <a:buNone/>
            </a:pPr>
            <a:r>
              <a:rPr lang="en-US" sz="1350" i="1" dirty="0">
                <a:solidFill>
                  <a:srgbClr val="C2410C"/>
                </a:solidFill>
                <a:latin typeface="Arial" pitchFamily="34" charset="0"/>
                <a:ea typeface="Arial" pitchFamily="34" charset="-122"/>
                <a:cs typeface="Arial" pitchFamily="34" charset="-120"/>
              </a:rPr>
              <a:t>Abstraction is the one idea underneath all of it. Not the definition of it — the habit of knowing when to stop trusting one.</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THE PART THAT IS NOT ABOUT WEB APPS</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Two habits worth taking with you</a:t>
            </a:r>
            <a:endParaRPr lang="en-US" sz="3200" dirty="0"/>
          </a:p>
        </p:txBody>
      </p:sp>
      <p:sp>
        <p:nvSpPr>
          <p:cNvPr id="4" name="Shape 2"/>
          <p:cNvSpPr/>
          <p:nvPr/>
        </p:nvSpPr>
        <p:spPr>
          <a:xfrm>
            <a:off x="594360" y="2011680"/>
            <a:ext cx="5394960" cy="2286000"/>
          </a:xfrm>
          <a:prstGeom prst="roundRect">
            <a:avLst>
              <a:gd name="adj" fmla="val 2400"/>
            </a:avLst>
          </a:prstGeom>
          <a:solidFill>
            <a:srgbClr val="F6F6FA"/>
          </a:solidFill>
          <a:ln w="9525">
            <a:solidFill>
              <a:srgbClr val="C9C7C2"/>
            </a:solidFill>
            <a:prstDash val="solid"/>
          </a:ln>
        </p:spPr>
      </p:sp>
      <p:sp>
        <p:nvSpPr>
          <p:cNvPr id="5" name="Text 3"/>
          <p:cNvSpPr/>
          <p:nvPr/>
        </p:nvSpPr>
        <p:spPr>
          <a:xfrm>
            <a:off x="914400" y="2212848"/>
            <a:ext cx="548640" cy="365760"/>
          </a:xfrm>
          <a:prstGeom prst="rect">
            <a:avLst/>
          </a:prstGeom>
          <a:noFill/>
          <a:ln/>
        </p:spPr>
        <p:txBody>
          <a:bodyPr wrap="square" lIns="0" tIns="0" rIns="0" bIns="0" rtlCol="0" anchor="ctr"/>
          <a:lstStyle/>
          <a:p>
            <a:pPr indent="0" marL="0">
              <a:buNone/>
            </a:pPr>
            <a:r>
              <a:rPr lang="en-US" sz="2000" b="1" dirty="0">
                <a:solidFill>
                  <a:srgbClr val="C2410C"/>
                </a:solidFill>
                <a:latin typeface="Courier New" pitchFamily="34" charset="0"/>
                <a:ea typeface="Courier New" pitchFamily="34" charset="-122"/>
                <a:cs typeface="Courier New" pitchFamily="34" charset="-120"/>
              </a:rPr>
              <a:t>1</a:t>
            </a:r>
            <a:endParaRPr lang="en-US" sz="2000" dirty="0"/>
          </a:p>
        </p:txBody>
      </p:sp>
      <p:sp>
        <p:nvSpPr>
          <p:cNvPr id="6" name="Text 4"/>
          <p:cNvSpPr/>
          <p:nvPr/>
        </p:nvSpPr>
        <p:spPr>
          <a:xfrm>
            <a:off x="914400" y="2633472"/>
            <a:ext cx="4754880" cy="658368"/>
          </a:xfrm>
          <a:prstGeom prst="rect">
            <a:avLst/>
          </a:prstGeom>
          <a:noFill/>
          <a:ln/>
        </p:spPr>
        <p:txBody>
          <a:bodyPr wrap="square" lIns="0" tIns="0" rIns="0" bIns="0" rtlCol="0" anchor="t"/>
          <a:lstStyle/>
          <a:p>
            <a:pPr indent="0" marL="0">
              <a:lnSpc>
                <a:spcPts val="2100"/>
              </a:lnSpc>
              <a:buNone/>
            </a:pPr>
            <a:r>
              <a:rPr lang="en-US" sz="1550" b="1" dirty="0">
                <a:solidFill>
                  <a:srgbClr val="0A0A14"/>
                </a:solidFill>
                <a:latin typeface="Arial" pitchFamily="34" charset="0"/>
                <a:ea typeface="Arial" pitchFamily="34" charset="-122"/>
                <a:cs typeface="Arial" pitchFamily="34" charset="-120"/>
              </a:rPr>
              <a:t>Trust the layer until a number stops making sense</a:t>
            </a:r>
            <a:endParaRPr lang="en-US" sz="1550" dirty="0"/>
          </a:p>
        </p:txBody>
      </p:sp>
      <p:sp>
        <p:nvSpPr>
          <p:cNvPr id="7" name="Text 5"/>
          <p:cNvSpPr/>
          <p:nvPr/>
        </p:nvSpPr>
        <p:spPr>
          <a:xfrm>
            <a:off x="914400" y="3310128"/>
            <a:ext cx="4754880" cy="91440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Nobody reads SQL every day. But when the page took four seconds, the answer was one layer down, and you had to be willing to look. Every debugging story you will ever tell has this shape.</a:t>
            </a:r>
            <a:endParaRPr lang="en-US" sz="1200" dirty="0"/>
          </a:p>
        </p:txBody>
      </p:sp>
      <p:sp>
        <p:nvSpPr>
          <p:cNvPr id="8" name="Shape 6"/>
          <p:cNvSpPr/>
          <p:nvPr/>
        </p:nvSpPr>
        <p:spPr>
          <a:xfrm>
            <a:off x="6217920" y="2011680"/>
            <a:ext cx="5349240" cy="2286000"/>
          </a:xfrm>
          <a:prstGeom prst="roundRect">
            <a:avLst>
              <a:gd name="adj" fmla="val 2400"/>
            </a:avLst>
          </a:prstGeom>
          <a:solidFill>
            <a:srgbClr val="F6F6FA"/>
          </a:solidFill>
          <a:ln w="9525">
            <a:solidFill>
              <a:srgbClr val="C9C7C2"/>
            </a:solidFill>
            <a:prstDash val="solid"/>
          </a:ln>
        </p:spPr>
      </p:sp>
      <p:sp>
        <p:nvSpPr>
          <p:cNvPr id="9" name="Text 7"/>
          <p:cNvSpPr/>
          <p:nvPr/>
        </p:nvSpPr>
        <p:spPr>
          <a:xfrm>
            <a:off x="6537960" y="2212848"/>
            <a:ext cx="548640" cy="365760"/>
          </a:xfrm>
          <a:prstGeom prst="rect">
            <a:avLst/>
          </a:prstGeom>
          <a:noFill/>
          <a:ln/>
        </p:spPr>
        <p:txBody>
          <a:bodyPr wrap="square" lIns="0" tIns="0" rIns="0" bIns="0" rtlCol="0" anchor="ctr"/>
          <a:lstStyle/>
          <a:p>
            <a:pPr indent="0" marL="0">
              <a:buNone/>
            </a:pPr>
            <a:r>
              <a:rPr lang="en-US" sz="2000" b="1" dirty="0">
                <a:solidFill>
                  <a:srgbClr val="10069F"/>
                </a:solidFill>
                <a:latin typeface="Courier New" pitchFamily="34" charset="0"/>
                <a:ea typeface="Courier New" pitchFamily="34" charset="-122"/>
                <a:cs typeface="Courier New" pitchFamily="34" charset="-120"/>
              </a:rPr>
              <a:t>2</a:t>
            </a:r>
            <a:endParaRPr lang="en-US" sz="2000" dirty="0"/>
          </a:p>
        </p:txBody>
      </p:sp>
      <p:sp>
        <p:nvSpPr>
          <p:cNvPr id="10" name="Text 8"/>
          <p:cNvSpPr/>
          <p:nvPr/>
        </p:nvSpPr>
        <p:spPr>
          <a:xfrm>
            <a:off x="6537960" y="2633472"/>
            <a:ext cx="4754880" cy="658368"/>
          </a:xfrm>
          <a:prstGeom prst="rect">
            <a:avLst/>
          </a:prstGeom>
          <a:noFill/>
          <a:ln/>
        </p:spPr>
        <p:txBody>
          <a:bodyPr wrap="square" lIns="0" tIns="0" rIns="0" bIns="0" rtlCol="0" anchor="t"/>
          <a:lstStyle/>
          <a:p>
            <a:pPr indent="0" marL="0">
              <a:lnSpc>
                <a:spcPts val="2100"/>
              </a:lnSpc>
              <a:buNone/>
            </a:pPr>
            <a:r>
              <a:rPr lang="en-US" sz="1550" b="1" dirty="0">
                <a:solidFill>
                  <a:srgbClr val="0A0A14"/>
                </a:solidFill>
                <a:latin typeface="Arial" pitchFamily="34" charset="0"/>
                <a:ea typeface="Arial" pitchFamily="34" charset="-122"/>
                <a:cs typeface="Arial" pitchFamily="34" charset="-120"/>
              </a:rPr>
              <a:t>Know where your model stops</a:t>
            </a:r>
            <a:endParaRPr lang="en-US" sz="1550" dirty="0"/>
          </a:p>
          <a:p>
            <a:pPr indent="0" marL="0">
              <a:lnSpc>
                <a:spcPts val="2100"/>
              </a:lnSpc>
              <a:buNone/>
            </a:pPr>
            <a:r>
              <a:rPr lang="en-US" sz="1550" b="1" dirty="0">
                <a:solidFill>
                  <a:srgbClr val="0A0A14"/>
                </a:solidFill>
                <a:latin typeface="Arial" pitchFamily="34" charset="0"/>
                <a:ea typeface="Arial" pitchFamily="34" charset="-122"/>
                <a:cs typeface="Arial" pitchFamily="34" charset="-120"/>
              </a:rPr>
              <a:t>being true</a:t>
            </a:r>
            <a:endParaRPr lang="en-US" sz="1550" dirty="0"/>
          </a:p>
        </p:txBody>
      </p:sp>
      <p:sp>
        <p:nvSpPr>
          <p:cNvPr id="11" name="Text 9"/>
          <p:cNvSpPr/>
          <p:nvPr/>
        </p:nvSpPr>
        <p:spPr>
          <a:xfrm>
            <a:off x="6537960" y="3310128"/>
            <a:ext cx="4754880" cy="914400"/>
          </a:xfrm>
          <a:prstGeom prst="rect">
            <a:avLst/>
          </a:prstGeom>
          <a:noFill/>
          <a:ln/>
        </p:spPr>
        <p:txBody>
          <a:bodyPr wrap="square" lIns="0" tIns="0" rIns="0" bIns="0" rtlCol="0" anchor="ctr"/>
          <a:lstStyle/>
          <a:p>
            <a:pPr indent="0" marL="0">
              <a:lnSpc>
                <a:spcPts val="1600"/>
              </a:lnSpc>
              <a:buNone/>
            </a:pPr>
            <a:r>
              <a:rPr lang="en-US" sz="1200" dirty="0">
                <a:solidFill>
                  <a:srgbClr val="3F3F4D"/>
                </a:solidFill>
                <a:latin typeface="Arial" pitchFamily="34" charset="0"/>
                <a:ea typeface="Arial" pitchFamily="34" charset="-122"/>
                <a:cs typeface="Arial" pitchFamily="34" charset="-120"/>
              </a:rPr>
              <a:t>Every simulator today was wrong somewhere, deliberately. Card C could not be solved with the sliders. Replicas do not really help writes. The The enlistment numbers were a teaching model. Noticing that is the skill, not a footnote to it.</a:t>
            </a:r>
            <a:endParaRPr lang="en-US" sz="1200" dirty="0"/>
          </a:p>
        </p:txBody>
      </p:sp>
      <p:sp>
        <p:nvSpPr>
          <p:cNvPr id="12" name="Shape 10"/>
          <p:cNvSpPr/>
          <p:nvPr/>
        </p:nvSpPr>
        <p:spPr>
          <a:xfrm>
            <a:off x="594360" y="4617720"/>
            <a:ext cx="10972800" cy="1600200"/>
          </a:xfrm>
          <a:prstGeom prst="roundRect">
            <a:avLst>
              <a:gd name="adj" fmla="val 3429"/>
            </a:avLst>
          </a:prstGeom>
          <a:solidFill>
            <a:srgbClr val="EFEFF5"/>
          </a:solidFill>
          <a:ln w="9525">
            <a:solidFill>
              <a:srgbClr val="C9C7C2"/>
            </a:solidFill>
            <a:prstDash val="solid"/>
          </a:ln>
        </p:spPr>
      </p:sp>
      <p:sp>
        <p:nvSpPr>
          <p:cNvPr id="13" name="Text 11"/>
          <p:cNvSpPr/>
          <p:nvPr/>
        </p:nvSpPr>
        <p:spPr>
          <a:xfrm>
            <a:off x="941832" y="4828032"/>
            <a:ext cx="10424160" cy="329184"/>
          </a:xfrm>
          <a:prstGeom prst="rect">
            <a:avLst/>
          </a:prstGeom>
          <a:noFill/>
          <a:ln/>
        </p:spPr>
        <p:txBody>
          <a:bodyPr wrap="square" lIns="0" tIns="0" rIns="0" bIns="0" rtlCol="0" anchor="ctr"/>
          <a:lstStyle/>
          <a:p>
            <a:pPr indent="0" marL="0">
              <a:buNone/>
            </a:pPr>
            <a:r>
              <a:rPr lang="en-US" sz="1500" b="1" dirty="0">
                <a:solidFill>
                  <a:srgbClr val="C2410C"/>
                </a:solidFill>
                <a:latin typeface="Arial" pitchFamily="34" charset="0"/>
                <a:ea typeface="Arial" pitchFamily="34" charset="-122"/>
                <a:cs typeface="Arial" pitchFamily="34" charset="-120"/>
              </a:rPr>
              <a:t>Before you leave, pick something that is not software</a:t>
            </a:r>
            <a:endParaRPr lang="en-US" sz="1500" dirty="0"/>
          </a:p>
        </p:txBody>
      </p:sp>
      <p:sp>
        <p:nvSpPr>
          <p:cNvPr id="14" name="Text 12"/>
          <p:cNvSpPr/>
          <p:nvPr/>
        </p:nvSpPr>
        <p:spPr>
          <a:xfrm>
            <a:off x="941832" y="5230368"/>
            <a:ext cx="10424160" cy="868680"/>
          </a:xfrm>
          <a:prstGeom prst="rect">
            <a:avLst/>
          </a:prstGeom>
          <a:noFill/>
          <a:ln/>
        </p:spPr>
        <p:txBody>
          <a:bodyPr wrap="square" lIns="0" tIns="0" rIns="0" bIns="0" rtlCol="0" anchor="ctr"/>
          <a:lstStyle/>
          <a:p>
            <a:pPr indent="0" marL="0">
              <a:lnSpc>
                <a:spcPts val="1700"/>
              </a:lnSpc>
              <a:buNone/>
            </a:pPr>
            <a:r>
              <a:rPr lang="en-US" sz="1250" dirty="0">
                <a:solidFill>
                  <a:srgbClr val="3F3F4D"/>
                </a:solidFill>
                <a:latin typeface="Arial" pitchFamily="34" charset="0"/>
                <a:ea typeface="Arial" pitchFamily="34" charset="-122"/>
                <a:cs typeface="Arial" pitchFamily="34" charset="-120"/>
              </a:rPr>
              <a:t>Enlistment. The queue at the registrar. Jeepney routes. Your own group's workflow. Name the abstraction people rely on, name the moment it stops holding, and name the number that would tell you it had. That is the same three moves you made all afternoon, and none of them needed a computer.</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74320"/>
          </a:xfrm>
          <a:prstGeom prst="rect">
            <a:avLst/>
          </a:prstGeom>
          <a:noFill/>
          <a:ln/>
        </p:spPr>
        <p:txBody>
          <a:bodyPr wrap="square" lIns="0" tIns="0" rIns="0" bIns="0" rtlCol="0" anchor="ctr"/>
          <a:lstStyle/>
          <a:p>
            <a:pPr indent="0" marL="0">
              <a:buNone/>
            </a:pPr>
            <a:r>
              <a:rPr lang="en-US" sz="1100" b="1" spc="200" kern="0" dirty="0">
                <a:solidFill>
                  <a:srgbClr val="C2410C"/>
                </a:solidFill>
                <a:latin typeface="Courier New" pitchFamily="34" charset="0"/>
                <a:ea typeface="Courier New" pitchFamily="34" charset="-122"/>
                <a:cs typeface="Courier New" pitchFamily="34" charset="-120"/>
              </a:rPr>
              <a:t>TAKE THIS INTO YOUR CAPSTONE</a:t>
            </a:r>
            <a:endParaRPr lang="en-US" sz="11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200" b="1" dirty="0">
                <a:solidFill>
                  <a:srgbClr val="10069F"/>
                </a:solidFill>
                <a:latin typeface="Arial" pitchFamily="34" charset="0"/>
                <a:ea typeface="Arial" pitchFamily="34" charset="-122"/>
                <a:cs typeface="Arial" pitchFamily="34" charset="-120"/>
              </a:rPr>
              <a:t>What changed today</a:t>
            </a:r>
            <a:endParaRPr lang="en-US" sz="3200" dirty="0"/>
          </a:p>
        </p:txBody>
      </p:sp>
      <p:sp>
        <p:nvSpPr>
          <p:cNvPr id="4" name="Shape 2"/>
          <p:cNvSpPr/>
          <p:nvPr/>
        </p:nvSpPr>
        <p:spPr>
          <a:xfrm>
            <a:off x="640080" y="1929384"/>
            <a:ext cx="201168" cy="201168"/>
          </a:xfrm>
          <a:prstGeom prst="ellipse">
            <a:avLst/>
          </a:prstGeom>
          <a:solidFill>
            <a:srgbClr val="10069F"/>
          </a:solidFill>
          <a:ln w="12700">
            <a:solidFill>
              <a:srgbClr val="10069F"/>
            </a:solidFill>
            <a:prstDash val="solid"/>
          </a:ln>
        </p:spPr>
      </p:sp>
      <p:sp>
        <p:nvSpPr>
          <p:cNvPr id="5" name="Text 3"/>
          <p:cNvSpPr/>
          <p:nvPr/>
        </p:nvSpPr>
        <p:spPr>
          <a:xfrm>
            <a:off x="1097280" y="1783080"/>
            <a:ext cx="10058400" cy="365760"/>
          </a:xfrm>
          <a:prstGeom prst="rect">
            <a:avLst/>
          </a:prstGeom>
          <a:noFill/>
          <a:ln/>
        </p:spPr>
        <p:txBody>
          <a:bodyPr wrap="square" lIns="0" tIns="0" rIns="0" bIns="0" rtlCol="0" anchor="ctr"/>
          <a:lstStyle/>
          <a:p>
            <a:pPr indent="0" marL="0">
              <a:buNone/>
            </a:pPr>
            <a:r>
              <a:rPr lang="en-US" sz="1700" b="1" dirty="0">
                <a:solidFill>
                  <a:srgbClr val="0A0A14"/>
                </a:solidFill>
                <a:latin typeface="Arial" pitchFamily="34" charset="0"/>
                <a:ea typeface="Arial" pitchFamily="34" charset="-122"/>
                <a:cs typeface="Arial" pitchFamily="34" charset="-120"/>
              </a:rPr>
              <a:t>You can name where code runs</a:t>
            </a:r>
            <a:endParaRPr lang="en-US" sz="1700" dirty="0"/>
          </a:p>
        </p:txBody>
      </p:sp>
      <p:sp>
        <p:nvSpPr>
          <p:cNvPr id="6" name="Text 4"/>
          <p:cNvSpPr/>
          <p:nvPr/>
        </p:nvSpPr>
        <p:spPr>
          <a:xfrm>
            <a:off x="1097280" y="2185416"/>
            <a:ext cx="10058400" cy="457200"/>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Tier 1 is not tier 2. What you check in the browser has to be checked again on the server.</a:t>
            </a:r>
            <a:endParaRPr lang="en-US" sz="1300" dirty="0"/>
          </a:p>
        </p:txBody>
      </p:sp>
      <p:sp>
        <p:nvSpPr>
          <p:cNvPr id="7" name="Shape 5"/>
          <p:cNvSpPr/>
          <p:nvPr/>
        </p:nvSpPr>
        <p:spPr>
          <a:xfrm>
            <a:off x="640080" y="2898648"/>
            <a:ext cx="201168" cy="201168"/>
          </a:xfrm>
          <a:prstGeom prst="ellipse">
            <a:avLst/>
          </a:prstGeom>
          <a:solidFill>
            <a:srgbClr val="10069F"/>
          </a:solidFill>
          <a:ln w="12700">
            <a:solidFill>
              <a:srgbClr val="10069F"/>
            </a:solidFill>
            <a:prstDash val="solid"/>
          </a:ln>
        </p:spPr>
      </p:sp>
      <p:sp>
        <p:nvSpPr>
          <p:cNvPr id="8" name="Text 6"/>
          <p:cNvSpPr/>
          <p:nvPr/>
        </p:nvSpPr>
        <p:spPr>
          <a:xfrm>
            <a:off x="1097280" y="2752344"/>
            <a:ext cx="10058400" cy="365760"/>
          </a:xfrm>
          <a:prstGeom prst="rect">
            <a:avLst/>
          </a:prstGeom>
          <a:noFill/>
          <a:ln/>
        </p:spPr>
        <p:txBody>
          <a:bodyPr wrap="square" lIns="0" tIns="0" rIns="0" bIns="0" rtlCol="0" anchor="ctr"/>
          <a:lstStyle/>
          <a:p>
            <a:pPr indent="0" marL="0">
              <a:buNone/>
            </a:pPr>
            <a:r>
              <a:rPr lang="en-US" sz="1700" b="1" dirty="0">
                <a:solidFill>
                  <a:srgbClr val="0A0A14"/>
                </a:solidFill>
                <a:latin typeface="Arial" pitchFamily="34" charset="0"/>
                <a:ea typeface="Arial" pitchFamily="34" charset="-122"/>
                <a:cs typeface="Arial" pitchFamily="34" charset="-120"/>
              </a:rPr>
              <a:t>You can read what goes over the wire</a:t>
            </a:r>
            <a:endParaRPr lang="en-US" sz="1700" dirty="0"/>
          </a:p>
        </p:txBody>
      </p:sp>
      <p:sp>
        <p:nvSpPr>
          <p:cNvPr id="9" name="Text 7"/>
          <p:cNvSpPr/>
          <p:nvPr/>
        </p:nvSpPr>
        <p:spPr>
          <a:xfrm>
            <a:off x="1097280" y="3154680"/>
            <a:ext cx="10058400" cy="457200"/>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It is text. When something breaks, look at it before guessing.</a:t>
            </a:r>
            <a:endParaRPr lang="en-US" sz="1300" dirty="0"/>
          </a:p>
        </p:txBody>
      </p:sp>
      <p:sp>
        <p:nvSpPr>
          <p:cNvPr id="10" name="Shape 8"/>
          <p:cNvSpPr/>
          <p:nvPr/>
        </p:nvSpPr>
        <p:spPr>
          <a:xfrm>
            <a:off x="640080" y="3867912"/>
            <a:ext cx="201168" cy="201168"/>
          </a:xfrm>
          <a:prstGeom prst="ellipse">
            <a:avLst/>
          </a:prstGeom>
          <a:solidFill>
            <a:srgbClr val="10069F"/>
          </a:solidFill>
          <a:ln w="12700">
            <a:solidFill>
              <a:srgbClr val="10069F"/>
            </a:solidFill>
            <a:prstDash val="solid"/>
          </a:ln>
        </p:spPr>
      </p:sp>
      <p:sp>
        <p:nvSpPr>
          <p:cNvPr id="11" name="Text 9"/>
          <p:cNvSpPr/>
          <p:nvPr/>
        </p:nvSpPr>
        <p:spPr>
          <a:xfrm>
            <a:off x="1097280" y="3721608"/>
            <a:ext cx="10058400" cy="365760"/>
          </a:xfrm>
          <a:prstGeom prst="rect">
            <a:avLst/>
          </a:prstGeom>
          <a:noFill/>
          <a:ln/>
        </p:spPr>
        <p:txBody>
          <a:bodyPr wrap="square" lIns="0" tIns="0" rIns="0" bIns="0" rtlCol="0" anchor="ctr"/>
          <a:lstStyle/>
          <a:p>
            <a:pPr indent="0" marL="0">
              <a:buNone/>
            </a:pPr>
            <a:r>
              <a:rPr lang="en-US" sz="1700" b="1" dirty="0">
                <a:solidFill>
                  <a:srgbClr val="0A0A14"/>
                </a:solidFill>
                <a:latin typeface="Arial" pitchFamily="34" charset="0"/>
                <a:ea typeface="Arial" pitchFamily="34" charset="-122"/>
                <a:cs typeface="Arial" pitchFamily="34" charset="-120"/>
              </a:rPr>
              <a:t>You can design an API someone can guess</a:t>
            </a:r>
            <a:endParaRPr lang="en-US" sz="1700" dirty="0"/>
          </a:p>
        </p:txBody>
      </p:sp>
      <p:sp>
        <p:nvSpPr>
          <p:cNvPr id="12" name="Text 10"/>
          <p:cNvSpPr/>
          <p:nvPr/>
        </p:nvSpPr>
        <p:spPr>
          <a:xfrm>
            <a:off x="1097280" y="4123944"/>
            <a:ext cx="10058400" cy="457200"/>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Nouns in URLs, standard verbs, status codes that mean something.</a:t>
            </a:r>
            <a:endParaRPr lang="en-US" sz="1300" dirty="0"/>
          </a:p>
        </p:txBody>
      </p:sp>
      <p:sp>
        <p:nvSpPr>
          <p:cNvPr id="13" name="Shape 11"/>
          <p:cNvSpPr/>
          <p:nvPr/>
        </p:nvSpPr>
        <p:spPr>
          <a:xfrm>
            <a:off x="640080" y="4837176"/>
            <a:ext cx="201168" cy="201168"/>
          </a:xfrm>
          <a:prstGeom prst="ellipse">
            <a:avLst/>
          </a:prstGeom>
          <a:solidFill>
            <a:srgbClr val="C2410C"/>
          </a:solidFill>
          <a:ln w="12700">
            <a:solidFill>
              <a:srgbClr val="C2410C"/>
            </a:solidFill>
            <a:prstDash val="solid"/>
          </a:ln>
        </p:spPr>
      </p:sp>
      <p:sp>
        <p:nvSpPr>
          <p:cNvPr id="14" name="Text 12"/>
          <p:cNvSpPr/>
          <p:nvPr/>
        </p:nvSpPr>
        <p:spPr>
          <a:xfrm>
            <a:off x="1097280" y="4690872"/>
            <a:ext cx="10058400" cy="365760"/>
          </a:xfrm>
          <a:prstGeom prst="rect">
            <a:avLst/>
          </a:prstGeom>
          <a:noFill/>
          <a:ln/>
        </p:spPr>
        <p:txBody>
          <a:bodyPr wrap="square" lIns="0" tIns="0" rIns="0" bIns="0" rtlCol="0" anchor="ctr"/>
          <a:lstStyle/>
          <a:p>
            <a:pPr indent="0" marL="0">
              <a:buNone/>
            </a:pPr>
            <a:r>
              <a:rPr lang="en-US" sz="1700" b="1" dirty="0">
                <a:solidFill>
                  <a:srgbClr val="0A0A14"/>
                </a:solidFill>
                <a:latin typeface="Arial" pitchFamily="34" charset="0"/>
                <a:ea typeface="Arial" pitchFamily="34" charset="-122"/>
                <a:cs typeface="Arial" pitchFamily="34" charset="-120"/>
              </a:rPr>
              <a:t>You can answer “how many users”</a:t>
            </a:r>
            <a:endParaRPr lang="en-US" sz="1700" dirty="0"/>
          </a:p>
        </p:txBody>
      </p:sp>
      <p:sp>
        <p:nvSpPr>
          <p:cNvPr id="15" name="Text 13"/>
          <p:cNvSpPr/>
          <p:nvPr/>
        </p:nvSpPr>
        <p:spPr>
          <a:xfrm>
            <a:off x="1097280" y="5093208"/>
            <a:ext cx="10058400" cy="457200"/>
          </a:xfrm>
          <a:prstGeom prst="rect">
            <a:avLst/>
          </a:prstGeom>
          <a:noFill/>
          <a:ln/>
        </p:spPr>
        <p:txBody>
          <a:bodyPr wrap="square" lIns="0" tIns="0" rIns="0" bIns="0" rtlCol="0" anchor="ctr"/>
          <a:lstStyle/>
          <a:p>
            <a:pPr indent="0" marL="0">
              <a:buNone/>
            </a:pPr>
            <a:r>
              <a:rPr lang="en-US" sz="1300" dirty="0">
                <a:solidFill>
                  <a:srgbClr val="3F3F4D"/>
                </a:solidFill>
                <a:latin typeface="Arial" pitchFamily="34" charset="0"/>
                <a:ea typeface="Arial" pitchFamily="34" charset="-122"/>
                <a:cs typeface="Arial" pitchFamily="34" charset="-120"/>
              </a:rPr>
              <a:t>With a number, a ceiling, and the name of what breaks next.</a:t>
            </a:r>
            <a:endParaRPr lang="en-US" sz="1300" dirty="0"/>
          </a:p>
        </p:txBody>
      </p:sp>
      <p:sp>
        <p:nvSpPr>
          <p:cNvPr id="16" name="Text 14"/>
          <p:cNvSpPr/>
          <p:nvPr/>
        </p:nvSpPr>
        <p:spPr>
          <a:xfrm>
            <a:off x="594360" y="5715000"/>
            <a:ext cx="10972800" cy="411480"/>
          </a:xfrm>
          <a:prstGeom prst="rect">
            <a:avLst/>
          </a:prstGeom>
          <a:noFill/>
          <a:ln/>
        </p:spPr>
        <p:txBody>
          <a:bodyPr wrap="square" lIns="0" tIns="0" rIns="0" bIns="0" rtlCol="0" anchor="ctr"/>
          <a:lstStyle/>
          <a:p>
            <a:pPr indent="0" marL="0">
              <a:lnSpc>
                <a:spcPts val="1700"/>
              </a:lnSpc>
              <a:buNone/>
            </a:pPr>
            <a:r>
              <a:rPr lang="en-US" sz="1300" i="1" dirty="0">
                <a:solidFill>
                  <a:srgbClr val="C2410C"/>
                </a:solidFill>
                <a:latin typeface="Arial" pitchFamily="34" charset="0"/>
                <a:ea typeface="Arial" pitchFamily="34" charset="-122"/>
                <a:cs typeface="Arial" pitchFamily="34" charset="-120"/>
              </a:rPr>
              <a:t>None of this was code you needed to write by hand. All of it is judgement an agent will not hand you unasked — and all of it is what the oral defence asks for.</a:t>
            </a:r>
            <a:endParaRPr lang="en-US" sz="1300" dirty="0"/>
          </a:p>
        </p:txBody>
      </p:sp>
      <p:sp>
        <p:nvSpPr>
          <p:cNvPr id="17" name="Text 15"/>
          <p:cNvSpPr/>
          <p:nvPr/>
        </p:nvSpPr>
        <p:spPr>
          <a:xfrm>
            <a:off x="594360" y="6199632"/>
            <a:ext cx="10972800" cy="365760"/>
          </a:xfrm>
          <a:prstGeom prst="rect">
            <a:avLst/>
          </a:prstGeom>
          <a:noFill/>
          <a:ln/>
        </p:spPr>
        <p:txBody>
          <a:bodyPr wrap="square" lIns="0" tIns="0" rIns="0" bIns="0" rtlCol="0" anchor="ctr"/>
          <a:lstStyle/>
          <a:p>
            <a:pPr indent="0" marL="0">
              <a:buNone/>
            </a:pPr>
            <a:r>
              <a:rPr lang="en-US" sz="1150" i="1" dirty="0">
                <a:solidFill>
                  <a:srgbClr val="63616F"/>
                </a:solidFill>
                <a:latin typeface="Arial" pitchFamily="34" charset="0"/>
                <a:ea typeface="Arial" pitchFamily="34" charset="-122"/>
                <a:cs typeface="Arial" pitchFamily="34" charset="-120"/>
              </a:rPr>
              <a:t>Both breakout formats today were the assessment formats: the 90-second no-notes report is the micro-oral, the cross-examination is the adversarial probe.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ITENT 45 — Under the Hood</dc:title>
  <dc:subject>PptxGenJS Presentation</dc:subject>
  <dc:creator>Joseph Benjamin R. Ilagan</dc:creator>
  <cp:lastModifiedBy>Joseph Benjamin R. Ilagan</cp:lastModifiedBy>
  <cp:revision>1</cp:revision>
  <dcterms:created xsi:type="dcterms:W3CDTF">2026-08-23T08:42:26Z</dcterms:created>
  <dcterms:modified xsi:type="dcterms:W3CDTF">2026-08-23T08:42:26Z</dcterms:modified>
</cp:coreProperties>
</file>